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27"/>
  </p:notesMasterIdLst>
  <p:handoutMasterIdLst>
    <p:handoutMasterId r:id="rId28"/>
  </p:handoutMasterIdLst>
  <p:sldIdLst>
    <p:sldId id="401" r:id="rId5"/>
    <p:sldId id="402" r:id="rId6"/>
    <p:sldId id="448" r:id="rId7"/>
    <p:sldId id="449" r:id="rId8"/>
    <p:sldId id="450" r:id="rId9"/>
    <p:sldId id="451" r:id="rId10"/>
    <p:sldId id="452" r:id="rId11"/>
    <p:sldId id="453" r:id="rId12"/>
    <p:sldId id="409" r:id="rId13"/>
    <p:sldId id="436" r:id="rId14"/>
    <p:sldId id="429" r:id="rId15"/>
    <p:sldId id="441" r:id="rId16"/>
    <p:sldId id="430" r:id="rId17"/>
    <p:sldId id="454" r:id="rId18"/>
    <p:sldId id="432" r:id="rId19"/>
    <p:sldId id="433" r:id="rId20"/>
    <p:sldId id="437" r:id="rId21"/>
    <p:sldId id="455" r:id="rId22"/>
    <p:sldId id="419" r:id="rId23"/>
    <p:sldId id="434" r:id="rId24"/>
    <p:sldId id="421" r:id="rId25"/>
    <p:sldId id="435" r:id="rId26"/>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401"/>
            <p14:sldId id="402"/>
            <p14:sldId id="448"/>
            <p14:sldId id="449"/>
            <p14:sldId id="450"/>
            <p14:sldId id="451"/>
            <p14:sldId id="452"/>
            <p14:sldId id="453"/>
            <p14:sldId id="409"/>
            <p14:sldId id="436"/>
            <p14:sldId id="429"/>
            <p14:sldId id="441"/>
            <p14:sldId id="430"/>
            <p14:sldId id="454"/>
            <p14:sldId id="432"/>
            <p14:sldId id="433"/>
            <p14:sldId id="437"/>
            <p14:sldId id="455"/>
            <p14:sldId id="419"/>
            <p14:sldId id="434"/>
            <p14:sldId id="421"/>
            <p14:sldId id="435"/>
          </p14:sldIdLst>
        </p14:section>
      </p14:sectionLst>
    </p:ext>
    <p:ext uri="{EFAFB233-063F-42B5-8137-9DF3F51BA10A}">
      <p15:sldGuideLst xmlns:p15="http://schemas.microsoft.com/office/powerpoint/2012/main">
        <p15:guide id="1" orient="horz" pos="2183" userDrawn="1">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DF6752"/>
    <a:srgbClr val="9DBB1D"/>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59" autoAdjust="0"/>
    <p:restoredTop sz="89419" autoAdjust="0"/>
  </p:normalViewPr>
  <p:slideViewPr>
    <p:cSldViewPr snapToGrid="0" snapToObjects="1">
      <p:cViewPr varScale="1">
        <p:scale>
          <a:sx n="226" d="100"/>
          <a:sy n="226" d="100"/>
        </p:scale>
        <p:origin x="2672" y="192"/>
      </p:cViewPr>
      <p:guideLst>
        <p:guide orient="horz" pos="2183"/>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9/16/26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8C896355-3DDC-9949-861F-AD0908BFCC23}" type="slidenum">
              <a:rPr lang="en-US" smtClean="0"/>
              <a:t>1</a:t>
            </a:fld>
            <a:endParaRPr lang="en-US"/>
          </a:p>
        </p:txBody>
      </p:sp>
    </p:spTree>
    <p:extLst>
      <p:ext uri="{BB962C8B-B14F-4D97-AF65-F5344CB8AC3E}">
        <p14:creationId xmlns:p14="http://schemas.microsoft.com/office/powerpoint/2010/main" val="19065114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766763" y="1255659"/>
            <a:ext cx="8091261" cy="369332"/>
          </a:xfrm>
          <a:prstGeom prst="rect">
            <a:avLst/>
          </a:prstGeom>
        </p:spPr>
        <p:txBody>
          <a:bodyPr wrap="square" lIns="0">
            <a:spAutoFit/>
          </a:bodyPr>
          <a:lstStyle/>
          <a:p>
            <a:r>
              <a:rPr lang="en-US" dirty="0">
                <a:solidFill>
                  <a:srgbClr val="DF6752"/>
                </a:solidFill>
                <a:latin typeface="+mn-lt"/>
              </a:rPr>
              <a:t>- SLET DETTE SLIDE, FØR DU FÆRDIGGØR PRÆSENTATIONEN</a:t>
            </a:r>
            <a:endParaRPr lang="da-DK" dirty="0">
              <a:solidFill>
                <a:srgbClr val="DF6752"/>
              </a:solidFill>
              <a:latin typeface="+mn-lt"/>
            </a:endParaRPr>
          </a:p>
        </p:txBody>
      </p:sp>
      <p:sp>
        <p:nvSpPr>
          <p:cNvPr id="5" name="Text Box 48"/>
          <p:cNvSpPr txBox="1">
            <a:spLocks noChangeArrowheads="1"/>
          </p:cNvSpPr>
          <p:nvPr userDrawn="1"/>
        </p:nvSpPr>
        <p:spPr bwMode="auto">
          <a:xfrm>
            <a:off x="766763" y="2205038"/>
            <a:ext cx="2327618" cy="320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mn-lt"/>
                <a:cs typeface="Arial" panose="020B0604020202020204" pitchFamily="34" charset="0"/>
              </a:rPr>
              <a:t>AAU-SKABELONER TIL POWERPOINT</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da-DK" sz="900" b="0" dirty="0">
                <a:effectLst/>
                <a:latin typeface="+mn-lt"/>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mn-lt"/>
                <a:ea typeface="Calibri" panose="020F0502020204030204" pitchFamily="34" charset="0"/>
                <a:cs typeface="Times New Roman" panose="02020603050405020304" pitchFamily="18" charset="0"/>
              </a:rPr>
              <a:t> mellem to </a:t>
            </a:r>
            <a:r>
              <a:rPr lang="da-DK" sz="900" b="0" dirty="0">
                <a:effectLst/>
                <a:latin typeface="+mn-lt"/>
                <a:ea typeface="Calibri" panose="020F0502020204030204" pitchFamily="34" charset="0"/>
                <a:cs typeface="Times New Roman" panose="02020603050405020304" pitchFamily="18" charset="0"/>
              </a:rPr>
              <a:t>skabeloner i 16:9-format med</a:t>
            </a:r>
            <a:r>
              <a:rPr lang="da-DK" sz="900" b="0" baseline="0" dirty="0">
                <a:effectLst/>
                <a:latin typeface="+mn-lt"/>
                <a:ea typeface="Calibri" panose="020F0502020204030204" pitchFamily="34" charset="0"/>
                <a:cs typeface="Times New Roman" panose="02020603050405020304" pitchFamily="18" charset="0"/>
              </a:rPr>
              <a:t> enten det danske eller engelske AAU-logo.</a:t>
            </a:r>
            <a:endParaRPr lang="da-DK" sz="900" b="0" dirty="0">
              <a:effectLst/>
              <a:latin typeface="+mn-lt"/>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mn-lt"/>
                <a:ea typeface="Calibri" panose="020F0502020204030204" pitchFamily="34" charset="0"/>
                <a:cs typeface="Times New Roman" panose="02020603050405020304" pitchFamily="18" charset="0"/>
              </a:rPr>
              <a:t>Det</a:t>
            </a:r>
            <a:r>
              <a:rPr lang="da-DK" sz="900" b="0" baseline="0" dirty="0">
                <a:effectLst/>
                <a:latin typeface="+mn-lt"/>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mn-lt"/>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mn-lt"/>
                <a:ea typeface="Calibri" panose="020F0502020204030204" pitchFamily="34" charset="0"/>
                <a:cs typeface="Times New Roman" panose="02020603050405020304" pitchFamily="18" charset="0"/>
                <a:hlinkClick r:id="rId2"/>
              </a:rPr>
              <a:t>powerpoint</a:t>
            </a:r>
            <a:r>
              <a:rPr lang="da-DK" sz="900" b="0" baseline="0" dirty="0">
                <a:effectLst/>
                <a:latin typeface="+mn-lt"/>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mn-lt"/>
                <a:ea typeface="+mn-ea"/>
                <a:cs typeface="Arial" panose="020B0604020202020204" pitchFamily="34" charset="0"/>
              </a:rPr>
              <a:t>SKRIFT</a:t>
            </a:r>
            <a:br>
              <a:rPr lang="da-DK" sz="1000" b="1" kern="1200" spc="300" noProof="1">
                <a:solidFill>
                  <a:schemeClr val="tx1"/>
                </a:solidFill>
                <a:latin typeface="+mn-lt"/>
                <a:ea typeface="+mn-ea"/>
                <a:cs typeface="Arial" panose="020B0604020202020204" pitchFamily="34" charset="0"/>
              </a:rPr>
            </a:br>
            <a:br>
              <a:rPr lang="da-DK" sz="1050" b="1" kern="1200" noProof="1">
                <a:solidFill>
                  <a:schemeClr val="tx1"/>
                </a:solidFill>
                <a:latin typeface="+mn-lt"/>
                <a:ea typeface="+mn-ea"/>
                <a:cs typeface="Arial" panose="020B0604020202020204" pitchFamily="34" charset="0"/>
              </a:rPr>
            </a:br>
            <a:r>
              <a:rPr lang="da-DK" altLang="da-DK" sz="900" b="0" kern="1200" noProof="1">
                <a:solidFill>
                  <a:schemeClr val="tx1"/>
                </a:solidFill>
                <a:latin typeface="+mn-lt"/>
                <a:ea typeface="+mn-ea"/>
                <a:cs typeface="Arial" panose="020B0604020202020204" pitchFamily="34" charset="0"/>
              </a:rPr>
              <a:t>AAU anvender vores</a:t>
            </a:r>
            <a:r>
              <a:rPr lang="da-DK" altLang="da-DK" sz="900" b="0" kern="1200" baseline="0" noProof="1">
                <a:solidFill>
                  <a:schemeClr val="tx1"/>
                </a:solidFill>
                <a:latin typeface="+mn-lt"/>
                <a:ea typeface="+mn-ea"/>
                <a:cs typeface="Arial" panose="020B0604020202020204" pitchFamily="34" charset="0"/>
              </a:rPr>
              <a:t> sekundære </a:t>
            </a:r>
            <a:r>
              <a:rPr lang="da-DK" altLang="da-DK" sz="900" b="0" kern="1200" noProof="1">
                <a:solidFill>
                  <a:schemeClr val="tx1"/>
                </a:solidFill>
                <a:latin typeface="+mn-lt"/>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2205038"/>
            <a:ext cx="2327618" cy="3460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SKABELONENS FARVER</a:t>
            </a:r>
          </a:p>
          <a:p>
            <a:pPr eaLnBrk="1" hangingPunct="1">
              <a:lnSpc>
                <a:spcPct val="90000"/>
              </a:lnSpc>
              <a:spcAft>
                <a:spcPts val="600"/>
              </a:spcAft>
              <a:defRPr/>
            </a:pPr>
            <a:r>
              <a:rPr lang="da-DK" sz="900" b="0" kern="1200" noProof="1">
                <a:solidFill>
                  <a:schemeClr val="tx1"/>
                </a:solidFill>
                <a:latin typeface="+mn-lt"/>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mn-lt"/>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BILLEDSTØRRELSER</a:t>
            </a:r>
          </a:p>
          <a:p>
            <a:pPr eaLnBrk="1" hangingPunct="1">
              <a:lnSpc>
                <a:spcPct val="90000"/>
              </a:lnSpc>
              <a:spcAft>
                <a:spcPts val="600"/>
              </a:spcAft>
              <a:defRPr/>
            </a:pPr>
            <a:r>
              <a:rPr lang="da-DK" sz="900" b="0" noProof="1">
                <a:solidFill>
                  <a:schemeClr val="tx1"/>
                </a:solidFill>
                <a:latin typeface="+mn-lt"/>
                <a:cs typeface="Arial" panose="020B0604020202020204" pitchFamily="34" charset="0"/>
              </a:rPr>
              <a:t>Sørg</a:t>
            </a:r>
            <a:r>
              <a:rPr lang="da-DK" sz="900" b="0" baseline="0" noProof="1">
                <a:solidFill>
                  <a:schemeClr val="tx1"/>
                </a:solidFill>
                <a:latin typeface="+mn-lt"/>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mn-lt"/>
                <a:cs typeface="Arial" panose="020B0604020202020204" pitchFamily="34" charset="0"/>
              </a:rPr>
            </a:br>
            <a:r>
              <a:rPr lang="da-DK" sz="900" b="1" baseline="0" noProof="1">
                <a:solidFill>
                  <a:schemeClr val="tx1"/>
                </a:solidFill>
                <a:latin typeface="+mn-lt"/>
                <a:cs typeface="Arial" panose="020B0604020202020204" pitchFamily="34" charset="0"/>
              </a:rPr>
              <a:t>Gem som  - Gennemse - Komprimeringsindstillinger. </a:t>
            </a:r>
            <a:r>
              <a:rPr lang="da-DK" sz="900" b="0" baseline="0" noProof="1">
                <a:solidFill>
                  <a:schemeClr val="tx1"/>
                </a:solidFill>
                <a:latin typeface="+mn-lt"/>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2205038"/>
            <a:ext cx="2285301" cy="327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INDSÆT BILLEDE</a:t>
            </a:r>
          </a:p>
          <a:p>
            <a:pPr eaLnBrk="1" hangingPunct="1">
              <a:lnSpc>
                <a:spcPct val="90000"/>
              </a:lnSpc>
              <a:spcAft>
                <a:spcPts val="600"/>
              </a:spcAft>
              <a:defRPr/>
            </a:pPr>
            <a:r>
              <a:rPr lang="da-DK" sz="900" b="0" kern="1200" noProof="1">
                <a:solidFill>
                  <a:schemeClr val="tx1"/>
                </a:solidFill>
                <a:latin typeface="+mn-lt"/>
                <a:ea typeface="+mn-ea"/>
                <a:cs typeface="Arial" panose="020B0604020202020204" pitchFamily="34" charset="0"/>
              </a:rPr>
              <a:t>På layouts med billedholder: Klik på ikon og vælg </a:t>
            </a:r>
            <a:r>
              <a:rPr lang="da-DK" sz="900" b="1" kern="1200" noProof="1">
                <a:solidFill>
                  <a:schemeClr val="tx1"/>
                </a:solidFill>
                <a:latin typeface="+mn-lt"/>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mn-lt"/>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BESKÆR BILLEDE</a:t>
            </a: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1</a:t>
            </a:r>
            <a:r>
              <a:rPr lang="da-DK" sz="900" b="0" kern="1200" noProof="1">
                <a:solidFill>
                  <a:schemeClr val="tx1"/>
                </a:solidFill>
                <a:latin typeface="+mn-lt"/>
                <a:ea typeface="+mn-ea"/>
                <a:cs typeface="Arial" panose="020B0604020202020204" pitchFamily="34" charset="0"/>
              </a:rPr>
              <a:t>. Klik </a:t>
            </a:r>
            <a:r>
              <a:rPr lang="da-DK" sz="900" b="1" kern="1200" noProof="1">
                <a:solidFill>
                  <a:schemeClr val="tx1"/>
                </a:solidFill>
                <a:latin typeface="+mn-lt"/>
                <a:ea typeface="+mn-ea"/>
                <a:cs typeface="Arial" panose="020B0604020202020204" pitchFamily="34" charset="0"/>
              </a:rPr>
              <a:t>Beskær</a:t>
            </a:r>
            <a:r>
              <a:rPr lang="da-DK" sz="900" b="0" kern="1200" noProof="1">
                <a:solidFill>
                  <a:schemeClr val="tx1"/>
                </a:solidFill>
                <a:latin typeface="+mn-lt"/>
                <a:ea typeface="+mn-ea"/>
                <a:cs typeface="Arial" panose="020B0604020202020204" pitchFamily="34" charset="0"/>
              </a:rPr>
              <a:t> </a:t>
            </a:r>
            <a:r>
              <a:rPr lang="da-DK" sz="900" b="0" i="1" kern="1200" noProof="1">
                <a:solidFill>
                  <a:schemeClr val="tx1"/>
                </a:solidFill>
                <a:latin typeface="+mn-lt"/>
                <a:ea typeface="+mn-ea"/>
                <a:cs typeface="Arial" panose="020B0604020202020204" pitchFamily="34" charset="0"/>
              </a:rPr>
              <a:t>(højreklik på billedet og tryk på ikonet som er vist til højre) </a:t>
            </a:r>
            <a:r>
              <a:rPr lang="da-DK" sz="900" b="0" kern="1200" noProof="1">
                <a:solidFill>
                  <a:schemeClr val="tx1"/>
                </a:solidFill>
                <a:latin typeface="+mn-lt"/>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2. </a:t>
            </a:r>
            <a:r>
              <a:rPr lang="da-DK" sz="900" b="0" kern="1200" noProof="1">
                <a:solidFill>
                  <a:schemeClr val="tx1"/>
                </a:solidFill>
                <a:latin typeface="+mn-lt"/>
                <a:ea typeface="+mn-ea"/>
                <a:cs typeface="Arial" panose="020B0604020202020204" pitchFamily="34" charset="0"/>
              </a:rPr>
              <a:t>Ønsker du at skalere billedet </a:t>
            </a:r>
            <a:r>
              <a:rPr lang="da-DK" sz="900" i="1" kern="1200" noProof="1">
                <a:solidFill>
                  <a:schemeClr val="tx1"/>
                </a:solidFill>
                <a:latin typeface="+mn-lt"/>
                <a:ea typeface="+mn-ea"/>
                <a:cs typeface="Arial" panose="020B0604020202020204" pitchFamily="34" charset="0"/>
              </a:rPr>
              <a:t>(ændre billedets størrelse uden at ændre dets proportioner)</a:t>
            </a:r>
            <a:r>
              <a:rPr lang="da-DK" sz="900" b="0" i="1" kern="1200" noProof="1">
                <a:solidFill>
                  <a:schemeClr val="tx1"/>
                </a:solidFill>
                <a:latin typeface="+mn-lt"/>
                <a:ea typeface="+mn-ea"/>
                <a:cs typeface="Arial" panose="020B0604020202020204" pitchFamily="34" charset="0"/>
              </a:rPr>
              <a:t>, </a:t>
            </a:r>
            <a:r>
              <a:rPr lang="da-DK" sz="900" b="0" kern="1200" noProof="1">
                <a:solidFill>
                  <a:schemeClr val="tx1"/>
                </a:solidFill>
                <a:latin typeface="+mn-lt"/>
                <a:ea typeface="+mn-ea"/>
                <a:cs typeface="Arial" panose="020B0604020202020204" pitchFamily="34" charset="0"/>
              </a:rPr>
              <a:t>så hold </a:t>
            </a:r>
            <a:r>
              <a:rPr lang="da-DK" sz="900" b="1" kern="1200" noProof="1">
                <a:solidFill>
                  <a:schemeClr val="tx1"/>
                </a:solidFill>
                <a:latin typeface="+mn-lt"/>
                <a:ea typeface="+mn-ea"/>
                <a:cs typeface="Arial" panose="020B0604020202020204" pitchFamily="34" charset="0"/>
              </a:rPr>
              <a:t>SHIFT</a:t>
            </a:r>
            <a:r>
              <a:rPr lang="da-DK" sz="900" b="0" kern="1200" noProof="1">
                <a:solidFill>
                  <a:schemeClr val="tx1"/>
                </a:solidFill>
                <a:latin typeface="+mn-lt"/>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3. </a:t>
            </a:r>
            <a:r>
              <a:rPr lang="da-DK" sz="900" b="0" kern="1200" noProof="1">
                <a:solidFill>
                  <a:schemeClr val="tx1"/>
                </a:solidFill>
                <a:latin typeface="+mn-lt"/>
                <a:ea typeface="+mn-ea"/>
                <a:cs typeface="Arial" panose="020B0604020202020204" pitchFamily="34" charset="0"/>
              </a:rPr>
              <a:t>Højreklik på billedet og vælg </a:t>
            </a:r>
            <a:r>
              <a:rPr lang="da-DK" sz="900" b="1" kern="1200" noProof="1">
                <a:solidFill>
                  <a:schemeClr val="tx1"/>
                </a:solidFill>
                <a:latin typeface="+mn-lt"/>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Tip: </a:t>
            </a:r>
            <a:r>
              <a:rPr lang="da-DK" sz="900" b="0" kern="1200" noProof="1">
                <a:solidFill>
                  <a:schemeClr val="tx1"/>
                </a:solidFill>
                <a:latin typeface="+mn-lt"/>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mn-lt"/>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647519"/>
            <a:ext cx="2517848"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MERE INFORMATION</a:t>
            </a:r>
          </a:p>
          <a:p>
            <a:pPr eaLnBrk="1" hangingPunct="1">
              <a:lnSpc>
                <a:spcPct val="90000"/>
              </a:lnSpc>
              <a:spcAft>
                <a:spcPts val="600"/>
              </a:spcAft>
              <a:defRPr/>
            </a:pPr>
            <a:r>
              <a:rPr lang="da-DK" sz="900" b="0" noProof="1">
                <a:solidFill>
                  <a:schemeClr val="tx1"/>
                </a:solidFill>
                <a:latin typeface="+mn-lt"/>
                <a:cs typeface="Arial" panose="020B0604020202020204" pitchFamily="34" charset="0"/>
              </a:rPr>
              <a:t>Se</a:t>
            </a:r>
            <a:r>
              <a:rPr lang="da-DK" sz="900" b="0" baseline="0" noProof="1">
                <a:solidFill>
                  <a:schemeClr val="tx1"/>
                </a:solidFill>
                <a:latin typeface="+mn-lt"/>
                <a:cs typeface="Arial" panose="020B0604020202020204" pitchFamily="34" charset="0"/>
              </a:rPr>
              <a:t> designguiden</a:t>
            </a:r>
            <a:r>
              <a:rPr lang="da-DK" sz="900" b="0" noProof="1">
                <a:solidFill>
                  <a:schemeClr val="tx1"/>
                </a:solidFill>
                <a:latin typeface="+mn-lt"/>
                <a:cs typeface="Arial" panose="020B0604020202020204" pitchFamily="34" charset="0"/>
              </a:rPr>
              <a:t> på</a:t>
            </a:r>
            <a:br>
              <a:rPr lang="da-DK" sz="900" b="0" baseline="0" noProof="1">
                <a:solidFill>
                  <a:schemeClr val="tx1"/>
                </a:solidFill>
                <a:latin typeface="+mn-lt"/>
                <a:cs typeface="Arial" panose="020B0604020202020204" pitchFamily="34" charset="0"/>
              </a:rPr>
            </a:br>
            <a:r>
              <a:rPr lang="da-DK" sz="900" b="0" kern="1200" baseline="0" dirty="0">
                <a:solidFill>
                  <a:schemeClr val="tx1"/>
                </a:solidFill>
                <a:effectLst/>
                <a:latin typeface="+mn-lt"/>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n-lt"/>
              <a:cs typeface="Arial" panose="020B0604020202020204" pitchFamily="34" charset="0"/>
            </a:endParaRPr>
          </a:p>
        </p:txBody>
      </p:sp>
      <p:sp>
        <p:nvSpPr>
          <p:cNvPr id="16" name="Text Box 48"/>
          <p:cNvSpPr txBox="1">
            <a:spLocks noChangeArrowheads="1"/>
          </p:cNvSpPr>
          <p:nvPr userDrawn="1"/>
        </p:nvSpPr>
        <p:spPr bwMode="auto">
          <a:xfrm>
            <a:off x="3428374" y="2205038"/>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mn-lt"/>
                <a:ea typeface="+mn-ea"/>
                <a:cs typeface="Arial" panose="020B0604020202020204" pitchFamily="34" charset="0"/>
              </a:rPr>
              <a:t>LAV NYT DIAS/SLIDE </a:t>
            </a:r>
            <a:r>
              <a:rPr lang="da-DK" sz="900" b="0" kern="1200" spc="0" noProof="1">
                <a:solidFill>
                  <a:schemeClr val="tx1"/>
                </a:solidFill>
                <a:latin typeface="+mn-lt"/>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mn-lt"/>
                <a:ea typeface="+mn-ea"/>
                <a:cs typeface="Arial" panose="020B0604020202020204" pitchFamily="34" charset="0"/>
              </a:rPr>
              <a:t> </a:t>
            </a:r>
            <a:br>
              <a:rPr lang="da-DK" sz="800" b="1" kern="1200" noProof="1">
                <a:solidFill>
                  <a:schemeClr val="tx1"/>
                </a:solidFill>
                <a:latin typeface="+mn-lt"/>
                <a:ea typeface="+mn-ea"/>
                <a:cs typeface="Arial" panose="020B0604020202020204" pitchFamily="34" charset="0"/>
              </a:rPr>
            </a:br>
            <a:r>
              <a:rPr lang="da-DK" altLang="da-DK" sz="900" b="1" kern="1200" noProof="1">
                <a:solidFill>
                  <a:schemeClr val="tx1"/>
                </a:solidFill>
                <a:latin typeface="+mn-lt"/>
                <a:ea typeface="+mn-ea"/>
                <a:cs typeface="Arial" panose="020B0604020202020204" pitchFamily="34" charset="0"/>
              </a:rPr>
              <a:t>1. </a:t>
            </a:r>
            <a:r>
              <a:rPr lang="da-DK" altLang="da-DK" sz="900" kern="1200" noProof="1">
                <a:solidFill>
                  <a:schemeClr val="tx1"/>
                </a:solidFill>
                <a:latin typeface="+mn-lt"/>
                <a:ea typeface="+mn-ea"/>
                <a:cs typeface="Arial" panose="020B0604020202020204" pitchFamily="34" charset="0"/>
              </a:rPr>
              <a:t>Klik på </a:t>
            </a:r>
            <a:r>
              <a:rPr lang="da-DK" altLang="da-DK" sz="900" b="1" kern="1200" noProof="1">
                <a:solidFill>
                  <a:schemeClr val="tx1"/>
                </a:solidFill>
                <a:latin typeface="+mn-lt"/>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mn-lt"/>
                <a:cs typeface="Arial" panose="020B0604020202020204" pitchFamily="34" charset="0"/>
              </a:rPr>
              <a:t>2.</a:t>
            </a:r>
            <a:r>
              <a:rPr lang="da-DK" altLang="da-DK" sz="900" b="1" baseline="0" noProof="1">
                <a:solidFill>
                  <a:schemeClr val="tx1"/>
                </a:solidFill>
                <a:latin typeface="+mn-lt"/>
                <a:cs typeface="Arial" panose="020B0604020202020204" pitchFamily="34" charset="0"/>
              </a:rPr>
              <a:t> </a:t>
            </a:r>
            <a:r>
              <a:rPr lang="da-DK" altLang="da-DK" sz="900" baseline="0" noProof="1">
                <a:solidFill>
                  <a:schemeClr val="tx1"/>
                </a:solidFill>
                <a:latin typeface="+mn-lt"/>
                <a:cs typeface="Arial" panose="020B0604020202020204" pitchFamily="34" charset="0"/>
              </a:rPr>
              <a:t>Under knappen </a:t>
            </a:r>
            <a:r>
              <a:rPr lang="da-DK" altLang="da-DK" sz="900" b="1" baseline="0" noProof="1">
                <a:solidFill>
                  <a:schemeClr val="tx1"/>
                </a:solidFill>
                <a:latin typeface="+mn-lt"/>
                <a:cs typeface="Arial" panose="020B0604020202020204" pitchFamily="34" charset="0"/>
              </a:rPr>
              <a:t>Nyt dias/Nyt slide</a:t>
            </a:r>
            <a:r>
              <a:rPr lang="da-DK" altLang="da-DK" sz="9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mn-lt"/>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mn-lt"/>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mn-lt"/>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mn-lt"/>
                <a:ea typeface="+mn-ea"/>
                <a:cs typeface="Arial" panose="020B0604020202020204" pitchFamily="34" charset="0"/>
              </a:rPr>
              <a:t>For at få et ensartet udtryk i vores præsentationer er der</a:t>
            </a:r>
            <a:r>
              <a:rPr lang="da-DK" sz="900" b="0" kern="1200" baseline="0" noProof="1">
                <a:solidFill>
                  <a:schemeClr val="tx1"/>
                </a:solidFill>
                <a:latin typeface="+mn-lt"/>
                <a:ea typeface="+mn-ea"/>
                <a:cs typeface="Arial" panose="020B0604020202020204" pitchFamily="34" charset="0"/>
              </a:rPr>
              <a:t> guidelines i form af </a:t>
            </a:r>
            <a:r>
              <a:rPr lang="da-DK" sz="900" b="1" kern="1200" baseline="0" noProof="1">
                <a:solidFill>
                  <a:schemeClr val="tx1"/>
                </a:solidFill>
                <a:latin typeface="+mn-lt"/>
                <a:ea typeface="+mn-ea"/>
                <a:cs typeface="Arial" panose="020B0604020202020204" pitchFamily="34" charset="0"/>
              </a:rPr>
              <a:t>Hjælpelinjer. </a:t>
            </a:r>
            <a:r>
              <a:rPr lang="da-DK" sz="900" b="0" kern="1200" baseline="0" noProof="1">
                <a:solidFill>
                  <a:schemeClr val="tx1"/>
                </a:solidFill>
                <a:latin typeface="+mn-lt"/>
                <a:ea typeface="+mn-ea"/>
                <a:cs typeface="Arial" panose="020B0604020202020204" pitchFamily="34" charset="0"/>
              </a:rPr>
              <a:t>For at se disse: </a:t>
            </a:r>
            <a:endParaRPr lang="da-DK" sz="900" b="0" kern="1200" noProof="1">
              <a:solidFill>
                <a:schemeClr val="tx1"/>
              </a:solidFill>
              <a:latin typeface="+mn-lt"/>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1. </a:t>
            </a:r>
            <a:r>
              <a:rPr lang="da-DK" sz="900" b="0" kern="1200" noProof="1">
                <a:solidFill>
                  <a:schemeClr val="tx1"/>
                </a:solidFill>
                <a:latin typeface="+mn-lt"/>
                <a:ea typeface="+mn-ea"/>
                <a:cs typeface="Arial" panose="020B0604020202020204" pitchFamily="34" charset="0"/>
              </a:rPr>
              <a:t>Klik på </a:t>
            </a:r>
            <a:r>
              <a:rPr lang="da-DK" sz="900" b="1" kern="1200" noProof="1">
                <a:solidFill>
                  <a:schemeClr val="tx1"/>
                </a:solidFill>
                <a:latin typeface="+mn-lt"/>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mn-lt"/>
                <a:ea typeface="+mn-ea"/>
                <a:cs typeface="Arial" panose="020B0604020202020204" pitchFamily="34" charset="0"/>
              </a:rPr>
              <a:t>2. </a:t>
            </a:r>
            <a:r>
              <a:rPr lang="da-DK" sz="900" b="0" kern="1200" noProof="1">
                <a:solidFill>
                  <a:schemeClr val="tx1"/>
                </a:solidFill>
                <a:latin typeface="+mn-lt"/>
                <a:ea typeface="+mn-ea"/>
                <a:cs typeface="Arial" panose="020B0604020202020204" pitchFamily="34" charset="0"/>
              </a:rPr>
              <a:t>Vælg </a:t>
            </a:r>
            <a:r>
              <a:rPr lang="da-DK" sz="900" b="1" kern="1200" noProof="1">
                <a:solidFill>
                  <a:schemeClr val="tx1"/>
                </a:solidFill>
                <a:latin typeface="+mn-lt"/>
                <a:ea typeface="+mn-ea"/>
                <a:cs typeface="Arial" panose="020B0604020202020204" pitchFamily="34" charset="0"/>
              </a:rPr>
              <a:t>Gitterlinjer</a:t>
            </a:r>
            <a:r>
              <a:rPr lang="da-DK" sz="900" b="0" kern="1200" noProof="1">
                <a:solidFill>
                  <a:schemeClr val="tx1"/>
                </a:solidFill>
                <a:latin typeface="+mn-lt"/>
                <a:ea typeface="+mn-ea"/>
                <a:cs typeface="Arial" panose="020B0604020202020204" pitchFamily="34" charset="0"/>
              </a:rPr>
              <a:t> og/eller </a:t>
            </a:r>
            <a:r>
              <a:rPr lang="da-DK" sz="900" b="1" kern="1200" noProof="1">
                <a:solidFill>
                  <a:schemeClr val="tx1"/>
                </a:solidFill>
                <a:latin typeface="+mn-lt"/>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mn-lt"/>
                <a:ea typeface="+mn-ea"/>
                <a:cs typeface="Arial" panose="020B0604020202020204" pitchFamily="34" charset="0"/>
              </a:rPr>
              <a:t>Tip: </a:t>
            </a:r>
            <a:r>
              <a:rPr lang="da-DK" sz="900" b="0" kern="1200" noProof="1">
                <a:solidFill>
                  <a:srgbClr val="DF6752"/>
                </a:solidFill>
                <a:latin typeface="+mn-lt"/>
                <a:ea typeface="+mn-ea"/>
                <a:cs typeface="Arial" panose="020B0604020202020204" pitchFamily="34" charset="0"/>
              </a:rPr>
              <a:t>Tryk </a:t>
            </a:r>
            <a:r>
              <a:rPr lang="da-DK" sz="900" b="1" kern="1200" noProof="1">
                <a:solidFill>
                  <a:srgbClr val="DF6752"/>
                </a:solidFill>
                <a:latin typeface="+mn-lt"/>
                <a:ea typeface="+mn-ea"/>
                <a:cs typeface="Arial" panose="020B0604020202020204" pitchFamily="34" charset="0"/>
              </a:rPr>
              <a:t>Alt + F9</a:t>
            </a:r>
            <a:r>
              <a:rPr lang="da-DK" sz="900" b="0" kern="1200" noProof="1">
                <a:solidFill>
                  <a:srgbClr val="DF6752"/>
                </a:solidFill>
                <a:latin typeface="+mn-lt"/>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486989"/>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903752"/>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867115"/>
            <a:ext cx="319516" cy="568784"/>
          </a:xfrm>
          <a:prstGeom prst="rect">
            <a:avLst/>
          </a:prstGeom>
        </p:spPr>
      </p:pic>
      <p:sp>
        <p:nvSpPr>
          <p:cNvPr id="22" name="Rektangel 21"/>
          <p:cNvSpPr/>
          <p:nvPr userDrawn="1"/>
        </p:nvSpPr>
        <p:spPr>
          <a:xfrm>
            <a:off x="766763" y="651963"/>
            <a:ext cx="6096000" cy="1200329"/>
          </a:xfrm>
          <a:prstGeom prst="rect">
            <a:avLst/>
          </a:prstGeom>
        </p:spPr>
        <p:txBody>
          <a:bodyPr lIns="0" rIns="72000">
            <a:spAutoFit/>
          </a:bodyPr>
          <a:lstStyle/>
          <a:p>
            <a:r>
              <a:rPr lang="en-US" sz="3600" b="1" spc="300" dirty="0">
                <a:latin typeface="+mn-lt"/>
              </a:rPr>
              <a:t>BRUGERGUIDE</a:t>
            </a:r>
            <a:br>
              <a:rPr lang="en-US" sz="3600" b="1" spc="300" dirty="0">
                <a:latin typeface="+mn-lt"/>
              </a:rPr>
            </a:br>
            <a:endParaRPr lang="da-DK" sz="3600" b="1" spc="300" dirty="0">
              <a:latin typeface="+mn-lt"/>
            </a:endParaRPr>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prstGeom prst="rect">
            <a:avLst/>
          </a:prstGeom>
          <a:solidFill>
            <a:schemeClr val="bg1"/>
          </a:solidFill>
        </p:spPr>
        <p:txBody>
          <a:bodyPr tIns="108000"/>
          <a:lstStyle>
            <a:lvl1pPr algn="ctr">
              <a:defRPr sz="2800" baseline="0">
                <a:solidFill>
                  <a:schemeClr val="tx1"/>
                </a:solidFill>
                <a:latin typeface="+mn-lt"/>
              </a:defRPr>
            </a:lvl1pPr>
          </a:lstStyle>
          <a:p>
            <a:r>
              <a:rPr lang="en-US" dirty="0"/>
              <a:t>AALBORG UNIVERSITET</a:t>
            </a:r>
            <a:br>
              <a:rPr lang="en-US" dirty="0"/>
            </a:br>
            <a:r>
              <a:rPr lang="en-US" dirty="0"/>
              <a:t>OVERSKRIFT</a:t>
            </a:r>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dirty="0"/>
              <a:t>AF NAVN NAVNESEN</a:t>
            </a:r>
          </a:p>
        </p:txBody>
      </p:sp>
      <p:pic>
        <p:nvPicPr>
          <p:cNvPr id="2" name="Billede 1"/>
          <p:cNvPicPr>
            <a:picLocks noChangeAspect="1"/>
          </p:cNvPicPr>
          <p:nvPr userDrawn="1"/>
        </p:nvPicPr>
        <p:blipFill rotWithShape="1">
          <a:blip r:embed="rId2">
            <a:extLst>
              <a:ext uri="{28A0092B-C50C-407E-A947-70E740481C1C}">
                <a14:useLocalDpi xmlns:a14="http://schemas.microsoft.com/office/drawing/2010/main" val="0"/>
              </a:ext>
            </a:extLst>
          </a:blip>
          <a:srcRect l="34564" t="23050" r="34914" b="23274"/>
          <a:stretch/>
        </p:blipFill>
        <p:spPr>
          <a:xfrm>
            <a:off x="5371070" y="5855070"/>
            <a:ext cx="1433384" cy="8402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prstGeom prst="rect">
            <a:avLst/>
          </a:prstGeom>
          <a:solidFill>
            <a:schemeClr val="bg1"/>
          </a:solidFill>
        </p:spPr>
        <p:txBody>
          <a:bodyPr tIns="108000"/>
          <a:lstStyle>
            <a:lvl1pPr algn="ctr">
              <a:defRPr sz="2800" baseline="0">
                <a:solidFill>
                  <a:schemeClr val="tx1"/>
                </a:solidFill>
                <a:latin typeface="+mn-lt"/>
              </a:defRPr>
            </a:lvl1pPr>
          </a:lstStyle>
          <a:p>
            <a:r>
              <a:rPr lang="en-US" dirty="0"/>
              <a:t>PAUSE</a:t>
            </a:r>
            <a:br>
              <a:rPr lang="en-US" dirty="0"/>
            </a:br>
            <a:r>
              <a:rPr lang="en-US" dirty="0"/>
              <a:t>OVERSKRIFT</a:t>
            </a:r>
          </a:p>
        </p:txBody>
      </p:sp>
      <p:pic>
        <p:nvPicPr>
          <p:cNvPr id="31" name="Billede 30"/>
          <p:cNvPicPr>
            <a:picLocks noChangeAspect="1"/>
          </p:cNvPicPr>
          <p:nvPr userDrawn="1"/>
        </p:nvPicPr>
        <p:blipFill rotWithShape="1">
          <a:blip r:embed="rId2">
            <a:extLst>
              <a:ext uri="{28A0092B-C50C-407E-A947-70E740481C1C}">
                <a14:useLocalDpi xmlns:a14="http://schemas.microsoft.com/office/drawing/2010/main" val="0"/>
              </a:ext>
            </a:extLst>
          </a:blip>
          <a:srcRect l="34564" t="23050" r="34914" b="23274"/>
          <a:stretch/>
        </p:blipFill>
        <p:spPr>
          <a:xfrm>
            <a:off x="5371070" y="5855070"/>
            <a:ext cx="1433384" cy="840260"/>
          </a:xfrm>
          <a:prstGeom prst="rect">
            <a:avLst/>
          </a:prstGeom>
        </p:spPr>
      </p:pic>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3" name="Title 4"/>
          <p:cNvSpPr>
            <a:spLocks noGrp="1"/>
          </p:cNvSpPr>
          <p:nvPr>
            <p:ph type="title" hasCustomPrompt="1"/>
          </p:nvPr>
        </p:nvSpPr>
        <p:spPr>
          <a:xfrm>
            <a:off x="766763" y="657226"/>
            <a:ext cx="5149879" cy="1408112"/>
          </a:xfrm>
          <a:prstGeom prst="rect">
            <a:avLst/>
          </a:prstGeom>
        </p:spPr>
        <p:txBody>
          <a:bodyPr lIns="0" tIns="0"/>
          <a:lstStyle>
            <a:lvl1pPr>
              <a:defRPr sz="3600" baseline="0">
                <a:latin typeface="+mn-lt"/>
              </a:defRPr>
            </a:lvl1pPr>
          </a:lstStyle>
          <a:p>
            <a:r>
              <a:rPr lang="en-US" dirty="0"/>
              <a:t>KLIK HER FOR AT ÆNDRE TITEL</a:t>
            </a:r>
          </a:p>
        </p:txBody>
      </p:sp>
      <p:sp>
        <p:nvSpPr>
          <p:cNvPr id="5" name="Pladsholder til tekst 10"/>
          <p:cNvSpPr>
            <a:spLocks noGrp="1"/>
          </p:cNvSpPr>
          <p:nvPr>
            <p:ph type="body" sz="quarter" idx="12" hasCustomPrompt="1"/>
          </p:nvPr>
        </p:nvSpPr>
        <p:spPr>
          <a:xfrm>
            <a:off x="766762" y="2205038"/>
            <a:ext cx="10853737" cy="3704284"/>
          </a:xfrm>
        </p:spPr>
        <p:txBody>
          <a:bodyPr/>
          <a:lstStyle>
            <a:lvl1pPr marL="285750" indent="-285750">
              <a:buFontTx/>
              <a:buBlip>
                <a:blip r:embed="rId2"/>
              </a:buBlip>
              <a:defRPr/>
            </a:lvl1pPr>
          </a:lstStyle>
          <a:p>
            <a:pPr lvl="0"/>
            <a:r>
              <a:rPr lang="da-DK"/>
              <a:t>Indsæt bullets</a:t>
            </a:r>
            <a:endParaRPr lang="da-DK" dirty="0"/>
          </a:p>
        </p:txBody>
      </p:sp>
      <p:sp>
        <p:nvSpPr>
          <p:cNvPr id="6" name="Pladsholder til tekst 6"/>
          <p:cNvSpPr>
            <a:spLocks noGrp="1"/>
          </p:cNvSpPr>
          <p:nvPr>
            <p:ph type="body" sz="quarter" idx="13" hasCustomPrompt="1"/>
          </p:nvPr>
        </p:nvSpPr>
        <p:spPr>
          <a:xfrm>
            <a:off x="3071814" y="6363837"/>
            <a:ext cx="1712688" cy="282204"/>
          </a:xfrm>
        </p:spPr>
        <p:txBody>
          <a:bodyPr tIns="0">
            <a:noAutofit/>
          </a:bodyPr>
          <a:lstStyle>
            <a:lvl1pPr marL="0" indent="0">
              <a:lnSpc>
                <a:spcPct val="100000"/>
              </a:lnSpc>
              <a:buNone/>
              <a:defRPr sz="600" b="1" spc="170" baseline="0">
                <a:latin typeface="+mn-lt"/>
              </a:defRPr>
            </a:lvl1pPr>
          </a:lstStyle>
          <a:p>
            <a:pPr lvl="0"/>
            <a:r>
              <a:rPr lang="da-DK" dirty="0"/>
              <a:t>INDSÆT POWERPOINT- ELLER ENHEDSNAVN HER</a:t>
            </a:r>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26" name="Title 4"/>
          <p:cNvSpPr>
            <a:spLocks noGrp="1"/>
          </p:cNvSpPr>
          <p:nvPr>
            <p:ph type="title" hasCustomPrompt="1"/>
          </p:nvPr>
        </p:nvSpPr>
        <p:spPr>
          <a:xfrm>
            <a:off x="766763" y="657225"/>
            <a:ext cx="4516438" cy="1473911"/>
          </a:xfrm>
          <a:prstGeom prst="rect">
            <a:avLst/>
          </a:prstGeom>
        </p:spPr>
        <p:txBody>
          <a:bodyPr lIns="0" tIns="0"/>
          <a:lstStyle>
            <a:lvl1pPr>
              <a:defRPr sz="3600">
                <a:latin typeface="+mn-lt"/>
              </a:defRPr>
            </a:lvl1pPr>
          </a:lstStyle>
          <a:p>
            <a:r>
              <a:rPr lang="en-US" dirty="0"/>
              <a:t>KLIK HER FOR AT ÆNDRE TITEL</a:t>
            </a:r>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766763" y="2220511"/>
            <a:ext cx="4516438" cy="3243263"/>
          </a:xfrm>
        </p:spPr>
        <p:txBody>
          <a:bodyPr/>
          <a:lstStyle>
            <a:lvl1pPr marL="285750" indent="-285750">
              <a:buFontTx/>
              <a:buBlip>
                <a:blip r:embed="rId3"/>
              </a:buBlip>
              <a:defRPr/>
            </a:lvl1pPr>
          </a:lstStyle>
          <a:p>
            <a:pPr lvl="0"/>
            <a:r>
              <a:rPr lang="da-DK"/>
              <a:t>Indsæt </a:t>
            </a:r>
            <a:r>
              <a:rPr lang="da-DK" dirty="0" err="1"/>
              <a:t>bullets</a:t>
            </a:r>
            <a:endParaRPr lang="da-DK" dirty="0"/>
          </a:p>
        </p:txBody>
      </p:sp>
      <p:sp>
        <p:nvSpPr>
          <p:cNvPr id="50" name="Pladsholder til tekst 6"/>
          <p:cNvSpPr>
            <a:spLocks noGrp="1"/>
          </p:cNvSpPr>
          <p:nvPr>
            <p:ph type="body" sz="quarter" idx="13" hasCustomPrompt="1"/>
          </p:nvPr>
        </p:nvSpPr>
        <p:spPr>
          <a:xfrm>
            <a:off x="3071813" y="6363837"/>
            <a:ext cx="1819117" cy="282204"/>
          </a:xfrm>
        </p:spPr>
        <p:txBody>
          <a:bodyPr tIns="0">
            <a:noAutofit/>
          </a:bodyPr>
          <a:lstStyle>
            <a:lvl1pPr marL="0" indent="0">
              <a:lnSpc>
                <a:spcPct val="100000"/>
              </a:lnSpc>
              <a:buNone/>
              <a:defRPr sz="600" b="1" spc="170" baseline="0">
                <a:latin typeface="+mn-lt"/>
              </a:defRPr>
            </a:lvl1pPr>
          </a:lstStyle>
          <a:p>
            <a:pPr lvl="0"/>
            <a:r>
              <a:rPr lang="da-DK" dirty="0"/>
              <a:t>INDSÆT POWERPOINT- ELLER ENHEDSNAVN HER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766763" y="663113"/>
            <a:ext cx="5744569" cy="1436992"/>
          </a:xfrm>
          <a:prstGeom prst="rect">
            <a:avLst/>
          </a:prstGeom>
        </p:spPr>
        <p:txBody>
          <a:bodyPr lIns="0" tIns="0"/>
          <a:lstStyle>
            <a:lvl1pPr>
              <a:defRPr sz="3600">
                <a:latin typeface="+mn-lt"/>
              </a:defRPr>
            </a:lvl1pPr>
          </a:lstStyle>
          <a:p>
            <a:r>
              <a:rPr lang="en-US" dirty="0"/>
              <a:t>KLIK HER FOR AT ÆNDRE TITEL</a:t>
            </a:r>
          </a:p>
        </p:txBody>
      </p:sp>
      <p:sp>
        <p:nvSpPr>
          <p:cNvPr id="11" name="Pladsholder til diagram 10"/>
          <p:cNvSpPr>
            <a:spLocks noGrp="1"/>
          </p:cNvSpPr>
          <p:nvPr>
            <p:ph type="chart" sz="quarter" idx="12"/>
          </p:nvPr>
        </p:nvSpPr>
        <p:spPr>
          <a:xfrm>
            <a:off x="6888163" y="2205037"/>
            <a:ext cx="4732337" cy="3572737"/>
          </a:xfrm>
        </p:spPr>
        <p:txBody>
          <a:bodyPr/>
          <a:lstStyle/>
          <a:p>
            <a:r>
              <a:rPr lang="en-US"/>
              <a:t>Click icon to add chart</a:t>
            </a:r>
            <a:endParaRPr lang="da-DK"/>
          </a:p>
        </p:txBody>
      </p:sp>
      <p:sp>
        <p:nvSpPr>
          <p:cNvPr id="13" name="Pladsholder til tekst 12"/>
          <p:cNvSpPr>
            <a:spLocks noGrp="1"/>
          </p:cNvSpPr>
          <p:nvPr>
            <p:ph type="body" sz="quarter" idx="13" hasCustomPrompt="1"/>
          </p:nvPr>
        </p:nvSpPr>
        <p:spPr>
          <a:xfrm>
            <a:off x="766764" y="2205038"/>
            <a:ext cx="5744568" cy="3572737"/>
          </a:xfrm>
        </p:spPr>
        <p:txBody>
          <a:bodyPr>
            <a:normAutofit/>
          </a:bodyPr>
          <a:lstStyle>
            <a:lvl2pPr marL="285750" indent="-285750">
              <a:buFontTx/>
              <a:buBlip>
                <a:blip r:embed="rId2"/>
              </a:buBlip>
              <a:defRPr sz="1600" baseline="0"/>
            </a:lvl2pPr>
          </a:lstStyle>
          <a:p>
            <a:pPr lvl="1"/>
            <a:r>
              <a:rPr lang="da-DK"/>
              <a:t>Indsæt bullets</a:t>
            </a:r>
            <a:endParaRPr lang="da-DK" dirty="0"/>
          </a:p>
        </p:txBody>
      </p:sp>
      <p:sp>
        <p:nvSpPr>
          <p:cNvPr id="8" name="Pladsholder til tekst 6"/>
          <p:cNvSpPr>
            <a:spLocks noGrp="1"/>
          </p:cNvSpPr>
          <p:nvPr>
            <p:ph type="body" sz="quarter" idx="14" hasCustomPrompt="1"/>
          </p:nvPr>
        </p:nvSpPr>
        <p:spPr>
          <a:xfrm>
            <a:off x="3071813" y="6363837"/>
            <a:ext cx="1819117" cy="282204"/>
          </a:xfrm>
        </p:spPr>
        <p:txBody>
          <a:bodyPr tIns="0">
            <a:noAutofit/>
          </a:bodyPr>
          <a:lstStyle>
            <a:lvl1pPr marL="0" indent="0">
              <a:lnSpc>
                <a:spcPct val="100000"/>
              </a:lnSpc>
              <a:buNone/>
              <a:defRPr sz="600" b="1" spc="170" baseline="0">
                <a:latin typeface="+mn-lt"/>
              </a:defRPr>
            </a:lvl1pPr>
          </a:lstStyle>
          <a:p>
            <a:pPr lvl="0"/>
            <a:r>
              <a:rPr lang="da-DK" dirty="0"/>
              <a:t>INDSÆT POWERPOINT- ELLER ENHEDSNAVN HER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766763" y="657225"/>
            <a:ext cx="5433070" cy="1402687"/>
          </a:xfrm>
          <a:prstGeom prst="rect">
            <a:avLst/>
          </a:prstGeom>
        </p:spPr>
        <p:txBody>
          <a:bodyPr lIns="0" tIns="0"/>
          <a:lstStyle>
            <a:lvl1pPr>
              <a:defRPr sz="3600">
                <a:latin typeface="+mn-lt"/>
              </a:defRPr>
            </a:lvl1pPr>
          </a:lstStyle>
          <a:p>
            <a:r>
              <a:rPr lang="en-US" dirty="0"/>
              <a:t>KLIK HER FOR AT ÆNDRE TITEL</a:t>
            </a:r>
          </a:p>
        </p:txBody>
      </p:sp>
      <p:sp>
        <p:nvSpPr>
          <p:cNvPr id="4" name="Pladsholder til tekst 3"/>
          <p:cNvSpPr>
            <a:spLocks noGrp="1"/>
          </p:cNvSpPr>
          <p:nvPr>
            <p:ph type="body" sz="quarter" idx="12" hasCustomPrompt="1"/>
          </p:nvPr>
        </p:nvSpPr>
        <p:spPr>
          <a:xfrm>
            <a:off x="766763" y="2205038"/>
            <a:ext cx="5433070" cy="3752115"/>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sp>
        <p:nvSpPr>
          <p:cNvPr id="8" name="Pladsholder til tekst 6"/>
          <p:cNvSpPr>
            <a:spLocks noGrp="1"/>
          </p:cNvSpPr>
          <p:nvPr>
            <p:ph type="body" sz="quarter" idx="13" hasCustomPrompt="1"/>
          </p:nvPr>
        </p:nvSpPr>
        <p:spPr>
          <a:xfrm>
            <a:off x="3071813" y="6363837"/>
            <a:ext cx="1819117" cy="282204"/>
          </a:xfrm>
        </p:spPr>
        <p:txBody>
          <a:bodyPr tIns="0">
            <a:noAutofit/>
          </a:bodyPr>
          <a:lstStyle>
            <a:lvl1pPr marL="0" indent="0">
              <a:lnSpc>
                <a:spcPct val="100000"/>
              </a:lnSpc>
              <a:buNone/>
              <a:defRPr sz="600" b="1" spc="170" baseline="0">
                <a:latin typeface="+mn-lt"/>
              </a:defRPr>
            </a:lvl1pPr>
          </a:lstStyle>
          <a:p>
            <a:pPr lvl="0"/>
            <a:r>
              <a:rPr lang="da-DK" dirty="0"/>
              <a:t>INDSÆT POWERPOINT- ELLER ENHEDSNAVN HER</a:t>
            </a:r>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a:xfrm>
            <a:off x="11339887" y="593223"/>
            <a:ext cx="571468" cy="227164"/>
          </a:xfrm>
          <a:prstGeom prst="rect">
            <a:avLst/>
          </a:prstGeom>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766763" y="657225"/>
            <a:ext cx="5197983" cy="1357254"/>
          </a:xfrm>
          <a:prstGeom prst="rect">
            <a:avLst/>
          </a:prstGeom>
        </p:spPr>
        <p:txBody>
          <a:bodyPr lIns="0" tIns="0"/>
          <a:lstStyle>
            <a:lvl1pPr>
              <a:defRPr sz="3600">
                <a:solidFill>
                  <a:schemeClr val="bg1"/>
                </a:solidFill>
                <a:latin typeface="+mn-lt"/>
              </a:defRPr>
            </a:lvl1pPr>
          </a:lstStyle>
          <a:p>
            <a:r>
              <a:rPr lang="en-US" dirty="0"/>
              <a:t>KLIK HER FOR AT ÆNDRE TITEL</a:t>
            </a:r>
          </a:p>
        </p:txBody>
      </p:sp>
      <p:sp>
        <p:nvSpPr>
          <p:cNvPr id="4" name="Pladsholder til tekst 3"/>
          <p:cNvSpPr>
            <a:spLocks noGrp="1"/>
          </p:cNvSpPr>
          <p:nvPr>
            <p:ph type="body" sz="quarter" idx="12" hasCustomPrompt="1"/>
          </p:nvPr>
        </p:nvSpPr>
        <p:spPr>
          <a:xfrm>
            <a:off x="766763" y="2205038"/>
            <a:ext cx="4687094" cy="37655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sp>
        <p:nvSpPr>
          <p:cNvPr id="13" name="Pladsholder til tekst 6"/>
          <p:cNvSpPr>
            <a:spLocks noGrp="1"/>
          </p:cNvSpPr>
          <p:nvPr>
            <p:ph type="body" sz="quarter" idx="13" hasCustomPrompt="1"/>
          </p:nvPr>
        </p:nvSpPr>
        <p:spPr>
          <a:xfrm>
            <a:off x="3071813" y="6363837"/>
            <a:ext cx="1819117" cy="282204"/>
          </a:xfrm>
        </p:spPr>
        <p:txBody>
          <a:bodyPr tIns="0">
            <a:noAutofit/>
          </a:bodyPr>
          <a:lstStyle>
            <a:lvl1pPr marL="0" indent="0">
              <a:lnSpc>
                <a:spcPct val="100000"/>
              </a:lnSpc>
              <a:buNone/>
              <a:defRPr sz="600" b="1" spc="170" baseline="0">
                <a:solidFill>
                  <a:schemeClr val="bg1"/>
                </a:solidFill>
                <a:latin typeface="+mn-lt"/>
              </a:defRPr>
            </a:lvl1pPr>
          </a:lstStyle>
          <a:p>
            <a:pPr lvl="0"/>
            <a:r>
              <a:rPr lang="da-DK" dirty="0"/>
              <a:t>INDSÆT POWERPOINT- ELLER ENHEDSNAVN HER</a:t>
            </a:r>
          </a:p>
        </p:txBody>
      </p:sp>
      <p:pic>
        <p:nvPicPr>
          <p:cNvPr id="19" name="Billed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4193" y="6337504"/>
            <a:ext cx="1067932" cy="266983"/>
          </a:xfrm>
          <a:prstGeom prst="rect">
            <a:avLst/>
          </a:prstGeom>
        </p:spPr>
      </p:pic>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a:xfrm>
            <a:off x="11339887" y="593223"/>
            <a:ext cx="571468" cy="227164"/>
          </a:xfrm>
          <a:prstGeom prst="rect">
            <a:avLst/>
          </a:prstGeom>
        </p:spPr>
        <p:txBody>
          <a:body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766762" y="657225"/>
            <a:ext cx="4503737" cy="1471230"/>
          </a:xfrm>
          <a:prstGeom prst="rect">
            <a:avLst/>
          </a:prstGeom>
        </p:spPr>
        <p:txBody>
          <a:bodyPr lIns="0" tIns="0"/>
          <a:lstStyle>
            <a:lvl1pPr>
              <a:defRPr sz="3600">
                <a:solidFill>
                  <a:schemeClr val="bg1"/>
                </a:solidFill>
                <a:latin typeface="+mn-lt"/>
              </a:defRPr>
            </a:lvl1pPr>
          </a:lstStyle>
          <a:p>
            <a:r>
              <a:rPr lang="en-US" dirty="0"/>
              <a:t>KLIK HER FOR AT ÆNDRE TITEL</a:t>
            </a:r>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766763" y="2205038"/>
            <a:ext cx="4458495" cy="36004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6" name="Pladsholder til tekst 6"/>
          <p:cNvSpPr>
            <a:spLocks noGrp="1"/>
          </p:cNvSpPr>
          <p:nvPr>
            <p:ph type="body" sz="quarter" idx="13" hasCustomPrompt="1"/>
          </p:nvPr>
        </p:nvSpPr>
        <p:spPr>
          <a:xfrm>
            <a:off x="3071813" y="6363837"/>
            <a:ext cx="1819117" cy="282204"/>
          </a:xfrm>
        </p:spPr>
        <p:txBody>
          <a:bodyPr tIns="0">
            <a:noAutofit/>
          </a:bodyPr>
          <a:lstStyle>
            <a:lvl1pPr marL="0" indent="0">
              <a:lnSpc>
                <a:spcPct val="100000"/>
              </a:lnSpc>
              <a:buNone/>
              <a:defRPr sz="600" b="1" spc="170" baseline="0">
                <a:solidFill>
                  <a:schemeClr val="bg1"/>
                </a:solidFill>
                <a:latin typeface="+mn-lt"/>
              </a:defRPr>
            </a:lvl1pPr>
          </a:lstStyle>
          <a:p>
            <a:pPr lvl="0"/>
            <a:r>
              <a:rPr lang="da-DK" dirty="0"/>
              <a:t>INDSÆT POWERPOINT- ELLER ENHEDSNAVN HER</a:t>
            </a:r>
          </a:p>
        </p:txBody>
      </p:sp>
      <p:pic>
        <p:nvPicPr>
          <p:cNvPr id="55" name="Billede 5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4193" y="6337504"/>
            <a:ext cx="1067932" cy="266983"/>
          </a:xfrm>
          <a:prstGeom prst="rect">
            <a:avLst/>
          </a:prstGeom>
        </p:spPr>
      </p:pic>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9" name="Picture Placeholder 4"/>
          <p:cNvSpPr>
            <a:spLocks noGrp="1"/>
          </p:cNvSpPr>
          <p:nvPr>
            <p:ph type="pic" sz="quarter" idx="14" hasCustomPrompt="1"/>
          </p:nvPr>
        </p:nvSpPr>
        <p:spPr>
          <a:xfrm>
            <a:off x="7427912" y="3418702"/>
            <a:ext cx="4764087" cy="34339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766763" y="657225"/>
            <a:ext cx="4542975" cy="1486727"/>
          </a:xfrm>
          <a:prstGeom prst="rect">
            <a:avLst/>
          </a:prstGeom>
        </p:spPr>
        <p:txBody>
          <a:bodyPr lIns="0" tIns="0"/>
          <a:lstStyle>
            <a:lvl1pPr>
              <a:defRPr sz="3600">
                <a:latin typeface="+mn-lt"/>
              </a:defRPr>
            </a:lvl1pPr>
          </a:lstStyle>
          <a:p>
            <a:r>
              <a:rPr lang="en-US" dirty="0"/>
              <a:t>KLIK HER FOR AT ÆNDRE TITEL</a:t>
            </a:r>
          </a:p>
        </p:txBody>
      </p:sp>
      <p:sp>
        <p:nvSpPr>
          <p:cNvPr id="7" name="Pladsholder til tekst 3"/>
          <p:cNvSpPr>
            <a:spLocks noGrp="1"/>
          </p:cNvSpPr>
          <p:nvPr>
            <p:ph type="body" sz="quarter" idx="15" hasCustomPrompt="1"/>
          </p:nvPr>
        </p:nvSpPr>
        <p:spPr>
          <a:xfrm>
            <a:off x="766764" y="2205038"/>
            <a:ext cx="4542974" cy="3575409"/>
          </a:xfrm>
        </p:spPr>
        <p:txBody>
          <a:bodyPr/>
          <a:lstStyle>
            <a:lvl1pPr marL="285750" indent="-285750">
              <a:lnSpc>
                <a:spcPct val="100000"/>
              </a:lnSpc>
              <a:spcBef>
                <a:spcPts val="600"/>
              </a:spcBef>
              <a:buFontTx/>
              <a:buBlip>
                <a:blip r:embed="rId2"/>
              </a:buBlip>
              <a:defRPr sz="1600" baseline="0"/>
            </a:lvl1pPr>
          </a:lstStyle>
          <a:p>
            <a:pPr lvl="0"/>
            <a:r>
              <a:rPr lang="da-DK" dirty="0"/>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41870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2" name="Pladsholder til tekst 6"/>
          <p:cNvSpPr>
            <a:spLocks noGrp="1"/>
          </p:cNvSpPr>
          <p:nvPr>
            <p:ph type="body" sz="quarter" idx="13" hasCustomPrompt="1"/>
          </p:nvPr>
        </p:nvSpPr>
        <p:spPr>
          <a:xfrm>
            <a:off x="3071813" y="6363837"/>
            <a:ext cx="1819117" cy="282204"/>
          </a:xfrm>
        </p:spPr>
        <p:txBody>
          <a:bodyPr tIns="0">
            <a:noAutofit/>
          </a:bodyPr>
          <a:lstStyle>
            <a:lvl1pPr marL="0" indent="0">
              <a:lnSpc>
                <a:spcPct val="100000"/>
              </a:lnSpc>
              <a:buNone/>
              <a:defRPr sz="600" b="1" spc="170" baseline="0">
                <a:latin typeface="+mn-lt"/>
              </a:defRPr>
            </a:lvl1pPr>
          </a:lstStyle>
          <a:p>
            <a:pPr lvl="0"/>
            <a:r>
              <a:rPr lang="da-DK" dirty="0"/>
              <a:t>INDSÆT POWERPOINT- ELLER ENHEDSNAVN HER</a:t>
            </a:r>
          </a:p>
        </p:txBody>
      </p:sp>
    </p:spTree>
    <p:extLst>
      <p:ext uri="{BB962C8B-B14F-4D97-AF65-F5344CB8AC3E}">
        <p14:creationId xmlns:p14="http://schemas.microsoft.com/office/powerpoint/2010/main" val="61197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766763" y="2215710"/>
            <a:ext cx="6298513" cy="3559735"/>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2" name="Заголовок 1"/>
          <p:cNvSpPr txBox="1">
            <a:spLocks/>
          </p:cNvSpPr>
          <p:nvPr userDrawn="1"/>
        </p:nvSpPr>
        <p:spPr>
          <a:xfrm>
            <a:off x="10335700" y="6364107"/>
            <a:ext cx="1413426" cy="282928"/>
          </a:xfrm>
          <a:prstGeom prst="rect">
            <a:avLst/>
          </a:prstGeom>
          <a:effectLst/>
        </p:spPr>
        <p:txBody>
          <a:bodyPr vert="horz" lIns="0" tIns="0" rIns="0" bIns="0" rtlCol="0" anchor="t" anchorCtr="0">
            <a:noAutofit/>
          </a:bodyPr>
          <a:lstStyle>
            <a:lvl1pPr algn="l" defTabSz="914318" rtl="0" eaLnBrk="1" latinLnBrk="0" hangingPunct="1">
              <a:lnSpc>
                <a:spcPct val="100000"/>
              </a:lnSpc>
              <a:spcBef>
                <a:spcPct val="0"/>
              </a:spcBef>
              <a:buNone/>
              <a:defRPr sz="3600" b="1" kern="1200" spc="300" baseline="0">
                <a:solidFill>
                  <a:schemeClr val="tx1"/>
                </a:solidFill>
                <a:latin typeface="Barlow" panose="00000500000000000000" pitchFamily="2" charset="0"/>
                <a:ea typeface="+mj-ea"/>
                <a:cs typeface="+mj-cs"/>
              </a:defRPr>
            </a:lvl1pPr>
          </a:lstStyle>
          <a:p>
            <a:pPr algn="r"/>
            <a:r>
              <a:rPr lang="en-US" sz="600" b="1" spc="200" baseline="0" dirty="0">
                <a:latin typeface="+mn-lt"/>
              </a:rPr>
              <a:t>SIDE</a:t>
            </a:r>
          </a:p>
          <a:p>
            <a:pPr algn="r"/>
            <a:fld id="{B7B554CF-BBF7-4941-9FD0-458D21B824E3}" type="slidenum">
              <a:rPr lang="en-US" sz="600" b="1" spc="200" baseline="0" smtClean="0">
                <a:latin typeface="+mn-lt"/>
              </a:rPr>
              <a:t>‹#›</a:t>
            </a:fld>
            <a:endParaRPr lang="en-US" sz="600" b="1" spc="200" baseline="0" dirty="0">
              <a:latin typeface="+mn-lt"/>
            </a:endParaRPr>
          </a:p>
        </p:txBody>
      </p:sp>
      <p:pic>
        <p:nvPicPr>
          <p:cNvPr id="2" name="Billede 1"/>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324192" y="6337504"/>
            <a:ext cx="1067935" cy="266983"/>
          </a:xfrm>
          <a:prstGeom prst="rect">
            <a:avLst/>
          </a:prstGeom>
        </p:spPr>
      </p:pic>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32" r:id="rId10"/>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Barlow" panose="00000500000000000000" pitchFamily="2" charset="0"/>
          <a:ea typeface="+mj-ea"/>
          <a:cs typeface="+mj-cs"/>
        </a:defRPr>
      </a:lvl1pPr>
    </p:titleStyle>
    <p:bodyStyle>
      <a:lvl1pPr marL="285750" indent="-285750" algn="l" defTabSz="914318" rtl="0" eaLnBrk="1" latinLnBrk="0" hangingPunct="1">
        <a:lnSpc>
          <a:spcPct val="120000"/>
        </a:lnSpc>
        <a:spcBef>
          <a:spcPts val="1000"/>
        </a:spcBef>
        <a:buFontTx/>
        <a:buBlip>
          <a:blip r:embed="rId13"/>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3"/>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4"/>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4"/>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4"/>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1935" userDrawn="1">
          <p15:clr>
            <a:srgbClr val="F26B43"/>
          </p15:clr>
        </p15:guide>
        <p15:guide id="1" orient="horz" pos="1389" userDrawn="1">
          <p15:clr>
            <a:srgbClr val="F26B43"/>
          </p15:clr>
        </p15:guide>
        <p15:guide id="28" pos="483"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ladsholder til billede 9"/>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t="16359" b="1684"/>
          <a:stretch/>
        </p:blipFill>
        <p:spPr/>
      </p:pic>
      <p:sp>
        <p:nvSpPr>
          <p:cNvPr id="4" name="Titel 3"/>
          <p:cNvSpPr>
            <a:spLocks noGrp="1"/>
          </p:cNvSpPr>
          <p:nvPr>
            <p:ph type="title"/>
          </p:nvPr>
        </p:nvSpPr>
        <p:spPr/>
        <p:txBody>
          <a:bodyPr/>
          <a:lstStyle/>
          <a:p>
            <a:pPr algn="ctr"/>
            <a:r>
              <a:rPr lang="da-DK" sz="2800" b="1" dirty="0"/>
              <a:t>GRADIENTVEKTOR OG RETNINGSAFLEDEDE</a:t>
            </a:r>
          </a:p>
        </p:txBody>
      </p:sp>
      <p:sp>
        <p:nvSpPr>
          <p:cNvPr id="7" name="Pladsholder til tekst 6"/>
          <p:cNvSpPr>
            <a:spLocks noGrp="1"/>
          </p:cNvSpPr>
          <p:nvPr>
            <p:ph type="body" sz="quarter" idx="12"/>
          </p:nvPr>
        </p:nvSpPr>
        <p:spPr/>
        <p:txBody>
          <a:bodyPr/>
          <a:lstStyle/>
          <a:p>
            <a:pPr algn="ctr">
              <a:lnSpc>
                <a:spcPts val="1300"/>
              </a:lnSpc>
            </a:pPr>
            <a:r>
              <a:rPr lang="da-DK" sz="1100" b="1" spc="170" dirty="0"/>
              <a:t>MADS MUNK NIELSEN  |  CALCULUS – BLOK 1 – LEKTION 4</a:t>
            </a:r>
          </a:p>
          <a:p>
            <a:pPr algn="ctr">
              <a:lnSpc>
                <a:spcPts val="1100"/>
              </a:lnSpc>
              <a:spcBef>
                <a:spcPts val="100"/>
              </a:spcBef>
            </a:pPr>
            <a:r>
              <a:rPr lang="da-DK" sz="900" b="1" spc="140" dirty="0">
                <a:solidFill>
                  <a:schemeClr val="tx2"/>
                </a:solidFill>
              </a:rPr>
              <a:t>DEPARTMENT OF MATHEMATICAL SCIENCES · AALBORG UNIVERSITY, DENMARK</a:t>
            </a:r>
          </a:p>
        </p:txBody>
      </p:sp>
      <p:pic>
        <p:nvPicPr>
          <p:cNvPr id="3" name="Billede 2"/>
          <p:cNvPicPr>
            <a:picLocks noChangeAspect="1"/>
          </p:cNvPicPr>
          <p:nvPr/>
        </p:nvPicPr>
        <p:blipFill rotWithShape="1">
          <a:blip r:embed="rId4">
            <a:extLst>
              <a:ext uri="{28A0092B-C50C-407E-A947-70E740481C1C}">
                <a14:useLocalDpi xmlns:a14="http://schemas.microsoft.com/office/drawing/2010/main" val="0"/>
              </a:ext>
            </a:extLst>
          </a:blip>
          <a:srcRect l="35798" t="13321" r="36944"/>
          <a:stretch/>
        </p:blipFill>
        <p:spPr>
          <a:xfrm>
            <a:off x="5394959" y="5564777"/>
            <a:ext cx="1345475" cy="1429630"/>
          </a:xfrm>
          <a:prstGeom prst="rect">
            <a:avLst/>
          </a:prstGeom>
        </p:spPr>
      </p:pic>
    </p:spTree>
    <p:extLst>
      <p:ext uri="{BB962C8B-B14F-4D97-AF65-F5344CB8AC3E}">
        <p14:creationId xmlns:p14="http://schemas.microsoft.com/office/powerpoint/2010/main" val="1883836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96440-D1FE-CA0D-C1D9-37E9C4CF880B}"/>
              </a:ext>
            </a:extLst>
          </p:cNvPr>
          <p:cNvSpPr>
            <a:spLocks noGrp="1"/>
          </p:cNvSpPr>
          <p:nvPr>
            <p:ph type="title"/>
          </p:nvPr>
        </p:nvSpPr>
        <p:spPr>
          <a:xfrm>
            <a:off x="766763" y="660400"/>
            <a:ext cx="10668000" cy="660400"/>
          </a:xfrm>
        </p:spPr>
        <p:txBody>
          <a:bodyPr/>
          <a:lstStyle/>
          <a:p>
            <a:r>
              <a:rPr lang="da-DK" sz="3200" b="1" dirty="0"/>
              <a:t>AGENDA</a:t>
            </a:r>
          </a:p>
        </p:txBody>
      </p:sp>
      <p:sp>
        <p:nvSpPr>
          <p:cNvPr id="3" name="Text Placeholder 2">
            <a:extLst>
              <a:ext uri="{FF2B5EF4-FFF2-40B4-BE49-F238E27FC236}">
                <a16:creationId xmlns:a16="http://schemas.microsoft.com/office/drawing/2014/main" id="{A3AE18E8-7006-B64F-B43E-DA263E69A653}"/>
              </a:ext>
            </a:extLst>
          </p:cNvPr>
          <p:cNvSpPr>
            <a:spLocks noGrp="1"/>
          </p:cNvSpPr>
          <p:nvPr>
            <p:ph type="body" sz="quarter" idx="12"/>
          </p:nvPr>
        </p:nvSpPr>
        <p:spPr>
          <a:xfrm>
            <a:off x="766763" y="2159000"/>
            <a:ext cx="7620000" cy="3556000"/>
          </a:xfrm>
        </p:spPr>
        <p:txBody>
          <a:bodyPr/>
          <a:lstStyle/>
          <a:p>
            <a:pPr>
              <a:spcBef>
                <a:spcPts val="1400"/>
              </a:spcBef>
            </a:pPr>
            <a:r>
              <a:rPr lang="da-DK" sz="2000" dirty="0"/>
              <a:t>Opsummering</a:t>
            </a:r>
          </a:p>
          <a:p>
            <a:pPr>
              <a:spcBef>
                <a:spcPts val="1400"/>
              </a:spcBef>
            </a:pPr>
            <a:r>
              <a:rPr lang="da-DK" sz="2000" dirty="0"/>
              <a:t>Gradientvektoren</a:t>
            </a:r>
          </a:p>
          <a:p>
            <a:pPr>
              <a:spcBef>
                <a:spcPts val="1400"/>
              </a:spcBef>
            </a:pPr>
            <a:r>
              <a:rPr lang="da-DK" sz="2000" dirty="0"/>
              <a:t>Pause</a:t>
            </a:r>
          </a:p>
          <a:p>
            <a:pPr>
              <a:spcBef>
                <a:spcPts val="1400"/>
              </a:spcBef>
            </a:pPr>
            <a:r>
              <a:rPr lang="da-DK" sz="2000" dirty="0"/>
              <a:t>Den retningsafledede</a:t>
            </a:r>
          </a:p>
        </p:txBody>
      </p:sp>
      <p:sp>
        <p:nvSpPr>
          <p:cNvPr id="4" name="Text Placeholder 3">
            <a:extLst>
              <a:ext uri="{FF2B5EF4-FFF2-40B4-BE49-F238E27FC236}">
                <a16:creationId xmlns:a16="http://schemas.microsoft.com/office/drawing/2014/main" id="{0536BF34-37B3-1819-6242-D2C61A902635}"/>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Tree>
    <p:extLst>
      <p:ext uri="{BB962C8B-B14F-4D97-AF65-F5344CB8AC3E}">
        <p14:creationId xmlns:p14="http://schemas.microsoft.com/office/powerpoint/2010/main" val="3680572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0AA9-8E6D-B3B4-31B1-12A071C88F51}"/>
              </a:ext>
            </a:extLst>
          </p:cNvPr>
          <p:cNvSpPr>
            <a:spLocks noGrp="1"/>
          </p:cNvSpPr>
          <p:nvPr>
            <p:ph type="title"/>
          </p:nvPr>
        </p:nvSpPr>
        <p:spPr>
          <a:xfrm>
            <a:off x="766763" y="660400"/>
            <a:ext cx="10668000" cy="635000"/>
          </a:xfrm>
        </p:spPr>
        <p:txBody>
          <a:bodyPr/>
          <a:lstStyle/>
          <a:p>
            <a:r>
              <a:rPr lang="da-DK" sz="3200" b="1" dirty="0"/>
              <a:t>OPSUMMERING (1/4)</a:t>
            </a:r>
          </a:p>
        </p:txBody>
      </p:sp>
      <p:sp>
        <p:nvSpPr>
          <p:cNvPr id="4" name="Text Placeholder 3">
            <a:extLst>
              <a:ext uri="{FF2B5EF4-FFF2-40B4-BE49-F238E27FC236}">
                <a16:creationId xmlns:a16="http://schemas.microsoft.com/office/drawing/2014/main" id="{48A26007-9E16-5288-DEA2-8F204378A651}"/>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371600"/>
            <a:ext cx="10668000" cy="254000"/>
          </a:xfrm>
          <a:prstGeom prst="rect">
            <a:avLst/>
          </a:prstGeom>
          <a:noFill/>
          <a:ln>
            <a:noFill/>
          </a:ln>
        </p:spPr>
        <p:txBody>
          <a:bodyPr wrap="square" lIns="0" tIns="0" rIns="0" bIns="0">
            <a:noAutofit/>
          </a:bodyPr>
          <a:lstStyle/>
          <a:p>
            <a:pPr marL="0" indent="0" algn="l">
              <a:lnSpc>
                <a:spcPct val="115000"/>
              </a:lnSpc>
              <a:spcBef>
                <a:spcPts val="500"/>
              </a:spcBef>
              <a:buNone/>
            </a:pPr>
            <a:r>
              <a:rPr lang="da-DK" sz="1400" b="1" spc="170" dirty="0">
                <a:solidFill>
                  <a:srgbClr val="DF6752"/>
                </a:solidFill>
              </a:rPr>
              <a:t>SIMPEL VERSION AF KÆDEREGLEN</a:t>
            </a:r>
          </a:p>
        </p:txBody>
      </p:sp>
      <p:sp>
        <p:nvSpPr>
          <p:cNvPr id="201" name="S201"/>
          <p:cNvSpPr txBox="1"/>
          <p:nvPr/>
        </p:nvSpPr>
        <p:spPr>
          <a:xfrm>
            <a:off x="766763" y="1930400"/>
            <a:ext cx="6477000" cy="3175000"/>
          </a:xfrm>
          <a:prstGeom prst="rect">
            <a:avLst/>
          </a:prstGeom>
          <a:solidFill>
            <a:srgbClr val="F4F5F7"/>
          </a:solidFill>
          <a:ln>
            <a:noFill/>
          </a:ln>
        </p:spPr>
        <p:txBody>
          <a:bodyPr wrap="square" lIns="0" tIns="0" rIns="0" bIns="0">
            <a:noAutofit/>
          </a:bodyPr>
          <a:lstStyle/>
          <a:p>
            <a:endParaRPr lang="da-DK"/>
          </a:p>
        </p:txBody>
      </p:sp>
      <p:sp>
        <p:nvSpPr>
          <p:cNvPr id="202" name="S202"/>
          <p:cNvSpPr txBox="1"/>
          <p:nvPr/>
        </p:nvSpPr>
        <p:spPr>
          <a:xfrm>
            <a:off x="766763" y="1930400"/>
            <a:ext cx="50800" cy="3175000"/>
          </a:xfrm>
          <a:prstGeom prst="rect">
            <a:avLst/>
          </a:prstGeom>
          <a:solidFill>
            <a:srgbClr val="211A52"/>
          </a:solidFill>
          <a:ln>
            <a:noFill/>
          </a:ln>
        </p:spPr>
        <p:txBody>
          <a:bodyPr wrap="square" lIns="0" tIns="0" rIns="0" bIns="0">
            <a:noAutofit/>
          </a:bodyPr>
          <a:lstStyle/>
          <a:p>
            <a:endParaRPr lang="da-DK"/>
          </a:p>
        </p:txBody>
      </p:sp>
      <p:sp>
        <p:nvSpPr>
          <p:cNvPr id="203" name="S203"/>
          <p:cNvSpPr txBox="1"/>
          <p:nvPr/>
        </p:nvSpPr>
        <p:spPr>
          <a:xfrm>
            <a:off x="1071563" y="2159000"/>
            <a:ext cx="5867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DEFINITION</a:t>
            </a:r>
          </a:p>
        </p:txBody>
      </p:sp>
      <mc:AlternateContent xmlns:mc="http://schemas.openxmlformats.org/markup-compatibility/2006">
        <mc:Choice xmlns:a14="http://schemas.microsoft.com/office/drawing/2010/main" Requires="a14">
          <p:sp>
            <p:nvSpPr>
              <p:cNvPr id="204" name="S204"/>
              <p:cNvSpPr txBox="1"/>
              <p:nvPr/>
            </p:nvSpPr>
            <p:spPr>
              <a:xfrm>
                <a:off x="1071563" y="2514600"/>
                <a:ext cx="5867400" cy="2590800"/>
              </a:xfrm>
              <a:prstGeom prst="rect">
                <a:avLst/>
              </a:prstGeom>
              <a:noFill/>
              <a:ln>
                <a:noFill/>
              </a:ln>
            </p:spPr>
            <p:txBody>
              <a:bodyPr wrap="square" lIns="0" tIns="0" rIns="0" bIns="0">
                <a:noAutofit/>
              </a:bodyPr>
              <a:lstStyle/>
              <a:p>
                <a:pPr algn="l">
                  <a:lnSpc>
                    <a:spcPct val="115000"/>
                  </a:lnSpc>
                  <a:spcBef>
                    <a:spcPts val="500"/>
                  </a:spcBef>
                  <a:buNone/>
                </a:pPr>
                <a:r>
                  <a:rPr lang="da-DK" sz="1700" dirty="0"/>
                  <a:t>Lad w = f(x, y) have kontinuerte første ordens partielle afledede og x = g(t) og y = h(t) være differentiable. Så er w differentiabel som funktion af t og</a:t>
                </a:r>
              </a:p>
              <a:p>
                <a:pPr algn="ctr">
                  <a:spcBef>
                    <a:spcPts val="800"/>
                  </a:spcBef>
                  <a:buNone/>
                </a:pPr>
                <a14:m>
                  <m:oMathPara xmlns:m="http://schemas.openxmlformats.org/officeDocument/2006/math">
                    <m:oMath>
                      <m:f>
                        <m:fPr>
                          <m:ctrlPr>
                            <a:rPr lang="da-DK" sz="1900" b="1" i="0">
                              <a:latin typeface="Cambria Math" panose="02040503050406030204" pitchFamily="18" charset="0"/>
                            </a:rPr>
                          </m:ctrlPr>
                        </m:fPr>
                        <m:num>
                          <m:r>
                            <a:rPr lang="da-DK" sz="1900" b="1" i="0">
                              <a:latin typeface="Cambria Math" panose="02040503050406030204" pitchFamily="18" charset="0"/>
                            </a:rPr>
                            <m:t>𝑑𝑤</m:t>
                          </m:r>
                        </m:num>
                        <m:den>
                          <m:r>
                            <a:rPr lang="da-DK" sz="1900" b="1" i="0">
                              <a:latin typeface="Cambria Math" panose="02040503050406030204" pitchFamily="18" charset="0"/>
                            </a:rPr>
                            <m:t>𝑑𝑡</m:t>
                          </m:r>
                        </m:den>
                      </m:f>
                      <m:r>
                        <a:rPr lang="da-DK" sz="1900" b="1" i="0">
                          <a:latin typeface="Cambria Math" panose="02040503050406030204" pitchFamily="18" charset="0"/>
                        </a:rPr>
                        <m:t> = </m:t>
                      </m:r>
                      <m:f>
                        <m:fPr>
                          <m:ctrlPr>
                            <a:rPr lang="da-DK" sz="1900" b="1" i="0">
                              <a:latin typeface="Cambria Math" panose="02040503050406030204" pitchFamily="18" charset="0"/>
                            </a:rPr>
                          </m:ctrlPr>
                        </m:fPr>
                        <m:num>
                          <m:r>
                            <a:rPr lang="da-DK" sz="1900" b="1" i="0">
                              <a:latin typeface="Cambria Math" panose="02040503050406030204" pitchFamily="18" charset="0"/>
                            </a:rPr>
                            <m:t>𝜕</m:t>
                          </m:r>
                          <m:r>
                            <a:rPr lang="da-DK" sz="1900" b="1" i="0">
                              <a:latin typeface="Cambria Math" panose="02040503050406030204" pitchFamily="18" charset="0"/>
                            </a:rPr>
                            <m:t>𝑤</m:t>
                          </m:r>
                        </m:num>
                        <m:den>
                          <m:r>
                            <a:rPr lang="da-DK" sz="1900" b="1" i="0">
                              <a:latin typeface="Cambria Math" panose="02040503050406030204" pitchFamily="18" charset="0"/>
                            </a:rPr>
                            <m:t>𝜕</m:t>
                          </m:r>
                          <m:r>
                            <a:rPr lang="da-DK" sz="1900" b="1" i="0">
                              <a:latin typeface="Cambria Math" panose="02040503050406030204" pitchFamily="18" charset="0"/>
                            </a:rPr>
                            <m:t>𝑥</m:t>
                          </m:r>
                        </m:den>
                      </m:f>
                      <m:f>
                        <m:fPr>
                          <m:ctrlPr>
                            <a:rPr lang="da-DK" sz="1900" b="1" i="0">
                              <a:latin typeface="Cambria Math" panose="02040503050406030204" pitchFamily="18" charset="0"/>
                            </a:rPr>
                          </m:ctrlPr>
                        </m:fPr>
                        <m:num>
                          <m:r>
                            <a:rPr lang="da-DK" sz="1900" b="1" i="0">
                              <a:latin typeface="Cambria Math" panose="02040503050406030204" pitchFamily="18" charset="0"/>
                            </a:rPr>
                            <m:t>𝑑𝑥</m:t>
                          </m:r>
                        </m:num>
                        <m:den>
                          <m:r>
                            <a:rPr lang="da-DK" sz="1900" b="1" i="0">
                              <a:latin typeface="Cambria Math" panose="02040503050406030204" pitchFamily="18" charset="0"/>
                            </a:rPr>
                            <m:t>𝑑𝑡</m:t>
                          </m:r>
                        </m:den>
                      </m:f>
                      <m:r>
                        <a:rPr lang="da-DK" sz="1900" b="1" i="0">
                          <a:latin typeface="Cambria Math" panose="02040503050406030204" pitchFamily="18" charset="0"/>
                        </a:rPr>
                        <m:t> + </m:t>
                      </m:r>
                      <m:f>
                        <m:fPr>
                          <m:ctrlPr>
                            <a:rPr lang="da-DK" sz="1900" b="1" i="0">
                              <a:latin typeface="Cambria Math" panose="02040503050406030204" pitchFamily="18" charset="0"/>
                            </a:rPr>
                          </m:ctrlPr>
                        </m:fPr>
                        <m:num>
                          <m:r>
                            <a:rPr lang="da-DK" sz="1900" b="1" i="0">
                              <a:latin typeface="Cambria Math" panose="02040503050406030204" pitchFamily="18" charset="0"/>
                            </a:rPr>
                            <m:t>𝜕</m:t>
                          </m:r>
                          <m:r>
                            <a:rPr lang="da-DK" sz="1900" b="1" i="0">
                              <a:latin typeface="Cambria Math" panose="02040503050406030204" pitchFamily="18" charset="0"/>
                            </a:rPr>
                            <m:t>𝑤</m:t>
                          </m:r>
                        </m:num>
                        <m:den>
                          <m:r>
                            <a:rPr lang="da-DK" sz="1900" b="1" i="0">
                              <a:latin typeface="Cambria Math" panose="02040503050406030204" pitchFamily="18" charset="0"/>
                            </a:rPr>
                            <m:t>𝜕</m:t>
                          </m:r>
                          <m:r>
                            <a:rPr lang="da-DK" sz="1900" b="1" i="0">
                              <a:latin typeface="Cambria Math" panose="02040503050406030204" pitchFamily="18" charset="0"/>
                            </a:rPr>
                            <m:t>𝑦</m:t>
                          </m:r>
                        </m:den>
                      </m:f>
                      <m:f>
                        <m:fPr>
                          <m:ctrlPr>
                            <a:rPr lang="da-DK" sz="1900" b="1" i="0">
                              <a:latin typeface="Cambria Math" panose="02040503050406030204" pitchFamily="18" charset="0"/>
                            </a:rPr>
                          </m:ctrlPr>
                        </m:fPr>
                        <m:num>
                          <m:r>
                            <a:rPr lang="da-DK" sz="1900" b="1" i="0">
                              <a:latin typeface="Cambria Math" panose="02040503050406030204" pitchFamily="18" charset="0"/>
                            </a:rPr>
                            <m:t>𝑑𝑦</m:t>
                          </m:r>
                        </m:num>
                        <m:den>
                          <m:r>
                            <a:rPr lang="da-DK" sz="1900" b="1" i="0">
                              <a:latin typeface="Cambria Math" panose="02040503050406030204" pitchFamily="18" charset="0"/>
                            </a:rPr>
                            <m:t>𝑑𝑡</m:t>
                          </m:r>
                        </m:den>
                      </m:f>
                      <m:r>
                        <a:rPr lang="da-DK" sz="1900" b="1" i="0">
                          <a:latin typeface="Cambria Math" panose="02040503050406030204" pitchFamily="18" charset="0"/>
                        </a:rPr>
                        <m:t>.</m:t>
                      </m:r>
                    </m:oMath>
                  </m:oMathPara>
                </a14:m>
                <a:endParaRPr lang="da-DK" sz="1700" dirty="0"/>
              </a:p>
              <a:p>
                <a:pPr algn="l">
                  <a:lnSpc>
                    <a:spcPct val="115000"/>
                  </a:lnSpc>
                  <a:spcBef>
                    <a:spcPts val="800"/>
                  </a:spcBef>
                  <a:buNone/>
                </a:pPr>
                <a:r>
                  <a:rPr lang="da-DK" sz="1700" dirty="0"/>
                  <a:t>Her kaldes t for den uafhængige variabel, w for den afhængige variabel og x, y for de mellemliggende variable.</a:t>
                </a:r>
              </a:p>
            </p:txBody>
          </p:sp>
        </mc:Choice>
        <mc:Fallback>
          <p:sp>
            <p:nvSpPr>
              <p:cNvPr id="204" name="S204"/>
              <p:cNvSpPr txBox="1">
                <a:spLocks noRot="1" noChangeAspect="1" noMove="1" noResize="1" noEditPoints="1" noAdjustHandles="1" noChangeArrowheads="1" noChangeShapeType="1" noTextEdit="1"/>
              </p:cNvSpPr>
              <p:nvPr/>
            </p:nvSpPr>
            <p:spPr>
              <a:xfrm>
                <a:off x="1071563" y="2514600"/>
                <a:ext cx="5867400" cy="2590800"/>
              </a:xfrm>
              <a:prstGeom prst="rect">
                <a:avLst/>
              </a:prstGeom>
              <a:blipFill>
                <a:blip r:embed="rId2"/>
                <a:stretch>
                  <a:fillRect l="-2376" t="-2439"/>
                </a:stretch>
              </a:blipFill>
              <a:ln>
                <a:noFill/>
              </a:ln>
            </p:spPr>
            <p:txBody>
              <a:bodyPr/>
              <a:lstStyle/>
              <a:p>
                <a:r>
                  <a:rPr lang="en-US">
                    <a:noFill/>
                  </a:rPr>
                  <a:t> </a:t>
                </a:r>
              </a:p>
            </p:txBody>
          </p:sp>
        </mc:Fallback>
      </mc:AlternateContent>
      <p:cxnSp>
        <p:nvCxnSpPr>
          <p:cNvPr id="501" name="C502"/>
          <p:cNvCxnSpPr/>
          <p:nvPr/>
        </p:nvCxnSpPr>
        <p:spPr>
          <a:xfrm flipH="1">
            <a:off x="8915400" y="2603500"/>
            <a:ext cx="609600" cy="622300"/>
          </a:xfrm>
          <a:prstGeom prst="line">
            <a:avLst/>
          </a:prstGeom>
          <a:ln w="9525">
            <a:solidFill>
              <a:srgbClr val="8A93A0"/>
            </a:solidFill>
          </a:ln>
        </p:spPr>
      </p:cxnSp>
      <p:cxnSp>
        <p:nvCxnSpPr>
          <p:cNvPr id="502" name="C503"/>
          <p:cNvCxnSpPr/>
          <p:nvPr/>
        </p:nvCxnSpPr>
        <p:spPr>
          <a:xfrm>
            <a:off x="9525000" y="2603500"/>
            <a:ext cx="609600" cy="622300"/>
          </a:xfrm>
          <a:prstGeom prst="line">
            <a:avLst/>
          </a:prstGeom>
          <a:ln w="9525">
            <a:solidFill>
              <a:srgbClr val="8A93A0"/>
            </a:solidFill>
          </a:ln>
        </p:spPr>
      </p:cxnSp>
      <p:cxnSp>
        <p:nvCxnSpPr>
          <p:cNvPr id="503" name="C504"/>
          <p:cNvCxnSpPr/>
          <p:nvPr/>
        </p:nvCxnSpPr>
        <p:spPr>
          <a:xfrm>
            <a:off x="8915400" y="3530600"/>
            <a:ext cx="609600" cy="622300"/>
          </a:xfrm>
          <a:prstGeom prst="line">
            <a:avLst/>
          </a:prstGeom>
          <a:ln w="9525">
            <a:solidFill>
              <a:srgbClr val="8A93A0"/>
            </a:solidFill>
          </a:ln>
        </p:spPr>
      </p:cxnSp>
      <p:cxnSp>
        <p:nvCxnSpPr>
          <p:cNvPr id="504" name="C505"/>
          <p:cNvCxnSpPr/>
          <p:nvPr/>
        </p:nvCxnSpPr>
        <p:spPr>
          <a:xfrm flipH="1">
            <a:off x="9525000" y="3530600"/>
            <a:ext cx="609600" cy="622300"/>
          </a:xfrm>
          <a:prstGeom prst="line">
            <a:avLst/>
          </a:prstGeom>
          <a:ln w="9525">
            <a:solidFill>
              <a:srgbClr val="8A93A0"/>
            </a:solidFill>
          </a:ln>
        </p:spPr>
      </p:cxnSp>
      <mc:AlternateContent xmlns:mc="http://schemas.openxmlformats.org/markup-compatibility/2006">
        <mc:Choice xmlns:a14="http://schemas.microsoft.com/office/drawing/2010/main" Requires="a14">
          <p:sp>
            <p:nvSpPr>
              <p:cNvPr id="505" name="G506"/>
              <p:cNvSpPr txBox="1"/>
              <p:nvPr/>
            </p:nvSpPr>
            <p:spPr>
              <a:xfrm>
                <a:off x="9296400" y="2273300"/>
                <a:ext cx="457200" cy="3302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900">
                          <a:latin typeface="Cambria Math" panose="02040503050406030204" pitchFamily="18" charset="0"/>
                        </a:rPr>
                        <m:t>𝑤</m:t>
                      </m:r>
                    </m:oMath>
                  </m:oMathPara>
                </a14:m>
                <a:endParaRPr/>
              </a:p>
            </p:txBody>
          </p:sp>
        </mc:Choice>
        <mc:Fallback>
          <p:sp>
            <p:nvSpPr>
              <p:cNvPr id="505" name="G506"/>
              <p:cNvSpPr txBox="1">
                <a:spLocks noRot="1" noChangeAspect="1" noMove="1" noResize="1" noEditPoints="1" noAdjustHandles="1" noChangeArrowheads="1" noChangeShapeType="1" noTextEdit="1"/>
              </p:cNvSpPr>
              <p:nvPr/>
            </p:nvSpPr>
            <p:spPr>
              <a:xfrm>
                <a:off x="9296400" y="2273300"/>
                <a:ext cx="457200" cy="330200"/>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6" name="G507"/>
              <p:cNvSpPr txBox="1"/>
              <p:nvPr/>
            </p:nvSpPr>
            <p:spPr>
              <a:xfrm>
                <a:off x="8686800" y="3213100"/>
                <a:ext cx="457200" cy="3302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900">
                          <a:latin typeface="Cambria Math" panose="02040503050406030204" pitchFamily="18" charset="0"/>
                        </a:rPr>
                        <m:t>𝑥</m:t>
                      </m:r>
                    </m:oMath>
                  </m:oMathPara>
                </a14:m>
                <a:endParaRPr/>
              </a:p>
            </p:txBody>
          </p:sp>
        </mc:Choice>
        <mc:Fallback>
          <p:sp>
            <p:nvSpPr>
              <p:cNvPr id="506" name="G507"/>
              <p:cNvSpPr txBox="1">
                <a:spLocks noRot="1" noChangeAspect="1" noMove="1" noResize="1" noEditPoints="1" noAdjustHandles="1" noChangeArrowheads="1" noChangeShapeType="1" noTextEdit="1"/>
              </p:cNvSpPr>
              <p:nvPr/>
            </p:nvSpPr>
            <p:spPr>
              <a:xfrm>
                <a:off x="8686800" y="3213100"/>
                <a:ext cx="457200" cy="3302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7" name="G508"/>
              <p:cNvSpPr txBox="1"/>
              <p:nvPr/>
            </p:nvSpPr>
            <p:spPr>
              <a:xfrm>
                <a:off x="9906000" y="3213100"/>
                <a:ext cx="457200" cy="3302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900">
                          <a:latin typeface="Cambria Math" panose="02040503050406030204" pitchFamily="18" charset="0"/>
                        </a:rPr>
                        <m:t>𝑦</m:t>
                      </m:r>
                    </m:oMath>
                  </m:oMathPara>
                </a14:m>
                <a:endParaRPr/>
              </a:p>
            </p:txBody>
          </p:sp>
        </mc:Choice>
        <mc:Fallback>
          <p:sp>
            <p:nvSpPr>
              <p:cNvPr id="507" name="G508"/>
              <p:cNvSpPr txBox="1">
                <a:spLocks noRot="1" noChangeAspect="1" noMove="1" noResize="1" noEditPoints="1" noAdjustHandles="1" noChangeArrowheads="1" noChangeShapeType="1" noTextEdit="1"/>
              </p:cNvSpPr>
              <p:nvPr/>
            </p:nvSpPr>
            <p:spPr>
              <a:xfrm>
                <a:off x="9906000" y="3213100"/>
                <a:ext cx="457200" cy="330200"/>
              </a:xfrm>
              <a:prstGeom prst="rect">
                <a:avLst/>
              </a:prstGeom>
              <a:blipFill>
                <a:blip r:embed="rId5"/>
                <a:stretch>
                  <a:fillRect b="-18519"/>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8" name="G509"/>
              <p:cNvSpPr txBox="1"/>
              <p:nvPr/>
            </p:nvSpPr>
            <p:spPr>
              <a:xfrm>
                <a:off x="9296400" y="4152900"/>
                <a:ext cx="457200" cy="3302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900">
                          <a:latin typeface="Cambria Math" panose="02040503050406030204" pitchFamily="18" charset="0"/>
                        </a:rPr>
                        <m:t>𝑡</m:t>
                      </m:r>
                    </m:oMath>
                  </m:oMathPara>
                </a14:m>
                <a:endParaRPr/>
              </a:p>
            </p:txBody>
          </p:sp>
        </mc:Choice>
        <mc:Fallback>
          <p:sp>
            <p:nvSpPr>
              <p:cNvPr id="508" name="G509"/>
              <p:cNvSpPr txBox="1">
                <a:spLocks noRot="1" noChangeAspect="1" noMove="1" noResize="1" noEditPoints="1" noAdjustHandles="1" noChangeArrowheads="1" noChangeShapeType="1" noTextEdit="1"/>
              </p:cNvSpPr>
              <p:nvPr/>
            </p:nvSpPr>
            <p:spPr>
              <a:xfrm>
                <a:off x="9296400" y="4152900"/>
                <a:ext cx="457200" cy="330200"/>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9" name="G510"/>
              <p:cNvSpPr txBox="1"/>
              <p:nvPr/>
            </p:nvSpPr>
            <p:spPr>
              <a:xfrm>
                <a:off x="8432800" y="2641600"/>
                <a:ext cx="6604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f>
                        <m:fPr>
                          <m:ctrlPr>
                            <a:rPr lang="da-DK" sz="1100">
                              <a:latin typeface="Cambria Math" panose="02040503050406030204" pitchFamily="18" charset="0"/>
                            </a:rPr>
                          </m:ctrlPr>
                        </m:fPr>
                        <m:num>
                          <m:r>
                            <a:rPr lang="da-DK" sz="1100">
                              <a:latin typeface="Cambria Math" panose="02040503050406030204" pitchFamily="18" charset="0"/>
                            </a:rPr>
                            <m:t>𝜕</m:t>
                          </m:r>
                          <m:r>
                            <a:rPr lang="da-DK" sz="1100">
                              <a:latin typeface="Cambria Math" panose="02040503050406030204" pitchFamily="18" charset="0"/>
                            </a:rPr>
                            <m:t>𝑤</m:t>
                          </m:r>
                        </m:num>
                        <m:den>
                          <m:r>
                            <a:rPr lang="da-DK" sz="1100">
                              <a:latin typeface="Cambria Math" panose="02040503050406030204" pitchFamily="18" charset="0"/>
                            </a:rPr>
                            <m:t>𝜕</m:t>
                          </m:r>
                          <m:r>
                            <a:rPr lang="da-DK" sz="1100">
                              <a:latin typeface="Cambria Math" panose="02040503050406030204" pitchFamily="18" charset="0"/>
                            </a:rPr>
                            <m:t>𝑥</m:t>
                          </m:r>
                        </m:den>
                      </m:f>
                    </m:oMath>
                  </m:oMathPara>
                </a14:m>
                <a:endParaRPr/>
              </a:p>
            </p:txBody>
          </p:sp>
        </mc:Choice>
        <mc:Fallback>
          <p:sp>
            <p:nvSpPr>
              <p:cNvPr id="509" name="G510"/>
              <p:cNvSpPr txBox="1">
                <a:spLocks noRot="1" noChangeAspect="1" noMove="1" noResize="1" noEditPoints="1" noAdjustHandles="1" noChangeArrowheads="1" noChangeShapeType="1" noTextEdit="1"/>
              </p:cNvSpPr>
              <p:nvPr/>
            </p:nvSpPr>
            <p:spPr>
              <a:xfrm>
                <a:off x="8432800" y="2641600"/>
                <a:ext cx="660400" cy="355600"/>
              </a:xfrm>
              <a:prstGeom prst="rect">
                <a:avLst/>
              </a:prstGeom>
              <a:blipFill>
                <a:blip r:embed="rId7"/>
                <a:stretch>
                  <a:fillRect b="-10000"/>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0" name="G511"/>
              <p:cNvSpPr txBox="1"/>
              <p:nvPr/>
            </p:nvSpPr>
            <p:spPr>
              <a:xfrm>
                <a:off x="9982200" y="2641600"/>
                <a:ext cx="6604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f>
                        <m:fPr>
                          <m:ctrlPr>
                            <a:rPr lang="da-DK" sz="1100">
                              <a:latin typeface="Cambria Math" panose="02040503050406030204" pitchFamily="18" charset="0"/>
                            </a:rPr>
                          </m:ctrlPr>
                        </m:fPr>
                        <m:num>
                          <m:r>
                            <a:rPr lang="da-DK" sz="1100">
                              <a:latin typeface="Cambria Math" panose="02040503050406030204" pitchFamily="18" charset="0"/>
                            </a:rPr>
                            <m:t>𝜕</m:t>
                          </m:r>
                          <m:r>
                            <a:rPr lang="da-DK" sz="1100">
                              <a:latin typeface="Cambria Math" panose="02040503050406030204" pitchFamily="18" charset="0"/>
                            </a:rPr>
                            <m:t>𝑤</m:t>
                          </m:r>
                        </m:num>
                        <m:den>
                          <m:r>
                            <a:rPr lang="da-DK" sz="1100">
                              <a:latin typeface="Cambria Math" panose="02040503050406030204" pitchFamily="18" charset="0"/>
                            </a:rPr>
                            <m:t>𝜕</m:t>
                          </m:r>
                          <m:r>
                            <a:rPr lang="da-DK" sz="1100">
                              <a:latin typeface="Cambria Math" panose="02040503050406030204" pitchFamily="18" charset="0"/>
                            </a:rPr>
                            <m:t>𝑦</m:t>
                          </m:r>
                        </m:den>
                      </m:f>
                    </m:oMath>
                  </m:oMathPara>
                </a14:m>
                <a:endParaRPr/>
              </a:p>
            </p:txBody>
          </p:sp>
        </mc:Choice>
        <mc:Fallback>
          <p:sp>
            <p:nvSpPr>
              <p:cNvPr id="510" name="G511"/>
              <p:cNvSpPr txBox="1">
                <a:spLocks noRot="1" noChangeAspect="1" noMove="1" noResize="1" noEditPoints="1" noAdjustHandles="1" noChangeArrowheads="1" noChangeShapeType="1" noTextEdit="1"/>
              </p:cNvSpPr>
              <p:nvPr/>
            </p:nvSpPr>
            <p:spPr>
              <a:xfrm>
                <a:off x="9982200" y="2641600"/>
                <a:ext cx="660400" cy="355600"/>
              </a:xfrm>
              <a:prstGeom prst="rect">
                <a:avLst/>
              </a:prstGeom>
              <a:blipFill>
                <a:blip r:embed="rId8"/>
                <a:stretch>
                  <a:fillRect b="-13333"/>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1" name="G512"/>
              <p:cNvSpPr txBox="1"/>
              <p:nvPr/>
            </p:nvSpPr>
            <p:spPr>
              <a:xfrm>
                <a:off x="8432800" y="3632200"/>
                <a:ext cx="6604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f>
                        <m:fPr>
                          <m:ctrlPr>
                            <a:rPr lang="da-DK" sz="1100">
                              <a:latin typeface="Cambria Math" panose="02040503050406030204" pitchFamily="18" charset="0"/>
                            </a:rPr>
                          </m:ctrlPr>
                        </m:fPr>
                        <m:num>
                          <m:r>
                            <a:rPr lang="da-DK" sz="1100">
                              <a:latin typeface="Cambria Math" panose="02040503050406030204" pitchFamily="18" charset="0"/>
                            </a:rPr>
                            <m:t>𝑑𝑥</m:t>
                          </m:r>
                        </m:num>
                        <m:den>
                          <m:r>
                            <a:rPr lang="da-DK" sz="1100">
                              <a:latin typeface="Cambria Math" panose="02040503050406030204" pitchFamily="18" charset="0"/>
                            </a:rPr>
                            <m:t>𝑑𝑡</m:t>
                          </m:r>
                        </m:den>
                      </m:f>
                    </m:oMath>
                  </m:oMathPara>
                </a14:m>
                <a:endParaRPr/>
              </a:p>
            </p:txBody>
          </p:sp>
        </mc:Choice>
        <mc:Fallback>
          <p:sp>
            <p:nvSpPr>
              <p:cNvPr id="511" name="G512"/>
              <p:cNvSpPr txBox="1">
                <a:spLocks noRot="1" noChangeAspect="1" noMove="1" noResize="1" noEditPoints="1" noAdjustHandles="1" noChangeArrowheads="1" noChangeShapeType="1" noTextEdit="1"/>
              </p:cNvSpPr>
              <p:nvPr/>
            </p:nvSpPr>
            <p:spPr>
              <a:xfrm>
                <a:off x="8432800" y="3632200"/>
                <a:ext cx="660400" cy="355600"/>
              </a:xfrm>
              <a:prstGeom prst="rect">
                <a:avLst/>
              </a:prstGeom>
              <a:blipFill>
                <a:blip r:embed="rId9"/>
                <a:stretch>
                  <a:fillRect b="-14286"/>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2" name="G513"/>
              <p:cNvSpPr txBox="1"/>
              <p:nvPr/>
            </p:nvSpPr>
            <p:spPr>
              <a:xfrm>
                <a:off x="9982200" y="3632200"/>
                <a:ext cx="6604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f>
                        <m:fPr>
                          <m:ctrlPr>
                            <a:rPr lang="da-DK" sz="1100">
                              <a:latin typeface="Cambria Math" panose="02040503050406030204" pitchFamily="18" charset="0"/>
                            </a:rPr>
                          </m:ctrlPr>
                        </m:fPr>
                        <m:num>
                          <m:r>
                            <a:rPr lang="da-DK" sz="1100">
                              <a:latin typeface="Cambria Math" panose="02040503050406030204" pitchFamily="18" charset="0"/>
                            </a:rPr>
                            <m:t>𝑑𝑦</m:t>
                          </m:r>
                        </m:num>
                        <m:den>
                          <m:r>
                            <a:rPr lang="da-DK" sz="1100">
                              <a:latin typeface="Cambria Math" panose="02040503050406030204" pitchFamily="18" charset="0"/>
                            </a:rPr>
                            <m:t>𝑑𝑡</m:t>
                          </m:r>
                        </m:den>
                      </m:f>
                    </m:oMath>
                  </m:oMathPara>
                </a14:m>
                <a:endParaRPr/>
              </a:p>
            </p:txBody>
          </p:sp>
        </mc:Choice>
        <mc:Fallback>
          <p:sp>
            <p:nvSpPr>
              <p:cNvPr id="512" name="G513"/>
              <p:cNvSpPr txBox="1">
                <a:spLocks noRot="1" noChangeAspect="1" noMove="1" noResize="1" noEditPoints="1" noAdjustHandles="1" noChangeArrowheads="1" noChangeShapeType="1" noTextEdit="1"/>
              </p:cNvSpPr>
              <p:nvPr/>
            </p:nvSpPr>
            <p:spPr>
              <a:xfrm>
                <a:off x="9982200" y="3632200"/>
                <a:ext cx="660400" cy="355600"/>
              </a:xfrm>
              <a:prstGeom prst="rect">
                <a:avLst/>
              </a:prstGeom>
              <a:blipFill>
                <a:blip r:embed="rId10"/>
                <a:stretch>
                  <a:fillRect b="-1428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80787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53DC-2E42-7593-A540-3C1D9878C5BC}"/>
              </a:ext>
            </a:extLst>
          </p:cNvPr>
          <p:cNvSpPr>
            <a:spLocks noGrp="1"/>
          </p:cNvSpPr>
          <p:nvPr>
            <p:ph type="title"/>
          </p:nvPr>
        </p:nvSpPr>
        <p:spPr>
          <a:xfrm>
            <a:off x="766763" y="660400"/>
            <a:ext cx="10668000" cy="635000"/>
          </a:xfrm>
        </p:spPr>
        <p:txBody>
          <a:bodyPr/>
          <a:lstStyle/>
          <a:p>
            <a:r>
              <a:rPr lang="da-DK" sz="3200" b="1" dirty="0"/>
              <a:t>OPSUMMERING (2/4)</a:t>
            </a:r>
          </a:p>
        </p:txBody>
      </p:sp>
      <p:sp>
        <p:nvSpPr>
          <p:cNvPr id="4" name="Text Placeholder 3">
            <a:extLst>
              <a:ext uri="{FF2B5EF4-FFF2-40B4-BE49-F238E27FC236}">
                <a16:creationId xmlns:a16="http://schemas.microsoft.com/office/drawing/2014/main" id="{45C21EA4-0342-2AC6-753A-FE8AB4B948FF}"/>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371600"/>
            <a:ext cx="10668000" cy="254000"/>
          </a:xfrm>
          <a:prstGeom prst="rect">
            <a:avLst/>
          </a:prstGeom>
          <a:noFill/>
          <a:ln>
            <a:noFill/>
          </a:ln>
        </p:spPr>
        <p:txBody>
          <a:bodyPr wrap="square" lIns="0" tIns="0" rIns="0" bIns="0">
            <a:noAutofit/>
          </a:bodyPr>
          <a:lstStyle/>
          <a:p>
            <a:pPr marL="0" indent="0" algn="l">
              <a:lnSpc>
                <a:spcPct val="115000"/>
              </a:lnSpc>
              <a:spcBef>
                <a:spcPts val="500"/>
              </a:spcBef>
              <a:buNone/>
            </a:pPr>
            <a:r>
              <a:rPr lang="da-DK" sz="1400" b="1" spc="170" dirty="0">
                <a:solidFill>
                  <a:srgbClr val="DF6752"/>
                </a:solidFill>
              </a:rPr>
              <a:t>EN ANDEN VERSION AF KÆDEREGLEN</a:t>
            </a:r>
          </a:p>
        </p:txBody>
      </p:sp>
      <p:sp>
        <p:nvSpPr>
          <p:cNvPr id="201" name="S201"/>
          <p:cNvSpPr txBox="1"/>
          <p:nvPr/>
        </p:nvSpPr>
        <p:spPr>
          <a:xfrm>
            <a:off x="766762" y="1930400"/>
            <a:ext cx="5799137" cy="3556000"/>
          </a:xfrm>
          <a:prstGeom prst="rect">
            <a:avLst/>
          </a:prstGeom>
          <a:solidFill>
            <a:srgbClr val="F4F5F7"/>
          </a:solidFill>
          <a:ln>
            <a:noFill/>
          </a:ln>
        </p:spPr>
        <p:txBody>
          <a:bodyPr wrap="square" lIns="0" tIns="0" rIns="0" bIns="0">
            <a:noAutofit/>
          </a:bodyPr>
          <a:lstStyle/>
          <a:p>
            <a:endParaRPr lang="da-DK"/>
          </a:p>
        </p:txBody>
      </p:sp>
      <p:sp>
        <p:nvSpPr>
          <p:cNvPr id="202" name="S202"/>
          <p:cNvSpPr txBox="1"/>
          <p:nvPr/>
        </p:nvSpPr>
        <p:spPr>
          <a:xfrm flipH="1">
            <a:off x="721044" y="1930400"/>
            <a:ext cx="45719" cy="3556000"/>
          </a:xfrm>
          <a:prstGeom prst="rect">
            <a:avLst/>
          </a:prstGeom>
          <a:solidFill>
            <a:srgbClr val="211A52"/>
          </a:solidFill>
          <a:ln>
            <a:noFill/>
          </a:ln>
        </p:spPr>
        <p:txBody>
          <a:bodyPr wrap="square" lIns="0" tIns="0" rIns="0" bIns="0">
            <a:noAutofit/>
          </a:bodyPr>
          <a:lstStyle/>
          <a:p>
            <a:endParaRPr lang="da-DK"/>
          </a:p>
        </p:txBody>
      </p:sp>
      <p:sp>
        <p:nvSpPr>
          <p:cNvPr id="203" name="S203"/>
          <p:cNvSpPr txBox="1"/>
          <p:nvPr/>
        </p:nvSpPr>
        <p:spPr>
          <a:xfrm>
            <a:off x="1071563" y="2159000"/>
            <a:ext cx="51689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DEFINITION</a:t>
            </a:r>
          </a:p>
        </p:txBody>
      </p:sp>
      <mc:AlternateContent xmlns:mc="http://schemas.openxmlformats.org/markup-compatibility/2006">
        <mc:Choice xmlns:a14="http://schemas.microsoft.com/office/drawing/2010/main" Requires="a14">
          <p:sp>
            <p:nvSpPr>
              <p:cNvPr id="204" name="S204"/>
              <p:cNvSpPr txBox="1"/>
              <p:nvPr/>
            </p:nvSpPr>
            <p:spPr>
              <a:xfrm>
                <a:off x="1071563" y="2514600"/>
                <a:ext cx="5168900" cy="3276600"/>
              </a:xfrm>
              <a:prstGeom prst="rect">
                <a:avLst/>
              </a:prstGeom>
              <a:noFill/>
              <a:ln>
                <a:noFill/>
              </a:ln>
            </p:spPr>
            <p:txBody>
              <a:bodyPr wrap="square" lIns="0" tIns="0" rIns="0" bIns="0">
                <a:noAutofit/>
              </a:bodyPr>
              <a:lstStyle/>
              <a:p>
                <a:pPr algn="l">
                  <a:lnSpc>
                    <a:spcPct val="115000"/>
                  </a:lnSpc>
                  <a:spcBef>
                    <a:spcPts val="500"/>
                  </a:spcBef>
                  <a:buNone/>
                </a:pPr>
                <a:r>
                  <a:rPr lang="da-DK" sz="1700" dirty="0"/>
                  <a:t>Lad w = f(x, y, z) have kontinuerte første ordens partielle afledede og x = g(u, v), y = h(u, v) og z = k(u, v) være differentiable funktioner i både u og v. Så er w differentiabel som funktion af u og v og</a:t>
                </a:r>
              </a:p>
              <a:p>
                <a:pPr algn="ctr">
                  <a:spcBef>
                    <a:spcPts val="800"/>
                  </a:spcBef>
                  <a:buNone/>
                </a:pPr>
                <a14:m>
                  <m:oMathPara xmlns:m="http://schemas.openxmlformats.org/officeDocument/2006/math">
                    <m:oMath>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𝑢</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𝑥</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𝑥</m:t>
                          </m:r>
                        </m:num>
                        <m:den>
                          <m:r>
                            <a:rPr lang="da-DK" sz="1900">
                              <a:latin typeface="Cambria Math" panose="02040503050406030204" pitchFamily="18" charset="0"/>
                            </a:rPr>
                            <m:t>𝜕</m:t>
                          </m:r>
                          <m:r>
                            <a:rPr lang="da-DK" sz="1900">
                              <a:latin typeface="Cambria Math" panose="02040503050406030204" pitchFamily="18" charset="0"/>
                            </a:rPr>
                            <m:t>𝑢</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𝑦</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𝑦</m:t>
                          </m:r>
                        </m:num>
                        <m:den>
                          <m:r>
                            <a:rPr lang="da-DK" sz="1900">
                              <a:latin typeface="Cambria Math" panose="02040503050406030204" pitchFamily="18" charset="0"/>
                            </a:rPr>
                            <m:t>𝜕</m:t>
                          </m:r>
                          <m:r>
                            <a:rPr lang="da-DK" sz="1900">
                              <a:latin typeface="Cambria Math" panose="02040503050406030204" pitchFamily="18" charset="0"/>
                            </a:rPr>
                            <m:t>𝑢</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𝑧</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𝑧</m:t>
                          </m:r>
                        </m:num>
                        <m:den>
                          <m:r>
                            <a:rPr lang="da-DK" sz="1900">
                              <a:latin typeface="Cambria Math" panose="02040503050406030204" pitchFamily="18" charset="0"/>
                            </a:rPr>
                            <m:t>𝜕</m:t>
                          </m:r>
                          <m:r>
                            <a:rPr lang="da-DK" sz="1900">
                              <a:latin typeface="Cambria Math" panose="02040503050406030204" pitchFamily="18" charset="0"/>
                            </a:rPr>
                            <m:t>𝑢</m:t>
                          </m:r>
                        </m:den>
                      </m:f>
                    </m:oMath>
                  </m:oMathPara>
                </a14:m>
                <a:endParaRPr lang="da-DK" sz="1700" dirty="0"/>
              </a:p>
              <a:p>
                <a:pPr algn="ctr">
                  <a:spcBef>
                    <a:spcPts val="800"/>
                  </a:spcBef>
                  <a:buNone/>
                </a:pPr>
                <a:endParaRPr lang="da-DK" sz="1700" dirty="0"/>
              </a:p>
              <a:p>
                <a:pPr algn="ctr">
                  <a:spcBef>
                    <a:spcPts val="500"/>
                  </a:spcBef>
                  <a:buNone/>
                </a:pPr>
                <a14:m>
                  <m:oMathPara xmlns:m="http://schemas.openxmlformats.org/officeDocument/2006/math">
                    <m:oMath>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𝑣</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𝑥</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𝑥</m:t>
                          </m:r>
                        </m:num>
                        <m:den>
                          <m:r>
                            <a:rPr lang="da-DK" sz="1900">
                              <a:latin typeface="Cambria Math" panose="02040503050406030204" pitchFamily="18" charset="0"/>
                            </a:rPr>
                            <m:t>𝜕</m:t>
                          </m:r>
                          <m:r>
                            <a:rPr lang="da-DK" sz="1900">
                              <a:latin typeface="Cambria Math" panose="02040503050406030204" pitchFamily="18" charset="0"/>
                            </a:rPr>
                            <m:t>𝑣</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𝑦</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𝑦</m:t>
                          </m:r>
                        </m:num>
                        <m:den>
                          <m:r>
                            <a:rPr lang="da-DK" sz="1900">
                              <a:latin typeface="Cambria Math" panose="02040503050406030204" pitchFamily="18" charset="0"/>
                            </a:rPr>
                            <m:t>𝜕</m:t>
                          </m:r>
                          <m:r>
                            <a:rPr lang="da-DK" sz="1900">
                              <a:latin typeface="Cambria Math" panose="02040503050406030204" pitchFamily="18" charset="0"/>
                            </a:rPr>
                            <m:t>𝑣</m:t>
                          </m:r>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r>
                            <a:rPr lang="da-DK" sz="1900">
                              <a:latin typeface="Cambria Math" panose="02040503050406030204" pitchFamily="18" charset="0"/>
                            </a:rPr>
                            <m:t>𝜕</m:t>
                          </m:r>
                          <m:r>
                            <a:rPr lang="da-DK" sz="1900">
                              <a:latin typeface="Cambria Math" panose="02040503050406030204" pitchFamily="18" charset="0"/>
                            </a:rPr>
                            <m:t>𝑧</m:t>
                          </m:r>
                        </m:den>
                      </m:f>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𝑧</m:t>
                          </m:r>
                        </m:num>
                        <m:den>
                          <m:r>
                            <a:rPr lang="da-DK" sz="1900">
                              <a:latin typeface="Cambria Math" panose="02040503050406030204" pitchFamily="18" charset="0"/>
                            </a:rPr>
                            <m:t>𝜕</m:t>
                          </m:r>
                          <m:r>
                            <a:rPr lang="da-DK" sz="1900">
                              <a:latin typeface="Cambria Math" panose="02040503050406030204" pitchFamily="18" charset="0"/>
                            </a:rPr>
                            <m:t>𝑣</m:t>
                          </m:r>
                        </m:den>
                      </m:f>
                      <m:r>
                        <a:rPr lang="da-DK" sz="1900">
                          <a:latin typeface="Cambria Math" panose="02040503050406030204" pitchFamily="18" charset="0"/>
                        </a:rPr>
                        <m:t>.</m:t>
                      </m:r>
                    </m:oMath>
                  </m:oMathPara>
                </a14:m>
                <a:endParaRPr lang="da-DK" sz="1700" dirty="0"/>
              </a:p>
            </p:txBody>
          </p:sp>
        </mc:Choice>
        <mc:Fallback>
          <p:sp>
            <p:nvSpPr>
              <p:cNvPr id="204" name="S204"/>
              <p:cNvSpPr txBox="1">
                <a:spLocks noRot="1" noChangeAspect="1" noMove="1" noResize="1" noEditPoints="1" noAdjustHandles="1" noChangeArrowheads="1" noChangeShapeType="1" noTextEdit="1"/>
              </p:cNvSpPr>
              <p:nvPr/>
            </p:nvSpPr>
            <p:spPr>
              <a:xfrm>
                <a:off x="1071563" y="2514600"/>
                <a:ext cx="5168900" cy="3276600"/>
              </a:xfrm>
              <a:prstGeom prst="rect">
                <a:avLst/>
              </a:prstGeom>
              <a:blipFill>
                <a:blip r:embed="rId2"/>
                <a:stretch>
                  <a:fillRect l="-2696" t="-1931" r="-3186"/>
                </a:stretch>
              </a:blipFill>
              <a:ln>
                <a:noFill/>
              </a:ln>
            </p:spPr>
            <p:txBody>
              <a:bodyPr/>
              <a:lstStyle/>
              <a:p>
                <a:r>
                  <a:rPr lang="en-US">
                    <a:noFill/>
                  </a:rPr>
                  <a:t> </a:t>
                </a:r>
              </a:p>
            </p:txBody>
          </p:sp>
        </mc:Fallback>
      </mc:AlternateContent>
      <p:cxnSp>
        <p:nvCxnSpPr>
          <p:cNvPr id="601" name="C602"/>
          <p:cNvCxnSpPr/>
          <p:nvPr/>
        </p:nvCxnSpPr>
        <p:spPr>
          <a:xfrm flipH="1">
            <a:off x="7620000" y="2540000"/>
            <a:ext cx="1549400" cy="863600"/>
          </a:xfrm>
          <a:prstGeom prst="line">
            <a:avLst/>
          </a:prstGeom>
          <a:ln w="9525">
            <a:solidFill>
              <a:srgbClr val="8A93A0"/>
            </a:solidFill>
          </a:ln>
        </p:spPr>
      </p:cxnSp>
      <p:cxnSp>
        <p:nvCxnSpPr>
          <p:cNvPr id="602" name="C603"/>
          <p:cNvCxnSpPr/>
          <p:nvPr/>
        </p:nvCxnSpPr>
        <p:spPr>
          <a:xfrm flipH="1">
            <a:off x="7239000" y="3708400"/>
            <a:ext cx="381000" cy="863600"/>
          </a:xfrm>
          <a:prstGeom prst="line">
            <a:avLst/>
          </a:prstGeom>
          <a:ln w="9525">
            <a:solidFill>
              <a:srgbClr val="8A93A0"/>
            </a:solidFill>
          </a:ln>
        </p:spPr>
      </p:cxnSp>
      <p:cxnSp>
        <p:nvCxnSpPr>
          <p:cNvPr id="603" name="C604"/>
          <p:cNvCxnSpPr/>
          <p:nvPr/>
        </p:nvCxnSpPr>
        <p:spPr>
          <a:xfrm>
            <a:off x="7620000" y="3708400"/>
            <a:ext cx="381000" cy="863600"/>
          </a:xfrm>
          <a:prstGeom prst="line">
            <a:avLst/>
          </a:prstGeom>
          <a:ln w="9525">
            <a:solidFill>
              <a:srgbClr val="8A93A0"/>
            </a:solidFill>
          </a:ln>
        </p:spPr>
      </p:cxnSp>
      <p:cxnSp>
        <p:nvCxnSpPr>
          <p:cNvPr id="604" name="C605"/>
          <p:cNvCxnSpPr/>
          <p:nvPr/>
        </p:nvCxnSpPr>
        <p:spPr>
          <a:xfrm>
            <a:off x="9169400" y="2540000"/>
            <a:ext cx="0" cy="863600"/>
          </a:xfrm>
          <a:prstGeom prst="line">
            <a:avLst/>
          </a:prstGeom>
          <a:ln w="9525">
            <a:solidFill>
              <a:srgbClr val="8A93A0"/>
            </a:solidFill>
          </a:ln>
        </p:spPr>
      </p:cxnSp>
      <p:cxnSp>
        <p:nvCxnSpPr>
          <p:cNvPr id="605" name="C606"/>
          <p:cNvCxnSpPr/>
          <p:nvPr/>
        </p:nvCxnSpPr>
        <p:spPr>
          <a:xfrm flipH="1">
            <a:off x="8788400" y="3708400"/>
            <a:ext cx="381000" cy="863600"/>
          </a:xfrm>
          <a:prstGeom prst="line">
            <a:avLst/>
          </a:prstGeom>
          <a:ln w="9525">
            <a:solidFill>
              <a:srgbClr val="8A93A0"/>
            </a:solidFill>
          </a:ln>
        </p:spPr>
      </p:cxnSp>
      <p:cxnSp>
        <p:nvCxnSpPr>
          <p:cNvPr id="606" name="C607"/>
          <p:cNvCxnSpPr/>
          <p:nvPr/>
        </p:nvCxnSpPr>
        <p:spPr>
          <a:xfrm>
            <a:off x="9169400" y="3708400"/>
            <a:ext cx="381000" cy="863600"/>
          </a:xfrm>
          <a:prstGeom prst="line">
            <a:avLst/>
          </a:prstGeom>
          <a:ln w="9525">
            <a:solidFill>
              <a:srgbClr val="8A93A0"/>
            </a:solidFill>
          </a:ln>
        </p:spPr>
      </p:cxnSp>
      <p:cxnSp>
        <p:nvCxnSpPr>
          <p:cNvPr id="607" name="C608"/>
          <p:cNvCxnSpPr/>
          <p:nvPr/>
        </p:nvCxnSpPr>
        <p:spPr>
          <a:xfrm>
            <a:off x="9169400" y="2540000"/>
            <a:ext cx="1549400" cy="863600"/>
          </a:xfrm>
          <a:prstGeom prst="line">
            <a:avLst/>
          </a:prstGeom>
          <a:ln w="9525">
            <a:solidFill>
              <a:srgbClr val="8A93A0"/>
            </a:solidFill>
          </a:ln>
        </p:spPr>
      </p:cxnSp>
      <p:cxnSp>
        <p:nvCxnSpPr>
          <p:cNvPr id="608" name="C609"/>
          <p:cNvCxnSpPr/>
          <p:nvPr/>
        </p:nvCxnSpPr>
        <p:spPr>
          <a:xfrm flipH="1">
            <a:off x="10337800" y="3708400"/>
            <a:ext cx="381000" cy="863600"/>
          </a:xfrm>
          <a:prstGeom prst="line">
            <a:avLst/>
          </a:prstGeom>
          <a:ln w="9525">
            <a:solidFill>
              <a:srgbClr val="8A93A0"/>
            </a:solidFill>
          </a:ln>
        </p:spPr>
      </p:cxnSp>
      <p:cxnSp>
        <p:nvCxnSpPr>
          <p:cNvPr id="609" name="C610"/>
          <p:cNvCxnSpPr/>
          <p:nvPr/>
        </p:nvCxnSpPr>
        <p:spPr>
          <a:xfrm>
            <a:off x="10718800" y="3708400"/>
            <a:ext cx="381000" cy="863600"/>
          </a:xfrm>
          <a:prstGeom prst="line">
            <a:avLst/>
          </a:prstGeom>
          <a:ln w="9525">
            <a:solidFill>
              <a:srgbClr val="8A93A0"/>
            </a:solidFill>
          </a:ln>
        </p:spPr>
      </p:cxnSp>
      <mc:AlternateContent xmlns:mc="http://schemas.openxmlformats.org/markup-compatibility/2006">
        <mc:Choice xmlns:a14="http://schemas.microsoft.com/office/drawing/2010/main" Requires="a14">
          <p:sp>
            <p:nvSpPr>
              <p:cNvPr id="610" name="G611"/>
              <p:cNvSpPr txBox="1"/>
              <p:nvPr/>
            </p:nvSpPr>
            <p:spPr>
              <a:xfrm>
                <a:off x="8966200" y="22352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𝑤</m:t>
                      </m:r>
                    </m:oMath>
                  </m:oMathPara>
                </a14:m>
                <a:endParaRPr/>
              </a:p>
            </p:txBody>
          </p:sp>
        </mc:Choice>
        <mc:Fallback>
          <p:sp>
            <p:nvSpPr>
              <p:cNvPr id="610" name="G611"/>
              <p:cNvSpPr txBox="1">
                <a:spLocks noRot="1" noChangeAspect="1" noMove="1" noResize="1" noEditPoints="1" noAdjustHandles="1" noChangeArrowheads="1" noChangeShapeType="1" noTextEdit="1"/>
              </p:cNvSpPr>
              <p:nvPr/>
            </p:nvSpPr>
            <p:spPr>
              <a:xfrm>
                <a:off x="8966200" y="2235200"/>
                <a:ext cx="406400" cy="304800"/>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1" name="G612"/>
              <p:cNvSpPr txBox="1"/>
              <p:nvPr/>
            </p:nvSpPr>
            <p:spPr>
              <a:xfrm>
                <a:off x="7416800" y="34036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𝑥</m:t>
                      </m:r>
                    </m:oMath>
                  </m:oMathPara>
                </a14:m>
                <a:endParaRPr/>
              </a:p>
            </p:txBody>
          </p:sp>
        </mc:Choice>
        <mc:Fallback>
          <p:sp>
            <p:nvSpPr>
              <p:cNvPr id="611" name="G612"/>
              <p:cNvSpPr txBox="1">
                <a:spLocks noRot="1" noChangeAspect="1" noMove="1" noResize="1" noEditPoints="1" noAdjustHandles="1" noChangeArrowheads="1" noChangeShapeType="1" noTextEdit="1"/>
              </p:cNvSpPr>
              <p:nvPr/>
            </p:nvSpPr>
            <p:spPr>
              <a:xfrm>
                <a:off x="7416800" y="3403600"/>
                <a:ext cx="406400" cy="3048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2" name="G613"/>
              <p:cNvSpPr txBox="1"/>
              <p:nvPr/>
            </p:nvSpPr>
            <p:spPr>
              <a:xfrm>
                <a:off x="70358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𝑢</m:t>
                      </m:r>
                    </m:oMath>
                  </m:oMathPara>
                </a14:m>
                <a:endParaRPr/>
              </a:p>
            </p:txBody>
          </p:sp>
        </mc:Choice>
        <mc:Fallback>
          <p:sp>
            <p:nvSpPr>
              <p:cNvPr id="612" name="G613"/>
              <p:cNvSpPr txBox="1">
                <a:spLocks noRot="1" noChangeAspect="1" noMove="1" noResize="1" noEditPoints="1" noAdjustHandles="1" noChangeArrowheads="1" noChangeShapeType="1" noTextEdit="1"/>
              </p:cNvSpPr>
              <p:nvPr/>
            </p:nvSpPr>
            <p:spPr>
              <a:xfrm>
                <a:off x="7035800" y="4572000"/>
                <a:ext cx="406400" cy="30480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3" name="G614"/>
              <p:cNvSpPr txBox="1"/>
              <p:nvPr/>
            </p:nvSpPr>
            <p:spPr>
              <a:xfrm>
                <a:off x="77978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𝑣</m:t>
                      </m:r>
                    </m:oMath>
                  </m:oMathPara>
                </a14:m>
                <a:endParaRPr/>
              </a:p>
            </p:txBody>
          </p:sp>
        </mc:Choice>
        <mc:Fallback>
          <p:sp>
            <p:nvSpPr>
              <p:cNvPr id="613" name="G614"/>
              <p:cNvSpPr txBox="1">
                <a:spLocks noRot="1" noChangeAspect="1" noMove="1" noResize="1" noEditPoints="1" noAdjustHandles="1" noChangeArrowheads="1" noChangeShapeType="1" noTextEdit="1"/>
              </p:cNvSpPr>
              <p:nvPr/>
            </p:nvSpPr>
            <p:spPr>
              <a:xfrm>
                <a:off x="7797800" y="4572000"/>
                <a:ext cx="406400" cy="304800"/>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4" name="G615"/>
              <p:cNvSpPr txBox="1"/>
              <p:nvPr/>
            </p:nvSpPr>
            <p:spPr>
              <a:xfrm>
                <a:off x="8966200" y="34036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𝑦</m:t>
                      </m:r>
                    </m:oMath>
                  </m:oMathPara>
                </a14:m>
                <a:endParaRPr/>
              </a:p>
            </p:txBody>
          </p:sp>
        </mc:Choice>
        <mc:Fallback>
          <p:sp>
            <p:nvSpPr>
              <p:cNvPr id="614" name="G615"/>
              <p:cNvSpPr txBox="1">
                <a:spLocks noRot="1" noChangeAspect="1" noMove="1" noResize="1" noEditPoints="1" noAdjustHandles="1" noChangeArrowheads="1" noChangeShapeType="1" noTextEdit="1"/>
              </p:cNvSpPr>
              <p:nvPr/>
            </p:nvSpPr>
            <p:spPr>
              <a:xfrm>
                <a:off x="8966200" y="3403600"/>
                <a:ext cx="406400" cy="304800"/>
              </a:xfrm>
              <a:prstGeom prst="rect">
                <a:avLst/>
              </a:prstGeom>
              <a:blipFill>
                <a:blip r:embed="rId7"/>
                <a:stretch>
                  <a:fillRect b="-28000"/>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5" name="G616"/>
              <p:cNvSpPr txBox="1"/>
              <p:nvPr/>
            </p:nvSpPr>
            <p:spPr>
              <a:xfrm>
                <a:off x="85852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𝑢</m:t>
                      </m:r>
                    </m:oMath>
                  </m:oMathPara>
                </a14:m>
                <a:endParaRPr/>
              </a:p>
            </p:txBody>
          </p:sp>
        </mc:Choice>
        <mc:Fallback>
          <p:sp>
            <p:nvSpPr>
              <p:cNvPr id="615" name="G616"/>
              <p:cNvSpPr txBox="1">
                <a:spLocks noRot="1" noChangeAspect="1" noMove="1" noResize="1" noEditPoints="1" noAdjustHandles="1" noChangeArrowheads="1" noChangeShapeType="1" noTextEdit="1"/>
              </p:cNvSpPr>
              <p:nvPr/>
            </p:nvSpPr>
            <p:spPr>
              <a:xfrm>
                <a:off x="8585200" y="4572000"/>
                <a:ext cx="406400" cy="304800"/>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6" name="G617"/>
              <p:cNvSpPr txBox="1"/>
              <p:nvPr/>
            </p:nvSpPr>
            <p:spPr>
              <a:xfrm>
                <a:off x="93472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𝑣</m:t>
                      </m:r>
                    </m:oMath>
                  </m:oMathPara>
                </a14:m>
                <a:endParaRPr/>
              </a:p>
            </p:txBody>
          </p:sp>
        </mc:Choice>
        <mc:Fallback>
          <p:sp>
            <p:nvSpPr>
              <p:cNvPr id="616" name="G617"/>
              <p:cNvSpPr txBox="1">
                <a:spLocks noRot="1" noChangeAspect="1" noMove="1" noResize="1" noEditPoints="1" noAdjustHandles="1" noChangeArrowheads="1" noChangeShapeType="1" noTextEdit="1"/>
              </p:cNvSpPr>
              <p:nvPr/>
            </p:nvSpPr>
            <p:spPr>
              <a:xfrm>
                <a:off x="9347200" y="4572000"/>
                <a:ext cx="406400" cy="304800"/>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7" name="G618"/>
              <p:cNvSpPr txBox="1"/>
              <p:nvPr/>
            </p:nvSpPr>
            <p:spPr>
              <a:xfrm>
                <a:off x="10515600" y="34036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𝑧</m:t>
                      </m:r>
                    </m:oMath>
                  </m:oMathPara>
                </a14:m>
                <a:endParaRPr/>
              </a:p>
            </p:txBody>
          </p:sp>
        </mc:Choice>
        <mc:Fallback>
          <p:sp>
            <p:nvSpPr>
              <p:cNvPr id="617" name="G618"/>
              <p:cNvSpPr txBox="1">
                <a:spLocks noRot="1" noChangeAspect="1" noMove="1" noResize="1" noEditPoints="1" noAdjustHandles="1" noChangeArrowheads="1" noChangeShapeType="1" noTextEdit="1"/>
              </p:cNvSpPr>
              <p:nvPr/>
            </p:nvSpPr>
            <p:spPr>
              <a:xfrm>
                <a:off x="10515600" y="3403600"/>
                <a:ext cx="406400" cy="304800"/>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8" name="G619"/>
              <p:cNvSpPr txBox="1"/>
              <p:nvPr/>
            </p:nvSpPr>
            <p:spPr>
              <a:xfrm>
                <a:off x="101346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𝑢</m:t>
                      </m:r>
                    </m:oMath>
                  </m:oMathPara>
                </a14:m>
                <a:endParaRPr/>
              </a:p>
            </p:txBody>
          </p:sp>
        </mc:Choice>
        <mc:Fallback>
          <p:sp>
            <p:nvSpPr>
              <p:cNvPr id="618" name="G619"/>
              <p:cNvSpPr txBox="1">
                <a:spLocks noRot="1" noChangeAspect="1" noMove="1" noResize="1" noEditPoints="1" noAdjustHandles="1" noChangeArrowheads="1" noChangeShapeType="1" noTextEdit="1"/>
              </p:cNvSpPr>
              <p:nvPr/>
            </p:nvSpPr>
            <p:spPr>
              <a:xfrm>
                <a:off x="10134600" y="4572000"/>
                <a:ext cx="406400" cy="304800"/>
              </a:xfrm>
              <a:prstGeom prst="rect">
                <a:avLst/>
              </a:prstGeom>
              <a:blipFill>
                <a:blip r:embed="rId11"/>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9" name="G620"/>
              <p:cNvSpPr txBox="1"/>
              <p:nvPr/>
            </p:nvSpPr>
            <p:spPr>
              <a:xfrm>
                <a:off x="10896600" y="4572000"/>
                <a:ext cx="406400" cy="3048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800">
                          <a:latin typeface="Cambria Math" panose="02040503050406030204" pitchFamily="18" charset="0"/>
                        </a:rPr>
                        <m:t>𝑣</m:t>
                      </m:r>
                    </m:oMath>
                  </m:oMathPara>
                </a14:m>
                <a:endParaRPr/>
              </a:p>
            </p:txBody>
          </p:sp>
        </mc:Choice>
        <mc:Fallback>
          <p:sp>
            <p:nvSpPr>
              <p:cNvPr id="619" name="G620"/>
              <p:cNvSpPr txBox="1">
                <a:spLocks noRot="1" noChangeAspect="1" noMove="1" noResize="1" noEditPoints="1" noAdjustHandles="1" noChangeArrowheads="1" noChangeShapeType="1" noTextEdit="1"/>
              </p:cNvSpPr>
              <p:nvPr/>
            </p:nvSpPr>
            <p:spPr>
              <a:xfrm>
                <a:off x="10896600" y="4572000"/>
                <a:ext cx="406400" cy="304800"/>
              </a:xfrm>
              <a:prstGeom prst="rect">
                <a:avLst/>
              </a:prstGeom>
              <a:blipFill>
                <a:blip r:embed="rId12"/>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786423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1FB97-F912-34EE-C1C7-1F3B592D1EDD}"/>
              </a:ext>
            </a:extLst>
          </p:cNvPr>
          <p:cNvSpPr>
            <a:spLocks noGrp="1"/>
          </p:cNvSpPr>
          <p:nvPr>
            <p:ph type="title"/>
          </p:nvPr>
        </p:nvSpPr>
        <p:spPr>
          <a:xfrm>
            <a:off x="766763" y="660400"/>
            <a:ext cx="10668000" cy="635000"/>
          </a:xfrm>
        </p:spPr>
        <p:txBody>
          <a:bodyPr/>
          <a:lstStyle/>
          <a:p>
            <a:r>
              <a:rPr lang="da-DK" sz="3200" b="1" dirty="0"/>
              <a:t>OPSUMMERING (3/4)</a:t>
            </a:r>
          </a:p>
        </p:txBody>
      </p:sp>
      <p:sp>
        <p:nvSpPr>
          <p:cNvPr id="4" name="Text Placeholder 3">
            <a:extLst>
              <a:ext uri="{FF2B5EF4-FFF2-40B4-BE49-F238E27FC236}">
                <a16:creationId xmlns:a16="http://schemas.microsoft.com/office/drawing/2014/main" id="{982D6256-B91C-AFA7-D563-B49A8083C430}"/>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371600"/>
            <a:ext cx="10668000" cy="254000"/>
          </a:xfrm>
          <a:prstGeom prst="rect">
            <a:avLst/>
          </a:prstGeom>
          <a:noFill/>
          <a:ln>
            <a:noFill/>
          </a:ln>
        </p:spPr>
        <p:txBody>
          <a:bodyPr wrap="square" lIns="0" tIns="0" rIns="0" bIns="0">
            <a:noAutofit/>
          </a:bodyPr>
          <a:lstStyle/>
          <a:p>
            <a:pPr marL="0" indent="0" algn="l">
              <a:lnSpc>
                <a:spcPct val="115000"/>
              </a:lnSpc>
              <a:spcBef>
                <a:spcPts val="500"/>
              </a:spcBef>
              <a:buNone/>
            </a:pPr>
            <a:r>
              <a:rPr lang="da-DK" sz="1400" b="1" spc="170" dirty="0">
                <a:solidFill>
                  <a:srgbClr val="DF6752"/>
                </a:solidFill>
              </a:rPr>
              <a:t>DEN GENERELLE KÆDEREGEL</a:t>
            </a:r>
          </a:p>
        </p:txBody>
      </p:sp>
      <p:sp>
        <p:nvSpPr>
          <p:cNvPr id="201" name="S201"/>
          <p:cNvSpPr txBox="1"/>
          <p:nvPr/>
        </p:nvSpPr>
        <p:spPr>
          <a:xfrm>
            <a:off x="766763" y="1930400"/>
            <a:ext cx="6477000" cy="3683000"/>
          </a:xfrm>
          <a:prstGeom prst="rect">
            <a:avLst/>
          </a:prstGeom>
          <a:solidFill>
            <a:srgbClr val="F4F5F7"/>
          </a:solidFill>
          <a:ln>
            <a:noFill/>
          </a:ln>
        </p:spPr>
        <p:txBody>
          <a:bodyPr wrap="square" lIns="0" tIns="0" rIns="0" bIns="0">
            <a:noAutofit/>
          </a:bodyPr>
          <a:lstStyle/>
          <a:p>
            <a:endParaRPr lang="da-DK"/>
          </a:p>
        </p:txBody>
      </p:sp>
      <p:sp>
        <p:nvSpPr>
          <p:cNvPr id="202" name="S202"/>
          <p:cNvSpPr txBox="1"/>
          <p:nvPr/>
        </p:nvSpPr>
        <p:spPr>
          <a:xfrm>
            <a:off x="766763" y="1930400"/>
            <a:ext cx="50800" cy="3683000"/>
          </a:xfrm>
          <a:prstGeom prst="rect">
            <a:avLst/>
          </a:prstGeom>
          <a:solidFill>
            <a:srgbClr val="211A52"/>
          </a:solidFill>
          <a:ln>
            <a:noFill/>
          </a:ln>
        </p:spPr>
        <p:txBody>
          <a:bodyPr wrap="square" lIns="0" tIns="0" rIns="0" bIns="0">
            <a:noAutofit/>
          </a:bodyPr>
          <a:lstStyle/>
          <a:p>
            <a:endParaRPr lang="da-DK"/>
          </a:p>
        </p:txBody>
      </p:sp>
      <p:sp>
        <p:nvSpPr>
          <p:cNvPr id="203" name="S203"/>
          <p:cNvSpPr txBox="1"/>
          <p:nvPr/>
        </p:nvSpPr>
        <p:spPr>
          <a:xfrm>
            <a:off x="1071563" y="2159000"/>
            <a:ext cx="5867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DEFINITION</a:t>
            </a:r>
          </a:p>
        </p:txBody>
      </p:sp>
      <mc:AlternateContent xmlns:mc="http://schemas.openxmlformats.org/markup-compatibility/2006">
        <mc:Choice xmlns:a14="http://schemas.microsoft.com/office/drawing/2010/main" Requires="a14">
          <p:sp>
            <p:nvSpPr>
              <p:cNvPr id="204" name="S204"/>
              <p:cNvSpPr txBox="1"/>
              <p:nvPr/>
            </p:nvSpPr>
            <p:spPr>
              <a:xfrm>
                <a:off x="1071563" y="2514600"/>
                <a:ext cx="5867400" cy="3048000"/>
              </a:xfrm>
              <a:prstGeom prst="rect">
                <a:avLst/>
              </a:prstGeom>
              <a:noFill/>
              <a:ln>
                <a:noFill/>
              </a:ln>
            </p:spPr>
            <p:txBody>
              <a:bodyPr wrap="square" lIns="0" tIns="0" rIns="0" bIns="0">
                <a:noAutofit/>
              </a:bodyPr>
              <a:lstStyle/>
              <a:p>
                <a:pPr algn="l">
                  <a:lnSpc>
                    <a:spcPct val="115000"/>
                  </a:lnSpc>
                  <a:spcBef>
                    <a:spcPts val="500"/>
                  </a:spcBef>
                  <a:buNone/>
                </a:pPr>
                <a:r>
                  <a:rPr lang="da-DK" sz="1700" dirty="0"/>
                  <a:t>Lad w = f(x</a:t>
                </a:r>
                <a:r>
                  <a:rPr lang="da-DK" sz="1700" baseline="-25000" dirty="0"/>
                  <a:t>1</a:t>
                </a:r>
                <a:r>
                  <a:rPr lang="da-DK" sz="1700" dirty="0"/>
                  <a:t>, x</a:t>
                </a:r>
                <a:r>
                  <a:rPr lang="da-DK" sz="1700" baseline="-25000" dirty="0"/>
                  <a:t>2</a:t>
                </a:r>
                <a:r>
                  <a:rPr lang="da-DK" sz="1700" dirty="0"/>
                  <a:t>, …, x</a:t>
                </a:r>
                <a:r>
                  <a:rPr lang="da-DK" sz="1700" baseline="-25000" dirty="0"/>
                  <a:t>m</a:t>
                </a:r>
                <a:r>
                  <a:rPr lang="da-DK" sz="1700" dirty="0"/>
                  <a:t>) have kontinuerte første ordens partielle afledede og x</a:t>
                </a:r>
                <a:r>
                  <a:rPr lang="da-DK" sz="1700" baseline="-25000" dirty="0"/>
                  <a:t>i</a:t>
                </a:r>
                <a:r>
                  <a:rPr lang="da-DK" sz="1700" dirty="0"/>
                  <a:t>(t</a:t>
                </a:r>
                <a:r>
                  <a:rPr lang="da-DK" sz="1700" baseline="-25000" dirty="0"/>
                  <a:t>1</a:t>
                </a:r>
                <a:r>
                  <a:rPr lang="da-DK" sz="1700" dirty="0"/>
                  <a:t>, t</a:t>
                </a:r>
                <a:r>
                  <a:rPr lang="da-DK" sz="1700" baseline="-25000" dirty="0"/>
                  <a:t>2</a:t>
                </a:r>
                <a:r>
                  <a:rPr lang="da-DK" sz="1700" dirty="0"/>
                  <a:t>, …, t</a:t>
                </a:r>
                <a:r>
                  <a:rPr lang="da-DK" sz="1700" baseline="-25000" dirty="0"/>
                  <a:t>n</a:t>
                </a:r>
                <a:r>
                  <a:rPr lang="da-DK" sz="1700" dirty="0"/>
                  <a:t>) være differentiable funktioner i t</a:t>
                </a:r>
                <a:r>
                  <a:rPr lang="da-DK" sz="1700" baseline="-25000" dirty="0"/>
                  <a:t>1</a:t>
                </a:r>
                <a:r>
                  <a:rPr lang="da-DK" sz="1700" dirty="0"/>
                  <a:t>, t</a:t>
                </a:r>
                <a:r>
                  <a:rPr lang="da-DK" sz="1700" baseline="-25000" dirty="0"/>
                  <a:t>2</a:t>
                </a:r>
                <a:r>
                  <a:rPr lang="da-DK" sz="1700" dirty="0"/>
                  <a:t>, …, t</a:t>
                </a:r>
                <a:r>
                  <a:rPr lang="da-DK" sz="1700" baseline="-25000" dirty="0"/>
                  <a:t>n</a:t>
                </a:r>
                <a:r>
                  <a:rPr lang="da-DK" sz="1700" dirty="0"/>
                  <a:t> for 1 ≤ i ≤ n. Så er w differentiabel som funktion af t</a:t>
                </a:r>
                <a:r>
                  <a:rPr lang="da-DK" sz="1700" baseline="-25000" dirty="0"/>
                  <a:t>1</a:t>
                </a:r>
                <a:r>
                  <a:rPr lang="da-DK" sz="1700" dirty="0"/>
                  <a:t>, t</a:t>
                </a:r>
                <a:r>
                  <a:rPr lang="da-DK" sz="1700" baseline="-25000" dirty="0"/>
                  <a:t>2</a:t>
                </a:r>
                <a:r>
                  <a:rPr lang="da-DK" sz="1700" dirty="0"/>
                  <a:t>, … t</a:t>
                </a:r>
                <a:r>
                  <a:rPr lang="da-DK" sz="1700" baseline="-25000" dirty="0"/>
                  <a:t>n</a:t>
                </a:r>
                <a:r>
                  <a:rPr lang="da-DK" sz="1700" dirty="0"/>
                  <a:t> og</a:t>
                </a:r>
              </a:p>
              <a:p>
                <a:pPr algn="l">
                  <a:lnSpc>
                    <a:spcPct val="115000"/>
                  </a:lnSpc>
                  <a:spcBef>
                    <a:spcPts val="500"/>
                  </a:spcBef>
                  <a:buNone/>
                </a:pPr>
                <a:endParaRPr lang="da-DK" sz="1700" dirty="0"/>
              </a:p>
              <a:p>
                <a:pPr algn="ctr">
                  <a:spcBef>
                    <a:spcPts val="900"/>
                  </a:spcBef>
                  <a:buNone/>
                </a:pPr>
                <a14:m>
                  <m:oMathPara xmlns:m="http://schemas.openxmlformats.org/officeDocument/2006/math">
                    <m:oMath>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𝑡</m:t>
                              </m:r>
                            </m:e>
                            <m:sub>
                              <m:r>
                                <a:rPr lang="da-DK" sz="1900">
                                  <a:latin typeface="Cambria Math" panose="02040503050406030204" pitchFamily="18" charset="0"/>
                                </a:rPr>
                                <m:t>𝑖</m:t>
                              </m:r>
                            </m:sub>
                          </m:sSub>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1</m:t>
                              </m:r>
                            </m:sub>
                          </m:sSub>
                        </m:den>
                      </m:f>
                      <m:f>
                        <m:fPr>
                          <m:ctrlPr>
                            <a:rPr lang="da-DK" sz="1900" i="1">
                              <a:latin typeface="Cambria Math" panose="02040503050406030204" pitchFamily="18" charset="0"/>
                            </a:rPr>
                          </m:ctrlPr>
                        </m:fPr>
                        <m:num>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1</m:t>
                              </m:r>
                            </m:sub>
                          </m:sSub>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𝑡</m:t>
                              </m:r>
                            </m:e>
                            <m:sub>
                              <m:r>
                                <a:rPr lang="da-DK" sz="1900">
                                  <a:latin typeface="Cambria Math" panose="02040503050406030204" pitchFamily="18" charset="0"/>
                                </a:rPr>
                                <m:t>𝑖</m:t>
                              </m:r>
                            </m:sub>
                          </m:sSub>
                        </m:den>
                      </m:f>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2</m:t>
                              </m:r>
                            </m:sub>
                          </m:sSub>
                        </m:den>
                      </m:f>
                      <m:f>
                        <m:fPr>
                          <m:ctrlPr>
                            <a:rPr lang="da-DK" sz="1900" i="1">
                              <a:latin typeface="Cambria Math" panose="02040503050406030204" pitchFamily="18" charset="0"/>
                            </a:rPr>
                          </m:ctrlPr>
                        </m:fPr>
                        <m:num>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2</m:t>
                              </m:r>
                            </m:sub>
                          </m:sSub>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𝑡</m:t>
                              </m:r>
                            </m:e>
                            <m:sub>
                              <m:r>
                                <a:rPr lang="da-DK" sz="1900">
                                  <a:latin typeface="Cambria Math" panose="02040503050406030204" pitchFamily="18" charset="0"/>
                                </a:rPr>
                                <m:t>𝑖</m:t>
                              </m:r>
                            </m:sub>
                          </m:sSub>
                        </m:den>
                      </m:f>
                      <m:r>
                        <a:rPr lang="da-DK" sz="1900">
                          <a:latin typeface="Cambria Math" panose="02040503050406030204" pitchFamily="18" charset="0"/>
                        </a:rPr>
                        <m:t> + ⋯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𝑤</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𝑚</m:t>
                              </m:r>
                            </m:sub>
                          </m:sSub>
                        </m:den>
                      </m:f>
                      <m:f>
                        <m:fPr>
                          <m:ctrlPr>
                            <a:rPr lang="da-DK" sz="1900" i="1">
                              <a:latin typeface="Cambria Math" panose="02040503050406030204" pitchFamily="18" charset="0"/>
                            </a:rPr>
                          </m:ctrlPr>
                        </m:fPr>
                        <m:num>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𝑚</m:t>
                              </m:r>
                            </m:sub>
                          </m:sSub>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𝑡</m:t>
                              </m:r>
                            </m:e>
                            <m:sub>
                              <m:r>
                                <a:rPr lang="da-DK" sz="1900">
                                  <a:latin typeface="Cambria Math" panose="02040503050406030204" pitchFamily="18" charset="0"/>
                                </a:rPr>
                                <m:t>𝑖</m:t>
                              </m:r>
                            </m:sub>
                          </m:sSub>
                        </m:den>
                      </m:f>
                      <m:r>
                        <a:rPr lang="da-DK" sz="1900">
                          <a:latin typeface="Cambria Math" panose="02040503050406030204" pitchFamily="18" charset="0"/>
                        </a:rPr>
                        <m:t>,</m:t>
                      </m:r>
                    </m:oMath>
                  </m:oMathPara>
                </a14:m>
                <a:endParaRPr lang="da-DK" sz="1700" dirty="0"/>
              </a:p>
              <a:p>
                <a:pPr algn="ctr">
                  <a:spcBef>
                    <a:spcPts val="900"/>
                  </a:spcBef>
                  <a:buNone/>
                </a:pPr>
                <a:endParaRPr lang="da-DK" sz="1700" dirty="0"/>
              </a:p>
              <a:p>
                <a:pPr algn="ctr">
                  <a:lnSpc>
                    <a:spcPct val="115000"/>
                  </a:lnSpc>
                  <a:spcBef>
                    <a:spcPts val="300"/>
                  </a:spcBef>
                  <a:buNone/>
                </a:pPr>
                <a:r>
                  <a:rPr lang="da-DK" sz="1800" dirty="0"/>
                  <a:t>1 ≤ i ≤ n.</a:t>
                </a:r>
              </a:p>
            </p:txBody>
          </p:sp>
        </mc:Choice>
        <mc:Fallback>
          <p:sp>
            <p:nvSpPr>
              <p:cNvPr id="204" name="S204"/>
              <p:cNvSpPr txBox="1">
                <a:spLocks noRot="1" noChangeAspect="1" noMove="1" noResize="1" noEditPoints="1" noAdjustHandles="1" noChangeArrowheads="1" noChangeShapeType="1" noTextEdit="1"/>
              </p:cNvSpPr>
              <p:nvPr/>
            </p:nvSpPr>
            <p:spPr>
              <a:xfrm>
                <a:off x="1071563" y="2514600"/>
                <a:ext cx="5867400" cy="3048000"/>
              </a:xfrm>
              <a:prstGeom prst="rect">
                <a:avLst/>
              </a:prstGeom>
              <a:blipFill>
                <a:blip r:embed="rId2"/>
                <a:stretch>
                  <a:fillRect l="-2376" t="-2075"/>
                </a:stretch>
              </a:blipFill>
              <a:ln>
                <a:noFill/>
              </a:ln>
            </p:spPr>
            <p:txBody>
              <a:bodyPr/>
              <a:lstStyle/>
              <a:p>
                <a:r>
                  <a:rPr lang="en-US">
                    <a:noFill/>
                  </a:rPr>
                  <a:t> </a:t>
                </a:r>
              </a:p>
            </p:txBody>
          </p:sp>
        </mc:Fallback>
      </mc:AlternateContent>
      <p:cxnSp>
        <p:nvCxnSpPr>
          <p:cNvPr id="501" name="C502"/>
          <p:cNvCxnSpPr/>
          <p:nvPr/>
        </p:nvCxnSpPr>
        <p:spPr>
          <a:xfrm flipH="1">
            <a:off x="8585200" y="2603500"/>
            <a:ext cx="939800" cy="825500"/>
          </a:xfrm>
          <a:prstGeom prst="line">
            <a:avLst/>
          </a:prstGeom>
          <a:ln w="9525">
            <a:solidFill>
              <a:srgbClr val="8A93A0"/>
            </a:solidFill>
          </a:ln>
        </p:spPr>
      </p:cxnSp>
      <p:cxnSp>
        <p:nvCxnSpPr>
          <p:cNvPr id="502" name="C503"/>
          <p:cNvCxnSpPr/>
          <p:nvPr/>
        </p:nvCxnSpPr>
        <p:spPr>
          <a:xfrm flipH="1">
            <a:off x="9220200" y="2603500"/>
            <a:ext cx="304800" cy="825500"/>
          </a:xfrm>
          <a:prstGeom prst="line">
            <a:avLst/>
          </a:prstGeom>
          <a:ln w="9525">
            <a:solidFill>
              <a:srgbClr val="8A93A0"/>
            </a:solidFill>
          </a:ln>
        </p:spPr>
      </p:cxnSp>
      <p:cxnSp>
        <p:nvCxnSpPr>
          <p:cNvPr id="503" name="C504"/>
          <p:cNvCxnSpPr/>
          <p:nvPr/>
        </p:nvCxnSpPr>
        <p:spPr>
          <a:xfrm>
            <a:off x="9525000" y="2603500"/>
            <a:ext cx="939800" cy="825500"/>
          </a:xfrm>
          <a:prstGeom prst="line">
            <a:avLst/>
          </a:prstGeom>
          <a:ln w="9525">
            <a:solidFill>
              <a:srgbClr val="8A93A0"/>
            </a:solidFill>
          </a:ln>
        </p:spPr>
      </p:cxnSp>
      <p:cxnSp>
        <p:nvCxnSpPr>
          <p:cNvPr id="504" name="C505"/>
          <p:cNvCxnSpPr/>
          <p:nvPr/>
        </p:nvCxnSpPr>
        <p:spPr>
          <a:xfrm>
            <a:off x="8585200" y="3810000"/>
            <a:ext cx="939800" cy="825500"/>
          </a:xfrm>
          <a:prstGeom prst="line">
            <a:avLst/>
          </a:prstGeom>
          <a:ln w="9525">
            <a:solidFill>
              <a:srgbClr val="8A93A0"/>
            </a:solidFill>
          </a:ln>
        </p:spPr>
      </p:cxnSp>
      <p:cxnSp>
        <p:nvCxnSpPr>
          <p:cNvPr id="505" name="C506"/>
          <p:cNvCxnSpPr/>
          <p:nvPr/>
        </p:nvCxnSpPr>
        <p:spPr>
          <a:xfrm>
            <a:off x="9220200" y="3810000"/>
            <a:ext cx="304800" cy="825500"/>
          </a:xfrm>
          <a:prstGeom prst="line">
            <a:avLst/>
          </a:prstGeom>
          <a:ln w="9525">
            <a:solidFill>
              <a:srgbClr val="8A93A0"/>
            </a:solidFill>
          </a:ln>
        </p:spPr>
      </p:cxnSp>
      <p:cxnSp>
        <p:nvCxnSpPr>
          <p:cNvPr id="506" name="C507"/>
          <p:cNvCxnSpPr/>
          <p:nvPr/>
        </p:nvCxnSpPr>
        <p:spPr>
          <a:xfrm flipH="1">
            <a:off x="9525000" y="3810000"/>
            <a:ext cx="939800" cy="825500"/>
          </a:xfrm>
          <a:prstGeom prst="line">
            <a:avLst/>
          </a:prstGeom>
          <a:ln w="9525">
            <a:solidFill>
              <a:srgbClr val="8A93A0"/>
            </a:solidFill>
          </a:ln>
        </p:spPr>
      </p:cxnSp>
      <mc:AlternateContent xmlns:mc="http://schemas.openxmlformats.org/markup-compatibility/2006">
        <mc:Choice xmlns:a14="http://schemas.microsoft.com/office/drawing/2010/main" Requires="a14">
          <p:sp>
            <p:nvSpPr>
              <p:cNvPr id="507" name="G508"/>
              <p:cNvSpPr txBox="1"/>
              <p:nvPr/>
            </p:nvSpPr>
            <p:spPr>
              <a:xfrm>
                <a:off x="9245600" y="2260600"/>
                <a:ext cx="5588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1900">
                          <a:latin typeface="Cambria Math" panose="02040503050406030204" pitchFamily="18" charset="0"/>
                        </a:rPr>
                        <m:t>𝑤</m:t>
                      </m:r>
                    </m:oMath>
                  </m:oMathPara>
                </a14:m>
                <a:endParaRPr/>
              </a:p>
            </p:txBody>
          </p:sp>
        </mc:Choice>
        <mc:Fallback>
          <p:sp>
            <p:nvSpPr>
              <p:cNvPr id="507" name="G508"/>
              <p:cNvSpPr txBox="1">
                <a:spLocks noRot="1" noChangeAspect="1" noMove="1" noResize="1" noEditPoints="1" noAdjustHandles="1" noChangeArrowheads="1" noChangeShapeType="1" noTextEdit="1"/>
              </p:cNvSpPr>
              <p:nvPr/>
            </p:nvSpPr>
            <p:spPr>
              <a:xfrm>
                <a:off x="9245600" y="2260600"/>
                <a:ext cx="558800" cy="355600"/>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8" name="G509"/>
              <p:cNvSpPr txBox="1"/>
              <p:nvPr/>
            </p:nvSpPr>
            <p:spPr>
              <a:xfrm>
                <a:off x="8305800" y="3441700"/>
                <a:ext cx="5588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sSub>
                        <m:sSubPr>
                          <m:ctrlPr>
                            <a:rPr lang="da-DK" sz="1900">
                              <a:latin typeface="Cambria Math" panose="02040503050406030204" pitchFamily="18" charset="0"/>
                            </a:rPr>
                          </m:ctrlPr>
                        </m:sSubPr>
                        <m:e>
                          <m:r>
                            <a:rPr lang="da-DK" sz="1900">
                              <a:latin typeface="Cambria Math" panose="02040503050406030204" pitchFamily="18" charset="0"/>
                            </a:rPr>
                            <m:t>𝑥</m:t>
                          </m:r>
                        </m:e>
                        <m:sub>
                          <m:r>
                            <a:rPr lang="da-DK" sz="1900">
                              <a:latin typeface="Cambria Math" panose="02040503050406030204" pitchFamily="18" charset="0"/>
                            </a:rPr>
                            <m:t>1</m:t>
                          </m:r>
                        </m:sub>
                      </m:sSub>
                    </m:oMath>
                  </m:oMathPara>
                </a14:m>
                <a:endParaRPr/>
              </a:p>
            </p:txBody>
          </p:sp>
        </mc:Choice>
        <mc:Fallback>
          <p:sp>
            <p:nvSpPr>
              <p:cNvPr id="508" name="G509"/>
              <p:cNvSpPr txBox="1">
                <a:spLocks noRot="1" noChangeAspect="1" noMove="1" noResize="1" noEditPoints="1" noAdjustHandles="1" noChangeArrowheads="1" noChangeShapeType="1" noTextEdit="1"/>
              </p:cNvSpPr>
              <p:nvPr/>
            </p:nvSpPr>
            <p:spPr>
              <a:xfrm>
                <a:off x="8305800" y="3441700"/>
                <a:ext cx="558800" cy="3556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9" name="G510"/>
              <p:cNvSpPr txBox="1"/>
              <p:nvPr/>
            </p:nvSpPr>
            <p:spPr>
              <a:xfrm>
                <a:off x="8940800" y="3441700"/>
                <a:ext cx="5588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sSub>
                        <m:sSubPr>
                          <m:ctrlPr>
                            <a:rPr lang="da-DK" sz="1900">
                              <a:latin typeface="Cambria Math" panose="02040503050406030204" pitchFamily="18" charset="0"/>
                            </a:rPr>
                          </m:ctrlPr>
                        </m:sSubPr>
                        <m:e>
                          <m:r>
                            <a:rPr lang="da-DK" sz="1900">
                              <a:latin typeface="Cambria Math" panose="02040503050406030204" pitchFamily="18" charset="0"/>
                            </a:rPr>
                            <m:t>𝑥</m:t>
                          </m:r>
                        </m:e>
                        <m:sub>
                          <m:r>
                            <a:rPr lang="da-DK" sz="1900">
                              <a:latin typeface="Cambria Math" panose="02040503050406030204" pitchFamily="18" charset="0"/>
                            </a:rPr>
                            <m:t>2</m:t>
                          </m:r>
                        </m:sub>
                      </m:sSub>
                    </m:oMath>
                  </m:oMathPara>
                </a14:m>
                <a:endParaRPr/>
              </a:p>
            </p:txBody>
          </p:sp>
        </mc:Choice>
        <mc:Fallback>
          <p:sp>
            <p:nvSpPr>
              <p:cNvPr id="509" name="G510"/>
              <p:cNvSpPr txBox="1">
                <a:spLocks noRot="1" noChangeAspect="1" noMove="1" noResize="1" noEditPoints="1" noAdjustHandles="1" noChangeArrowheads="1" noChangeShapeType="1" noTextEdit="1"/>
              </p:cNvSpPr>
              <p:nvPr/>
            </p:nvSpPr>
            <p:spPr>
              <a:xfrm>
                <a:off x="8940800" y="3441700"/>
                <a:ext cx="558800" cy="35560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0" name="G511"/>
              <p:cNvSpPr txBox="1"/>
              <p:nvPr/>
            </p:nvSpPr>
            <p:spPr>
              <a:xfrm>
                <a:off x="10185400" y="3441700"/>
                <a:ext cx="5588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sSub>
                        <m:sSubPr>
                          <m:ctrlPr>
                            <a:rPr lang="da-DK" sz="1900">
                              <a:latin typeface="Cambria Math" panose="02040503050406030204" pitchFamily="18" charset="0"/>
                            </a:rPr>
                          </m:ctrlPr>
                        </m:sSubPr>
                        <m:e>
                          <m:r>
                            <a:rPr lang="da-DK" sz="1900">
                              <a:latin typeface="Cambria Math" panose="02040503050406030204" pitchFamily="18" charset="0"/>
                            </a:rPr>
                            <m:t>𝑥</m:t>
                          </m:r>
                        </m:e>
                        <m:sub>
                          <m:r>
                            <a:rPr lang="da-DK" sz="1900">
                              <a:latin typeface="Cambria Math" panose="02040503050406030204" pitchFamily="18" charset="0"/>
                            </a:rPr>
                            <m:t>𝑚</m:t>
                          </m:r>
                        </m:sub>
                      </m:sSub>
                    </m:oMath>
                  </m:oMathPara>
                </a14:m>
                <a:endParaRPr/>
              </a:p>
            </p:txBody>
          </p:sp>
        </mc:Choice>
        <mc:Fallback>
          <p:sp>
            <p:nvSpPr>
              <p:cNvPr id="510" name="G511"/>
              <p:cNvSpPr txBox="1">
                <a:spLocks noRot="1" noChangeAspect="1" noMove="1" noResize="1" noEditPoints="1" noAdjustHandles="1" noChangeArrowheads="1" noChangeShapeType="1" noTextEdit="1"/>
              </p:cNvSpPr>
              <p:nvPr/>
            </p:nvSpPr>
            <p:spPr>
              <a:xfrm>
                <a:off x="10185400" y="3441700"/>
                <a:ext cx="558800" cy="355600"/>
              </a:xfrm>
              <a:prstGeom prst="rect">
                <a:avLst/>
              </a:prstGeom>
              <a:blipFill>
                <a:blip r:embed="rId6"/>
                <a:stretch>
                  <a:fillRect/>
                </a:stretch>
              </a:blipFill>
              <a:ln>
                <a:noFill/>
              </a:ln>
            </p:spPr>
            <p:txBody>
              <a:bodyPr/>
              <a:lstStyle/>
              <a:p>
                <a:r>
                  <a:rPr lang="en-US">
                    <a:noFill/>
                  </a:rPr>
                  <a:t> </a:t>
                </a:r>
              </a:p>
            </p:txBody>
          </p:sp>
        </mc:Fallback>
      </mc:AlternateContent>
      <p:sp>
        <p:nvSpPr>
          <p:cNvPr id="511" name="G512"/>
          <p:cNvSpPr txBox="1"/>
          <p:nvPr/>
        </p:nvSpPr>
        <p:spPr>
          <a:xfrm>
            <a:off x="9677400" y="3454400"/>
            <a:ext cx="330200" cy="330200"/>
          </a:xfrm>
          <a:prstGeom prst="rect">
            <a:avLst/>
          </a:prstGeom>
          <a:noFill/>
          <a:ln>
            <a:noFill/>
          </a:ln>
        </p:spPr>
        <p:txBody>
          <a:bodyPr wrap="none" lIns="0" tIns="0" rIns="0" bIns="0" anchor="ctr">
            <a:spAutoFit/>
          </a:bodyPr>
          <a:lstStyle/>
          <a:p>
            <a:pPr algn="ctr">
              <a:buNone/>
            </a:pPr>
            <a:r>
              <a:rPr lang="da-DK" sz="1600" dirty="0">
                <a:solidFill>
                  <a:srgbClr val="211A52"/>
                </a:solidFill>
              </a:rPr>
              <a:t>⋯</a:t>
            </a:r>
          </a:p>
        </p:txBody>
      </p:sp>
      <mc:AlternateContent xmlns:mc="http://schemas.openxmlformats.org/markup-compatibility/2006">
        <mc:Choice xmlns:a14="http://schemas.microsoft.com/office/drawing/2010/main" Requires="a14">
          <p:sp>
            <p:nvSpPr>
              <p:cNvPr id="512" name="G513"/>
              <p:cNvSpPr txBox="1"/>
              <p:nvPr/>
            </p:nvSpPr>
            <p:spPr>
              <a:xfrm>
                <a:off x="9245600" y="4622800"/>
                <a:ext cx="5588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sSub>
                        <m:sSubPr>
                          <m:ctrlPr>
                            <a:rPr lang="da-DK" sz="1900">
                              <a:latin typeface="Cambria Math" panose="02040503050406030204" pitchFamily="18" charset="0"/>
                            </a:rPr>
                          </m:ctrlPr>
                        </m:sSubPr>
                        <m:e>
                          <m:r>
                            <a:rPr lang="da-DK" sz="1900">
                              <a:latin typeface="Cambria Math" panose="02040503050406030204" pitchFamily="18" charset="0"/>
                            </a:rPr>
                            <m:t>𝑡</m:t>
                          </m:r>
                        </m:e>
                        <m:sub>
                          <m:r>
                            <a:rPr lang="da-DK" sz="1900">
                              <a:latin typeface="Cambria Math" panose="02040503050406030204" pitchFamily="18" charset="0"/>
                            </a:rPr>
                            <m:t>𝑖</m:t>
                          </m:r>
                        </m:sub>
                      </m:sSub>
                    </m:oMath>
                  </m:oMathPara>
                </a14:m>
                <a:endParaRPr/>
              </a:p>
            </p:txBody>
          </p:sp>
        </mc:Choice>
        <mc:Fallback>
          <p:sp>
            <p:nvSpPr>
              <p:cNvPr id="512" name="G513"/>
              <p:cNvSpPr txBox="1">
                <a:spLocks noRot="1" noChangeAspect="1" noMove="1" noResize="1" noEditPoints="1" noAdjustHandles="1" noChangeArrowheads="1" noChangeShapeType="1" noTextEdit="1"/>
              </p:cNvSpPr>
              <p:nvPr/>
            </p:nvSpPr>
            <p:spPr>
              <a:xfrm>
                <a:off x="9245600" y="4622800"/>
                <a:ext cx="558800" cy="355600"/>
              </a:xfrm>
              <a:prstGeom prst="rect">
                <a:avLst/>
              </a:prstGeom>
              <a:blipFill>
                <a:blip r:embed="rId7"/>
                <a:stretch>
                  <a:fillRect b="-333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32218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0706-5CE5-5796-759D-4C28593E8F07}"/>
              </a:ext>
            </a:extLst>
          </p:cNvPr>
          <p:cNvSpPr>
            <a:spLocks noGrp="1"/>
          </p:cNvSpPr>
          <p:nvPr>
            <p:ph type="title"/>
          </p:nvPr>
        </p:nvSpPr>
        <p:spPr>
          <a:xfrm>
            <a:off x="766763" y="660400"/>
            <a:ext cx="10668000" cy="635000"/>
          </a:xfrm>
        </p:spPr>
        <p:txBody>
          <a:bodyPr/>
          <a:lstStyle/>
          <a:p>
            <a:r>
              <a:rPr lang="da-DK" sz="3200" b="1" dirty="0"/>
              <a:t>OPSUMMERING (4/4)</a:t>
            </a:r>
          </a:p>
        </p:txBody>
      </p:sp>
      <p:sp>
        <p:nvSpPr>
          <p:cNvPr id="4" name="Text Placeholder 3">
            <a:extLst>
              <a:ext uri="{FF2B5EF4-FFF2-40B4-BE49-F238E27FC236}">
                <a16:creationId xmlns:a16="http://schemas.microsoft.com/office/drawing/2014/main" id="{73CB456C-0119-46EA-6C72-B9FDBFE4A803}"/>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817563" y="1422400"/>
            <a:ext cx="6477000" cy="18034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76288" y="1422400"/>
            <a:ext cx="50800" cy="18034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547812"/>
            <a:ext cx="5867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EKSEMPEL</a:t>
            </a:r>
          </a:p>
        </p:txBody>
      </p:sp>
      <mc:AlternateContent xmlns:mc="http://schemas.openxmlformats.org/markup-compatibility/2006">
        <mc:Choice xmlns:a14="http://schemas.microsoft.com/office/drawing/2010/main" Requires="a14">
          <p:sp>
            <p:nvSpPr>
              <p:cNvPr id="203" name="S203"/>
              <p:cNvSpPr txBox="1"/>
              <p:nvPr/>
            </p:nvSpPr>
            <p:spPr>
              <a:xfrm>
                <a:off x="1071563" y="1776412"/>
                <a:ext cx="5867400" cy="1168400"/>
              </a:xfrm>
              <a:prstGeom prst="rect">
                <a:avLst/>
              </a:prstGeom>
              <a:noFill/>
              <a:ln>
                <a:noFill/>
              </a:ln>
            </p:spPr>
            <p:txBody>
              <a:bodyPr wrap="square" lIns="0" tIns="0" rIns="0" bIns="0">
                <a:noAutofit/>
              </a:bodyPr>
              <a:lstStyle/>
              <a:p>
                <a:pPr algn="l">
                  <a:lnSpc>
                    <a:spcPct val="120000"/>
                  </a:lnSpc>
                  <a:spcBef>
                    <a:spcPts val="0"/>
                  </a:spcBef>
                  <a:buNone/>
                </a:pPr>
                <a:r>
                  <a:rPr lang="da-DK" sz="2200" dirty="0"/>
                  <a:t>Opskriv kædereglen for </a:t>
                </a:r>
                <a14:m>
                  <m:oMath xmlns:m="http://schemas.openxmlformats.org/officeDocument/2006/math">
                    <m:f>
                      <m:fPr>
                        <m:ctrlPr>
                          <a:rPr lang="da-DK" sz="2200">
                            <a:latin typeface="Cambria Math" panose="02040503050406030204" pitchFamily="18" charset="0"/>
                          </a:rPr>
                        </m:ctrlPr>
                      </m:fPr>
                      <m:num>
                        <m:r>
                          <a:rPr lang="da-DK" sz="2200">
                            <a:latin typeface="Cambria Math" panose="02040503050406030204" pitchFamily="18" charset="0"/>
                          </a:rPr>
                          <m:t>𝜕</m:t>
                        </m:r>
                        <m:r>
                          <a:rPr lang="da-DK" sz="2200">
                            <a:latin typeface="Cambria Math" panose="02040503050406030204" pitchFamily="18" charset="0"/>
                          </a:rPr>
                          <m:t>𝑤</m:t>
                        </m:r>
                      </m:num>
                      <m:den>
                        <m:r>
                          <a:rPr lang="da-DK" sz="2200">
                            <a:latin typeface="Cambria Math" panose="02040503050406030204" pitchFamily="18" charset="0"/>
                          </a:rPr>
                          <m:t>𝜕</m:t>
                        </m:r>
                        <m:r>
                          <a:rPr lang="da-DK" sz="2200">
                            <a:latin typeface="Cambria Math" panose="02040503050406030204" pitchFamily="18" charset="0"/>
                          </a:rPr>
                          <m:t>𝑡</m:t>
                        </m:r>
                      </m:den>
                    </m:f>
                  </m:oMath>
                </a14:m>
                <a:r>
                  <a:rPr lang="da-DK" sz="2200" dirty="0"/>
                  <a:t> hvis w = f(x, y, z), x = g(s), y = h(s, t) og z = k(t).</a:t>
                </a:r>
              </a:p>
            </p:txBody>
          </p:sp>
        </mc:Choice>
        <mc:Fallback>
          <p:sp>
            <p:nvSpPr>
              <p:cNvPr id="203" name="S203"/>
              <p:cNvSpPr txBox="1">
                <a:spLocks noRot="1" noChangeAspect="1" noMove="1" noResize="1" noEditPoints="1" noAdjustHandles="1" noChangeArrowheads="1" noChangeShapeType="1" noTextEdit="1"/>
              </p:cNvSpPr>
              <p:nvPr/>
            </p:nvSpPr>
            <p:spPr>
              <a:xfrm>
                <a:off x="1071563" y="1776412"/>
                <a:ext cx="5867400" cy="1168400"/>
              </a:xfrm>
              <a:prstGeom prst="rect">
                <a:avLst/>
              </a:prstGeom>
              <a:blipFill>
                <a:blip r:embed="rId2"/>
                <a:stretch>
                  <a:fillRect l="-2808" r="-1728"/>
                </a:stretch>
              </a:blipFill>
              <a:ln>
                <a:noFill/>
              </a:ln>
            </p:spPr>
            <p:txBody>
              <a:bodyPr/>
              <a:lstStyle/>
              <a:p>
                <a:r>
                  <a:rPr lang="en-US">
                    <a:noFill/>
                  </a:rPr>
                  <a:t> </a:t>
                </a:r>
              </a:p>
            </p:txBody>
          </p:sp>
        </mc:Fallback>
      </mc:AlternateContent>
      <p:cxnSp>
        <p:nvCxnSpPr>
          <p:cNvPr id="701" name="C702"/>
          <p:cNvCxnSpPr/>
          <p:nvPr/>
        </p:nvCxnSpPr>
        <p:spPr>
          <a:xfrm flipH="1">
            <a:off x="8585200" y="2705100"/>
            <a:ext cx="939800" cy="889000"/>
          </a:xfrm>
          <a:prstGeom prst="line">
            <a:avLst/>
          </a:prstGeom>
          <a:ln w="9525">
            <a:solidFill>
              <a:srgbClr val="8A93A0"/>
            </a:solidFill>
          </a:ln>
        </p:spPr>
      </p:cxnSp>
      <p:cxnSp>
        <p:nvCxnSpPr>
          <p:cNvPr id="702" name="C703"/>
          <p:cNvCxnSpPr/>
          <p:nvPr/>
        </p:nvCxnSpPr>
        <p:spPr>
          <a:xfrm>
            <a:off x="9525000" y="2705100"/>
            <a:ext cx="0" cy="889000"/>
          </a:xfrm>
          <a:prstGeom prst="line">
            <a:avLst/>
          </a:prstGeom>
          <a:ln w="9525">
            <a:solidFill>
              <a:srgbClr val="8A93A0"/>
            </a:solidFill>
          </a:ln>
        </p:spPr>
      </p:cxnSp>
      <p:cxnSp>
        <p:nvCxnSpPr>
          <p:cNvPr id="703" name="C704"/>
          <p:cNvCxnSpPr/>
          <p:nvPr/>
        </p:nvCxnSpPr>
        <p:spPr>
          <a:xfrm>
            <a:off x="9525000" y="2705100"/>
            <a:ext cx="939800" cy="889000"/>
          </a:xfrm>
          <a:prstGeom prst="line">
            <a:avLst/>
          </a:prstGeom>
          <a:ln w="9525">
            <a:solidFill>
              <a:srgbClr val="8A93A0"/>
            </a:solidFill>
          </a:ln>
        </p:spPr>
      </p:cxnSp>
      <p:cxnSp>
        <p:nvCxnSpPr>
          <p:cNvPr id="704" name="C705"/>
          <p:cNvCxnSpPr/>
          <p:nvPr/>
        </p:nvCxnSpPr>
        <p:spPr>
          <a:xfrm>
            <a:off x="8585200" y="4025900"/>
            <a:ext cx="355600" cy="889000"/>
          </a:xfrm>
          <a:prstGeom prst="line">
            <a:avLst/>
          </a:prstGeom>
          <a:ln w="9525">
            <a:solidFill>
              <a:srgbClr val="8A93A0"/>
            </a:solidFill>
          </a:ln>
        </p:spPr>
      </p:cxnSp>
      <p:cxnSp>
        <p:nvCxnSpPr>
          <p:cNvPr id="705" name="C706"/>
          <p:cNvCxnSpPr/>
          <p:nvPr/>
        </p:nvCxnSpPr>
        <p:spPr>
          <a:xfrm flipH="1">
            <a:off x="8940800" y="4025900"/>
            <a:ext cx="584200" cy="889000"/>
          </a:xfrm>
          <a:prstGeom prst="line">
            <a:avLst/>
          </a:prstGeom>
          <a:ln w="9525">
            <a:solidFill>
              <a:srgbClr val="8A93A0"/>
            </a:solidFill>
          </a:ln>
        </p:spPr>
      </p:cxnSp>
      <p:cxnSp>
        <p:nvCxnSpPr>
          <p:cNvPr id="706" name="C707"/>
          <p:cNvCxnSpPr/>
          <p:nvPr/>
        </p:nvCxnSpPr>
        <p:spPr>
          <a:xfrm>
            <a:off x="9525000" y="4025900"/>
            <a:ext cx="584200" cy="889000"/>
          </a:xfrm>
          <a:prstGeom prst="line">
            <a:avLst/>
          </a:prstGeom>
          <a:ln w="9525">
            <a:solidFill>
              <a:srgbClr val="8A93A0"/>
            </a:solidFill>
          </a:ln>
        </p:spPr>
      </p:cxnSp>
      <p:cxnSp>
        <p:nvCxnSpPr>
          <p:cNvPr id="707" name="C708"/>
          <p:cNvCxnSpPr/>
          <p:nvPr/>
        </p:nvCxnSpPr>
        <p:spPr>
          <a:xfrm flipH="1">
            <a:off x="10109200" y="4025900"/>
            <a:ext cx="355600" cy="889000"/>
          </a:xfrm>
          <a:prstGeom prst="line">
            <a:avLst/>
          </a:prstGeom>
          <a:ln w="9525">
            <a:solidFill>
              <a:srgbClr val="8A93A0"/>
            </a:solidFill>
          </a:ln>
        </p:spPr>
      </p:cxnSp>
      <mc:AlternateContent xmlns:mc="http://schemas.openxmlformats.org/markup-compatibility/2006">
        <mc:Choice xmlns:a14="http://schemas.microsoft.com/office/drawing/2010/main" Requires="a14">
          <p:sp>
            <p:nvSpPr>
              <p:cNvPr id="708" name="G709"/>
              <p:cNvSpPr txBox="1"/>
              <p:nvPr/>
            </p:nvSpPr>
            <p:spPr>
              <a:xfrm>
                <a:off x="9296400" y="23114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𝑤</m:t>
                      </m:r>
                    </m:oMath>
                  </m:oMathPara>
                </a14:m>
                <a:endParaRPr/>
              </a:p>
            </p:txBody>
          </p:sp>
        </mc:Choice>
        <mc:Fallback>
          <p:sp>
            <p:nvSpPr>
              <p:cNvPr id="708" name="G709"/>
              <p:cNvSpPr txBox="1">
                <a:spLocks noRot="1" noChangeAspect="1" noMove="1" noResize="1" noEditPoints="1" noAdjustHandles="1" noChangeArrowheads="1" noChangeShapeType="1" noTextEdit="1"/>
              </p:cNvSpPr>
              <p:nvPr/>
            </p:nvSpPr>
            <p:spPr>
              <a:xfrm>
                <a:off x="9296400" y="2311400"/>
                <a:ext cx="457200" cy="355600"/>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9" name="G710"/>
              <p:cNvSpPr txBox="1"/>
              <p:nvPr/>
            </p:nvSpPr>
            <p:spPr>
              <a:xfrm>
                <a:off x="8356600" y="36322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𝑥</m:t>
                      </m:r>
                    </m:oMath>
                  </m:oMathPara>
                </a14:m>
                <a:endParaRPr/>
              </a:p>
            </p:txBody>
          </p:sp>
        </mc:Choice>
        <mc:Fallback>
          <p:sp>
            <p:nvSpPr>
              <p:cNvPr id="709" name="G710"/>
              <p:cNvSpPr txBox="1">
                <a:spLocks noRot="1" noChangeAspect="1" noMove="1" noResize="1" noEditPoints="1" noAdjustHandles="1" noChangeArrowheads="1" noChangeShapeType="1" noTextEdit="1"/>
              </p:cNvSpPr>
              <p:nvPr/>
            </p:nvSpPr>
            <p:spPr>
              <a:xfrm>
                <a:off x="8356600" y="3632200"/>
                <a:ext cx="457200" cy="3556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0" name="G711"/>
              <p:cNvSpPr txBox="1"/>
              <p:nvPr/>
            </p:nvSpPr>
            <p:spPr>
              <a:xfrm>
                <a:off x="9296400" y="36322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𝑦</m:t>
                      </m:r>
                    </m:oMath>
                  </m:oMathPara>
                </a14:m>
                <a:endParaRPr/>
              </a:p>
            </p:txBody>
          </p:sp>
        </mc:Choice>
        <mc:Fallback>
          <p:sp>
            <p:nvSpPr>
              <p:cNvPr id="710" name="G711"/>
              <p:cNvSpPr txBox="1">
                <a:spLocks noRot="1" noChangeAspect="1" noMove="1" noResize="1" noEditPoints="1" noAdjustHandles="1" noChangeArrowheads="1" noChangeShapeType="1" noTextEdit="1"/>
              </p:cNvSpPr>
              <p:nvPr/>
            </p:nvSpPr>
            <p:spPr>
              <a:xfrm>
                <a:off x="9296400" y="3632200"/>
                <a:ext cx="457200" cy="355600"/>
              </a:xfrm>
              <a:prstGeom prst="rect">
                <a:avLst/>
              </a:prstGeom>
              <a:blipFill>
                <a:blip r:embed="rId5"/>
                <a:stretch>
                  <a:fillRect b="-14286"/>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1" name="G712"/>
              <p:cNvSpPr txBox="1"/>
              <p:nvPr/>
            </p:nvSpPr>
            <p:spPr>
              <a:xfrm>
                <a:off x="10236200" y="36322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𝑧</m:t>
                      </m:r>
                    </m:oMath>
                  </m:oMathPara>
                </a14:m>
                <a:endParaRPr/>
              </a:p>
            </p:txBody>
          </p:sp>
        </mc:Choice>
        <mc:Fallback>
          <p:sp>
            <p:nvSpPr>
              <p:cNvPr id="711" name="G712"/>
              <p:cNvSpPr txBox="1">
                <a:spLocks noRot="1" noChangeAspect="1" noMove="1" noResize="1" noEditPoints="1" noAdjustHandles="1" noChangeArrowheads="1" noChangeShapeType="1" noTextEdit="1"/>
              </p:cNvSpPr>
              <p:nvPr/>
            </p:nvSpPr>
            <p:spPr>
              <a:xfrm>
                <a:off x="10236200" y="3632200"/>
                <a:ext cx="457200" cy="355600"/>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2" name="G713"/>
              <p:cNvSpPr txBox="1"/>
              <p:nvPr/>
            </p:nvSpPr>
            <p:spPr>
              <a:xfrm>
                <a:off x="8712200" y="49530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𝑠</m:t>
                      </m:r>
                    </m:oMath>
                  </m:oMathPara>
                </a14:m>
                <a:endParaRPr/>
              </a:p>
            </p:txBody>
          </p:sp>
        </mc:Choice>
        <mc:Fallback>
          <p:sp>
            <p:nvSpPr>
              <p:cNvPr id="712" name="G713"/>
              <p:cNvSpPr txBox="1">
                <a:spLocks noRot="1" noChangeAspect="1" noMove="1" noResize="1" noEditPoints="1" noAdjustHandles="1" noChangeArrowheads="1" noChangeShapeType="1" noTextEdit="1"/>
              </p:cNvSpPr>
              <p:nvPr/>
            </p:nvSpPr>
            <p:spPr>
              <a:xfrm>
                <a:off x="8712200" y="4953000"/>
                <a:ext cx="457200" cy="355600"/>
              </a:xfrm>
              <a:prstGeom prst="rect">
                <a:avLst/>
              </a:prstGeom>
              <a:blipFill>
                <a:blip r:embed="rId7"/>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3" name="G714"/>
              <p:cNvSpPr txBox="1"/>
              <p:nvPr/>
            </p:nvSpPr>
            <p:spPr>
              <a:xfrm>
                <a:off x="9880600" y="4953000"/>
                <a:ext cx="457200" cy="355600"/>
              </a:xfrm>
              <a:prstGeom prst="rect">
                <a:avLst/>
              </a:prstGeom>
              <a:noFill/>
              <a:ln>
                <a:noFill/>
              </a:ln>
            </p:spPr>
            <p:txBody>
              <a:bodyPr wrap="none" lIns="0" tIns="0" rIns="0" bIns="0" anchor="ctr">
                <a:spAutoFit/>
              </a:bodyPr>
              <a:lstStyle/>
              <a:p>
                <a:pPr algn="ctr">
                  <a:spcBef>
                    <a:spcPts val="0"/>
                  </a:spcBef>
                  <a:buNone/>
                </a:pPr>
                <a14:m>
                  <m:oMathPara xmlns:m="http://schemas.openxmlformats.org/officeDocument/2006/math">
                    <m:oMath>
                      <m:r>
                        <a:rPr lang="da-DK" sz="2000">
                          <a:latin typeface="Cambria Math" panose="02040503050406030204" pitchFamily="18" charset="0"/>
                        </a:rPr>
                        <m:t>𝑡</m:t>
                      </m:r>
                    </m:oMath>
                  </m:oMathPara>
                </a14:m>
                <a:endParaRPr/>
              </a:p>
            </p:txBody>
          </p:sp>
        </mc:Choice>
        <mc:Fallback>
          <p:sp>
            <p:nvSpPr>
              <p:cNvPr id="713" name="G714"/>
              <p:cNvSpPr txBox="1">
                <a:spLocks noRot="1" noChangeAspect="1" noMove="1" noResize="1" noEditPoints="1" noAdjustHandles="1" noChangeArrowheads="1" noChangeShapeType="1" noTextEdit="1"/>
              </p:cNvSpPr>
              <p:nvPr/>
            </p:nvSpPr>
            <p:spPr>
              <a:xfrm>
                <a:off x="9880600" y="4953000"/>
                <a:ext cx="457200" cy="355600"/>
              </a:xfrm>
              <a:prstGeom prst="rect">
                <a:avLst/>
              </a:prstGeom>
              <a:blipFill>
                <a:blip r:embed="rId8"/>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637233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06BFD-8F4A-8A17-3D48-E1164B790295}"/>
              </a:ext>
            </a:extLst>
          </p:cNvPr>
          <p:cNvSpPr>
            <a:spLocks noGrp="1"/>
          </p:cNvSpPr>
          <p:nvPr>
            <p:ph type="title"/>
          </p:nvPr>
        </p:nvSpPr>
        <p:spPr>
          <a:xfrm>
            <a:off x="766763" y="660400"/>
            <a:ext cx="10668000" cy="635000"/>
          </a:xfrm>
        </p:spPr>
        <p:txBody>
          <a:bodyPr/>
          <a:lstStyle/>
          <a:p>
            <a:r>
              <a:rPr lang="da-DK" sz="3200" b="1" dirty="0"/>
              <a:t>GRADIENTVEKTOREN</a:t>
            </a:r>
          </a:p>
        </p:txBody>
      </p:sp>
      <p:sp>
        <p:nvSpPr>
          <p:cNvPr id="4" name="Text Placeholder 3">
            <a:extLst>
              <a:ext uri="{FF2B5EF4-FFF2-40B4-BE49-F238E27FC236}">
                <a16:creationId xmlns:a16="http://schemas.microsoft.com/office/drawing/2014/main" id="{5B785AB1-BB33-1E38-3136-F201B5EBDD33}"/>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930400"/>
            <a:ext cx="10668000" cy="32766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930400"/>
            <a:ext cx="50800" cy="32766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21590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DEFINITION</a:t>
            </a:r>
          </a:p>
        </p:txBody>
      </p:sp>
      <mc:AlternateContent xmlns:mc="http://schemas.openxmlformats.org/markup-compatibility/2006">
        <mc:Choice xmlns:a14="http://schemas.microsoft.com/office/drawing/2010/main" Requires="a14">
          <p:sp>
            <p:nvSpPr>
              <p:cNvPr id="203" name="S203"/>
              <p:cNvSpPr txBox="1"/>
              <p:nvPr/>
            </p:nvSpPr>
            <p:spPr>
              <a:xfrm>
                <a:off x="1071563" y="2514600"/>
                <a:ext cx="10058400" cy="2768600"/>
              </a:xfrm>
              <a:prstGeom prst="rect">
                <a:avLst/>
              </a:prstGeom>
              <a:noFill/>
              <a:ln>
                <a:noFill/>
              </a:ln>
            </p:spPr>
            <p:txBody>
              <a:bodyPr wrap="square" lIns="0" tIns="0" rIns="0" bIns="0">
                <a:noAutofit/>
              </a:bodyPr>
              <a:lstStyle/>
              <a:p>
                <a:pPr algn="l">
                  <a:lnSpc>
                    <a:spcPct val="120000"/>
                  </a:lnSpc>
                  <a:spcBef>
                    <a:spcPts val="0"/>
                  </a:spcBef>
                  <a:buNone/>
                </a:pPr>
                <a:r>
                  <a:rPr lang="da-DK" sz="1700" dirty="0"/>
                  <a:t>Hvis de partielle afledede af </a:t>
                </a:r>
                <a14:m>
                  <m:oMath xmlns:m="http://schemas.openxmlformats.org/officeDocument/2006/math">
                    <m:r>
                      <a:rPr lang="da-DK" sz="1700">
                        <a:latin typeface="Cambria Math" panose="02040503050406030204" pitchFamily="18" charset="0"/>
                      </a:rPr>
                      <m:t>𝑓</m:t>
                    </m:r>
                    <m:r>
                      <a:rPr lang="da-DK" sz="1700">
                        <a:latin typeface="Cambria Math" panose="02040503050406030204" pitchFamily="18" charset="0"/>
                      </a:rPr>
                      <m:t> : </m:t>
                    </m:r>
                    <m:sSup>
                      <m:sSupPr>
                        <m:ctrlPr>
                          <a:rPr lang="da-DK" sz="1700">
                            <a:latin typeface="Cambria Math" panose="02040503050406030204" pitchFamily="18" charset="0"/>
                          </a:rPr>
                        </m:ctrlPr>
                      </m:sSupPr>
                      <m:e>
                        <m:r>
                          <a:rPr lang="da-DK" sz="1700">
                            <a:latin typeface="Cambria Math" panose="02040503050406030204" pitchFamily="18" charset="0"/>
                          </a:rPr>
                          <m:t>ℝ</m:t>
                        </m:r>
                      </m:e>
                      <m:sup>
                        <m:r>
                          <a:rPr lang="da-DK" sz="1700">
                            <a:latin typeface="Cambria Math" panose="02040503050406030204" pitchFamily="18" charset="0"/>
                          </a:rPr>
                          <m:t>𝑛</m:t>
                        </m:r>
                      </m:sup>
                    </m:sSup>
                    <m:r>
                      <a:rPr lang="da-DK" sz="1700">
                        <a:latin typeface="Cambria Math" panose="02040503050406030204" pitchFamily="18" charset="0"/>
                      </a:rPr>
                      <m:t> → </m:t>
                    </m:r>
                    <m:r>
                      <a:rPr lang="da-DK" sz="1700">
                        <a:latin typeface="Cambria Math" panose="02040503050406030204" pitchFamily="18" charset="0"/>
                      </a:rPr>
                      <m:t>ℝ</m:t>
                    </m:r>
                  </m:oMath>
                </a14:m>
                <a:r>
                  <a:rPr lang="da-DK" sz="1700" dirty="0"/>
                  <a:t> eksisterer, så er gradientvektoren </a:t>
                </a:r>
                <a14:m>
                  <m:oMath xmlns:m="http://schemas.openxmlformats.org/officeDocument/2006/math">
                    <m:r>
                      <a:rPr lang="da-DK" sz="1700">
                        <a:latin typeface="Cambria Math" panose="02040503050406030204" pitchFamily="18" charset="0"/>
                      </a:rPr>
                      <m:t>𝛻</m:t>
                    </m:r>
                    <m:r>
                      <a:rPr lang="da-DK" sz="1700">
                        <a:latin typeface="Cambria Math" panose="02040503050406030204" pitchFamily="18" charset="0"/>
                      </a:rPr>
                      <m:t>𝑓</m:t>
                    </m:r>
                    <m:r>
                      <a:rPr lang="da-DK" sz="1700">
                        <a:latin typeface="Cambria Math" panose="02040503050406030204" pitchFamily="18" charset="0"/>
                      </a:rPr>
                      <m:t> : </m:t>
                    </m:r>
                    <m:sSup>
                      <m:sSupPr>
                        <m:ctrlPr>
                          <a:rPr lang="da-DK" sz="1700">
                            <a:latin typeface="Cambria Math" panose="02040503050406030204" pitchFamily="18" charset="0"/>
                          </a:rPr>
                        </m:ctrlPr>
                      </m:sSupPr>
                      <m:e>
                        <m:r>
                          <a:rPr lang="da-DK" sz="1700">
                            <a:latin typeface="Cambria Math" panose="02040503050406030204" pitchFamily="18" charset="0"/>
                          </a:rPr>
                          <m:t>ℝ</m:t>
                        </m:r>
                      </m:e>
                      <m:sup>
                        <m:r>
                          <a:rPr lang="da-DK" sz="1700">
                            <a:latin typeface="Cambria Math" panose="02040503050406030204" pitchFamily="18" charset="0"/>
                          </a:rPr>
                          <m:t>𝑛</m:t>
                        </m:r>
                      </m:sup>
                    </m:sSup>
                    <m:r>
                      <a:rPr lang="da-DK" sz="1700">
                        <a:latin typeface="Cambria Math" panose="02040503050406030204" pitchFamily="18" charset="0"/>
                      </a:rPr>
                      <m:t> → </m:t>
                    </m:r>
                    <m:sSup>
                      <m:sSupPr>
                        <m:ctrlPr>
                          <a:rPr lang="da-DK" sz="1700">
                            <a:latin typeface="Cambria Math" panose="02040503050406030204" pitchFamily="18" charset="0"/>
                          </a:rPr>
                        </m:ctrlPr>
                      </m:sSupPr>
                      <m:e>
                        <m:r>
                          <a:rPr lang="da-DK" sz="1700">
                            <a:latin typeface="Cambria Math" panose="02040503050406030204" pitchFamily="18" charset="0"/>
                          </a:rPr>
                          <m:t>ℝ</m:t>
                        </m:r>
                      </m:e>
                      <m:sup>
                        <m:r>
                          <a:rPr lang="da-DK" sz="1700">
                            <a:latin typeface="Cambria Math" panose="02040503050406030204" pitchFamily="18" charset="0"/>
                          </a:rPr>
                          <m:t>𝑛</m:t>
                        </m:r>
                      </m:sup>
                    </m:sSup>
                  </m:oMath>
                </a14:m>
                <a:r>
                  <a:rPr lang="da-DK" sz="1700" dirty="0"/>
                  <a:t> givet ved</a:t>
                </a:r>
              </a:p>
              <a:p>
                <a:pPr algn="ctr">
                  <a:spcBef>
                    <a:spcPts val="800"/>
                  </a:spcBef>
                  <a:buNone/>
                </a:pPr>
                <a14:m>
                  <m:oMathPara xmlns:m="http://schemas.openxmlformats.org/officeDocument/2006/math">
                    <m:oMath>
                      <m:r>
                        <a:rPr lang="da-DK" sz="1900">
                          <a:latin typeface="Cambria Math" panose="02040503050406030204" pitchFamily="18" charset="0"/>
                        </a:rPr>
                        <m:t>𝛻</m:t>
                      </m:r>
                      <m:r>
                        <a:rPr lang="da-DK" sz="1900">
                          <a:latin typeface="Cambria Math" panose="02040503050406030204" pitchFamily="18" charset="0"/>
                        </a:rPr>
                        <m:t>𝑓</m:t>
                      </m:r>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1</m:t>
                              </m:r>
                            </m:sub>
                          </m:sSub>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2</m:t>
                              </m:r>
                            </m:sub>
                          </m:sSub>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sSub>
                            <m:sSubPr>
                              <m:ctrlPr>
                                <a:rPr lang="da-DK" sz="1900">
                                  <a:latin typeface="Cambria Math" panose="02040503050406030204" pitchFamily="18" charset="0"/>
                                </a:rPr>
                              </m:ctrlPr>
                            </m:sSubPr>
                            <m:e>
                              <m:r>
                                <a:rPr lang="da-DK" sz="1900">
                                  <a:latin typeface="Cambria Math" panose="02040503050406030204" pitchFamily="18" charset="0"/>
                                </a:rPr>
                                <m:t>𝜕</m:t>
                              </m:r>
                              <m:r>
                                <a:rPr lang="da-DK" sz="1900">
                                  <a:latin typeface="Cambria Math" panose="02040503050406030204" pitchFamily="18" charset="0"/>
                                </a:rPr>
                                <m:t>𝑥</m:t>
                              </m:r>
                            </m:e>
                            <m:sub>
                              <m:r>
                                <a:rPr lang="da-DK" sz="1900">
                                  <a:latin typeface="Cambria Math" panose="02040503050406030204" pitchFamily="18" charset="0"/>
                                </a:rPr>
                                <m:t>𝑛</m:t>
                              </m:r>
                            </m:sub>
                          </m:sSub>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oMath>
                  </m:oMathPara>
                </a14:m>
                <a:endParaRPr lang="da-DK" sz="1700" dirty="0"/>
              </a:p>
              <a:p>
                <a:pPr algn="l">
                  <a:lnSpc>
                    <a:spcPct val="115000"/>
                  </a:lnSpc>
                  <a:spcBef>
                    <a:spcPts val="800"/>
                  </a:spcBef>
                  <a:buNone/>
                </a:pPr>
                <a:r>
                  <a:rPr lang="da-DK" sz="1700" dirty="0"/>
                  <a:t>For funktioner af to og tre variable har vi derfor</a:t>
                </a:r>
              </a:p>
              <a:p>
                <a:pPr algn="ctr">
                  <a:spcBef>
                    <a:spcPts val="700"/>
                  </a:spcBef>
                  <a:buNone/>
                </a:pPr>
                <a14:m>
                  <m:oMathPara xmlns:m="http://schemas.openxmlformats.org/officeDocument/2006/math">
                    <m:oMath>
                      <m:r>
                        <a:rPr lang="da-DK" sz="1900">
                          <a:latin typeface="Cambria Math" panose="02040503050406030204" pitchFamily="18" charset="0"/>
                        </a:rPr>
                        <m:t>𝛻</m:t>
                      </m:r>
                      <m:r>
                        <a:rPr lang="da-DK" sz="1900">
                          <a:latin typeface="Cambria Math" panose="02040503050406030204" pitchFamily="18" charset="0"/>
                        </a:rPr>
                        <m:t>𝑓</m:t>
                      </m:r>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𝑥</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𝑦</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oMath>
                  </m:oMathPara>
                </a14:m>
                <a:endParaRPr lang="da-DK" sz="1700" dirty="0"/>
              </a:p>
              <a:p>
                <a:pPr algn="ctr">
                  <a:spcBef>
                    <a:spcPts val="500"/>
                  </a:spcBef>
                  <a:buNone/>
                </a:pPr>
                <a14:m>
                  <m:oMathPara xmlns:m="http://schemas.openxmlformats.org/officeDocument/2006/math">
                    <m:oMath>
                      <m:r>
                        <a:rPr lang="da-DK" sz="1900">
                          <a:latin typeface="Cambria Math" panose="02040503050406030204" pitchFamily="18" charset="0"/>
                        </a:rPr>
                        <m:t>𝛻</m:t>
                      </m:r>
                      <m:r>
                        <a:rPr lang="da-DK" sz="1900">
                          <a:latin typeface="Cambria Math" panose="02040503050406030204" pitchFamily="18" charset="0"/>
                        </a:rPr>
                        <m:t>𝑓</m:t>
                      </m:r>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𝑥</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𝑦</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𝑧</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oMath>
                  </m:oMathPara>
                </a14:m>
                <a:endParaRPr lang="da-DK" sz="1700" dirty="0"/>
              </a:p>
            </p:txBody>
          </p:sp>
        </mc:Choice>
        <mc:Fallback>
          <p:sp>
            <p:nvSpPr>
              <p:cNvPr id="203" name="S203"/>
              <p:cNvSpPr txBox="1">
                <a:spLocks noRot="1" noChangeAspect="1" noMove="1" noResize="1" noEditPoints="1" noAdjustHandles="1" noChangeArrowheads="1" noChangeShapeType="1" noTextEdit="1"/>
              </p:cNvSpPr>
              <p:nvPr/>
            </p:nvSpPr>
            <p:spPr>
              <a:xfrm>
                <a:off x="1071563" y="2514600"/>
                <a:ext cx="10058400" cy="2768600"/>
              </a:xfrm>
              <a:prstGeom prst="rect">
                <a:avLst/>
              </a:prstGeom>
              <a:blipFill>
                <a:blip r:embed="rId2"/>
                <a:stretch>
                  <a:fillRect l="-1387" t="-228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630871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D8FBD-AEEA-041D-F897-057BC5969686}"/>
              </a:ext>
            </a:extLst>
          </p:cNvPr>
          <p:cNvSpPr>
            <a:spLocks noGrp="1"/>
          </p:cNvSpPr>
          <p:nvPr>
            <p:ph type="title"/>
          </p:nvPr>
        </p:nvSpPr>
        <p:spPr>
          <a:xfrm>
            <a:off x="766763" y="660400"/>
            <a:ext cx="10668000" cy="635000"/>
          </a:xfrm>
        </p:spPr>
        <p:txBody>
          <a:bodyPr/>
          <a:lstStyle/>
          <a:p>
            <a:r>
              <a:rPr lang="da-DK" sz="3200" b="1" dirty="0"/>
              <a:t>GRADIENTVEKTOREN</a:t>
            </a:r>
          </a:p>
        </p:txBody>
      </p:sp>
      <p:sp>
        <p:nvSpPr>
          <p:cNvPr id="4" name="Text Placeholder 3">
            <a:extLst>
              <a:ext uri="{FF2B5EF4-FFF2-40B4-BE49-F238E27FC236}">
                <a16:creationId xmlns:a16="http://schemas.microsoft.com/office/drawing/2014/main" id="{20A4D829-38AD-D079-7BEE-E8672D7E41BD}"/>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422400"/>
            <a:ext cx="10668000" cy="304800"/>
          </a:xfrm>
          <a:prstGeom prst="rect">
            <a:avLst/>
          </a:prstGeom>
          <a:noFill/>
          <a:ln>
            <a:noFill/>
          </a:ln>
        </p:spPr>
        <p:txBody>
          <a:bodyPr wrap="square" lIns="0" tIns="0" rIns="0" bIns="0">
            <a:noAutofit/>
          </a:bodyPr>
          <a:lstStyle/>
          <a:p>
            <a:pPr marL="0" indent="0" algn="l">
              <a:lnSpc>
                <a:spcPct val="115000"/>
              </a:lnSpc>
              <a:spcBef>
                <a:spcPts val="500"/>
              </a:spcBef>
              <a:buNone/>
            </a:pPr>
            <a:r>
              <a:rPr lang="da-DK" sz="1700" dirty="0"/>
              <a:t>Bemærk, i bogen bruges følgende notation for gradientvektoren i 2D og 3D:</a:t>
            </a:r>
          </a:p>
        </p:txBody>
      </p:sp>
      <p:sp>
        <p:nvSpPr>
          <p:cNvPr id="201" name="S201"/>
          <p:cNvSpPr txBox="1"/>
          <p:nvPr/>
        </p:nvSpPr>
        <p:spPr>
          <a:xfrm>
            <a:off x="766763" y="1930400"/>
            <a:ext cx="10668000" cy="2057400"/>
          </a:xfrm>
          <a:prstGeom prst="rect">
            <a:avLst/>
          </a:prstGeom>
          <a:solidFill>
            <a:srgbClr val="F4F5F7"/>
          </a:solidFill>
          <a:ln>
            <a:noFill/>
          </a:ln>
        </p:spPr>
        <p:txBody>
          <a:bodyPr wrap="square" lIns="0" tIns="0" rIns="0" bIns="0">
            <a:noAutofit/>
          </a:bodyPr>
          <a:lstStyle/>
          <a:p>
            <a:endParaRPr lang="da-DK"/>
          </a:p>
        </p:txBody>
      </p:sp>
      <p:sp>
        <p:nvSpPr>
          <p:cNvPr id="202" name="S202"/>
          <p:cNvSpPr txBox="1"/>
          <p:nvPr/>
        </p:nvSpPr>
        <p:spPr>
          <a:xfrm>
            <a:off x="766763" y="1930400"/>
            <a:ext cx="50800" cy="2057400"/>
          </a:xfrm>
          <a:prstGeom prst="rect">
            <a:avLst/>
          </a:prstGeom>
          <a:solidFill>
            <a:srgbClr val="211A52"/>
          </a:solidFill>
          <a:ln>
            <a:noFill/>
          </a:ln>
        </p:spPr>
        <p:txBody>
          <a:bodyPr wrap="square" lIns="0" tIns="0" rIns="0" bIns="0">
            <a:noAutofit/>
          </a:bodyPr>
          <a:lstStyle/>
          <a:p>
            <a:endParaRPr lang="da-DK"/>
          </a:p>
        </p:txBody>
      </p:sp>
      <p:sp>
        <p:nvSpPr>
          <p:cNvPr id="203" name="S203"/>
          <p:cNvSpPr txBox="1"/>
          <p:nvPr/>
        </p:nvSpPr>
        <p:spPr>
          <a:xfrm>
            <a:off x="1071563" y="21590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2D</a:t>
            </a:r>
          </a:p>
        </p:txBody>
      </p:sp>
      <mc:AlternateContent xmlns:mc="http://schemas.openxmlformats.org/markup-compatibility/2006">
        <mc:Choice xmlns:a14="http://schemas.microsoft.com/office/drawing/2010/main" Requires="a14">
          <p:sp>
            <p:nvSpPr>
              <p:cNvPr id="204" name="S204"/>
              <p:cNvSpPr txBox="1"/>
              <p:nvPr/>
            </p:nvSpPr>
            <p:spPr>
              <a:xfrm>
                <a:off x="1071563" y="2514600"/>
                <a:ext cx="10058400" cy="965200"/>
              </a:xfrm>
              <a:prstGeom prst="rect">
                <a:avLst/>
              </a:prstGeom>
              <a:noFill/>
              <a:ln>
                <a:noFill/>
              </a:ln>
            </p:spPr>
            <p:txBody>
              <a:bodyPr wrap="square" lIns="0" tIns="0" rIns="0" bIns="0">
                <a:noAutofit/>
              </a:bodyPr>
              <a:lstStyle/>
              <a:p>
                <a:pPr algn="l">
                  <a:lnSpc>
                    <a:spcPct val="120000"/>
                  </a:lnSpc>
                  <a:spcBef>
                    <a:spcPts val="0"/>
                  </a:spcBef>
                  <a:buNone/>
                </a:pPr>
                <a:r>
                  <a:rPr lang="da-DK" sz="1700" dirty="0"/>
                  <a:t>For </a:t>
                </a:r>
                <a14:m>
                  <m:oMath xmlns:m="http://schemas.openxmlformats.org/officeDocument/2006/math">
                    <m:r>
                      <a:rPr lang="da-DK" sz="1700">
                        <a:latin typeface="Cambria Math" panose="02040503050406030204" pitchFamily="18" charset="0"/>
                      </a:rPr>
                      <m:t>𝑓</m:t>
                    </m:r>
                    <m:r>
                      <a:rPr lang="da-DK" sz="1700">
                        <a:latin typeface="Cambria Math" panose="02040503050406030204" pitchFamily="18" charset="0"/>
                      </a:rPr>
                      <m:t> : </m:t>
                    </m:r>
                    <m:sSup>
                      <m:sSupPr>
                        <m:ctrlPr>
                          <a:rPr lang="da-DK" sz="1700">
                            <a:latin typeface="Cambria Math" panose="02040503050406030204" pitchFamily="18" charset="0"/>
                          </a:rPr>
                        </m:ctrlPr>
                      </m:sSupPr>
                      <m:e>
                        <m:r>
                          <a:rPr lang="da-DK" sz="1700">
                            <a:latin typeface="Cambria Math" panose="02040503050406030204" pitchFamily="18" charset="0"/>
                          </a:rPr>
                          <m:t>ℝ</m:t>
                        </m:r>
                      </m:e>
                      <m:sup>
                        <m:r>
                          <a:rPr lang="da-DK" sz="1700">
                            <a:latin typeface="Cambria Math" panose="02040503050406030204" pitchFamily="18" charset="0"/>
                          </a:rPr>
                          <m:t>2</m:t>
                        </m:r>
                      </m:sup>
                    </m:sSup>
                    <m:r>
                      <a:rPr lang="da-DK" sz="1700">
                        <a:latin typeface="Cambria Math" panose="02040503050406030204" pitchFamily="18" charset="0"/>
                      </a:rPr>
                      <m:t> → </m:t>
                    </m:r>
                    <m:r>
                      <a:rPr lang="da-DK" sz="1700">
                        <a:latin typeface="Cambria Math" panose="02040503050406030204" pitchFamily="18" charset="0"/>
                      </a:rPr>
                      <m:t>ℝ</m:t>
                    </m:r>
                  </m:oMath>
                </a14:m>
                <a:r>
                  <a:rPr lang="da-DK" sz="1700" dirty="0"/>
                  <a:t> er gradientvektoren givet ved</a:t>
                </a:r>
              </a:p>
              <a:p>
                <a:pPr algn="ctr">
                  <a:spcBef>
                    <a:spcPts val="400"/>
                  </a:spcBef>
                  <a:buNone/>
                </a:pPr>
                <a14:m>
                  <m:oMathPara xmlns:m="http://schemas.openxmlformats.org/officeDocument/2006/math">
                    <m:oMath>
                      <m:r>
                        <a:rPr lang="da-DK" sz="1900">
                          <a:latin typeface="Cambria Math" panose="02040503050406030204" pitchFamily="18" charset="0"/>
                        </a:rPr>
                        <m:t>𝛻</m:t>
                      </m:r>
                      <m:r>
                        <a:rPr lang="da-DK" sz="1900">
                          <a:latin typeface="Cambria Math" panose="02040503050406030204" pitchFamily="18" charset="0"/>
                        </a:rPr>
                        <m:t>𝑓</m:t>
                      </m:r>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𝑥</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𝑖</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𝑦</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𝑗</m:t>
                      </m:r>
                      <m:r>
                        <a:rPr lang="da-DK" sz="1900">
                          <a:latin typeface="Cambria Math" panose="02040503050406030204" pitchFamily="18" charset="0"/>
                        </a:rPr>
                        <m:t>,</m:t>
                      </m:r>
                    </m:oMath>
                  </m:oMathPara>
                </a14:m>
                <a:endParaRPr lang="da-DK" sz="1700" dirty="0"/>
              </a:p>
              <a:p>
                <a:pPr algn="l">
                  <a:lnSpc>
                    <a:spcPct val="115000"/>
                  </a:lnSpc>
                  <a:spcBef>
                    <a:spcPts val="400"/>
                  </a:spcBef>
                  <a:buNone/>
                </a:pPr>
                <a:r>
                  <a:rPr lang="da-DK" sz="1700" dirty="0"/>
                  <a:t>hvor i = ⟨1, 0⟩ og j = ⟨0, 1⟩.</a:t>
                </a:r>
              </a:p>
            </p:txBody>
          </p:sp>
        </mc:Choice>
        <mc:Fallback>
          <p:sp>
            <p:nvSpPr>
              <p:cNvPr id="204" name="S204"/>
              <p:cNvSpPr txBox="1">
                <a:spLocks noRot="1" noChangeAspect="1" noMove="1" noResize="1" noEditPoints="1" noAdjustHandles="1" noChangeArrowheads="1" noChangeShapeType="1" noTextEdit="1"/>
              </p:cNvSpPr>
              <p:nvPr/>
            </p:nvSpPr>
            <p:spPr>
              <a:xfrm>
                <a:off x="1071563" y="2514600"/>
                <a:ext cx="10058400" cy="965200"/>
              </a:xfrm>
              <a:prstGeom prst="rect">
                <a:avLst/>
              </a:prstGeom>
              <a:blipFill>
                <a:blip r:embed="rId2"/>
                <a:stretch>
                  <a:fillRect l="-1387" t="-6494" b="-41558"/>
                </a:stretch>
              </a:blipFill>
              <a:ln>
                <a:noFill/>
              </a:ln>
            </p:spPr>
            <p:txBody>
              <a:bodyPr/>
              <a:lstStyle/>
              <a:p>
                <a:r>
                  <a:rPr lang="en-US">
                    <a:noFill/>
                  </a:rPr>
                  <a:t> </a:t>
                </a:r>
              </a:p>
            </p:txBody>
          </p:sp>
        </mc:Fallback>
      </mc:AlternateContent>
      <p:sp>
        <p:nvSpPr>
          <p:cNvPr id="205" name="S205"/>
          <p:cNvSpPr txBox="1"/>
          <p:nvPr/>
        </p:nvSpPr>
        <p:spPr>
          <a:xfrm>
            <a:off x="766763" y="3886200"/>
            <a:ext cx="10668000" cy="2133600"/>
          </a:xfrm>
          <a:prstGeom prst="rect">
            <a:avLst/>
          </a:prstGeom>
          <a:solidFill>
            <a:srgbClr val="F4F5F7"/>
          </a:solidFill>
          <a:ln>
            <a:noFill/>
          </a:ln>
        </p:spPr>
        <p:txBody>
          <a:bodyPr wrap="square" lIns="0" tIns="0" rIns="0" bIns="0">
            <a:noAutofit/>
          </a:bodyPr>
          <a:lstStyle/>
          <a:p>
            <a:endParaRPr lang="da-DK"/>
          </a:p>
        </p:txBody>
      </p:sp>
      <p:sp>
        <p:nvSpPr>
          <p:cNvPr id="206" name="S206"/>
          <p:cNvSpPr txBox="1"/>
          <p:nvPr/>
        </p:nvSpPr>
        <p:spPr>
          <a:xfrm>
            <a:off x="766763" y="3886200"/>
            <a:ext cx="50800" cy="2133600"/>
          </a:xfrm>
          <a:prstGeom prst="rect">
            <a:avLst/>
          </a:prstGeom>
          <a:solidFill>
            <a:srgbClr val="211A52"/>
          </a:solidFill>
          <a:ln>
            <a:noFill/>
          </a:ln>
        </p:spPr>
        <p:txBody>
          <a:bodyPr wrap="square" lIns="0" tIns="0" rIns="0" bIns="0">
            <a:noAutofit/>
          </a:bodyPr>
          <a:lstStyle/>
          <a:p>
            <a:endParaRPr lang="da-DK"/>
          </a:p>
        </p:txBody>
      </p:sp>
      <p:sp>
        <p:nvSpPr>
          <p:cNvPr id="207" name="S207"/>
          <p:cNvSpPr txBox="1"/>
          <p:nvPr/>
        </p:nvSpPr>
        <p:spPr>
          <a:xfrm>
            <a:off x="1071563" y="41148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3D</a:t>
            </a:r>
          </a:p>
        </p:txBody>
      </p:sp>
      <mc:AlternateContent xmlns:mc="http://schemas.openxmlformats.org/markup-compatibility/2006">
        <mc:Choice xmlns:a14="http://schemas.microsoft.com/office/drawing/2010/main" Requires="a14">
          <p:sp>
            <p:nvSpPr>
              <p:cNvPr id="208" name="S208"/>
              <p:cNvSpPr txBox="1"/>
              <p:nvPr/>
            </p:nvSpPr>
            <p:spPr>
              <a:xfrm>
                <a:off x="1071563" y="4470400"/>
                <a:ext cx="10058400" cy="1092200"/>
              </a:xfrm>
              <a:prstGeom prst="rect">
                <a:avLst/>
              </a:prstGeom>
              <a:noFill/>
              <a:ln>
                <a:noFill/>
              </a:ln>
            </p:spPr>
            <p:txBody>
              <a:bodyPr wrap="square" lIns="0" tIns="0" rIns="0" bIns="0">
                <a:noAutofit/>
              </a:bodyPr>
              <a:lstStyle/>
              <a:p>
                <a:pPr algn="l">
                  <a:lnSpc>
                    <a:spcPct val="120000"/>
                  </a:lnSpc>
                  <a:spcBef>
                    <a:spcPts val="0"/>
                  </a:spcBef>
                  <a:buNone/>
                </a:pPr>
                <a:r>
                  <a:rPr lang="da-DK" sz="1700" dirty="0"/>
                  <a:t>For </a:t>
                </a:r>
                <a14:m>
                  <m:oMath xmlns:m="http://schemas.openxmlformats.org/officeDocument/2006/math">
                    <m:r>
                      <a:rPr lang="da-DK" sz="1700">
                        <a:latin typeface="Cambria Math" panose="02040503050406030204" pitchFamily="18" charset="0"/>
                      </a:rPr>
                      <m:t>𝑓</m:t>
                    </m:r>
                    <m:r>
                      <a:rPr lang="da-DK" sz="1700">
                        <a:latin typeface="Cambria Math" panose="02040503050406030204" pitchFamily="18" charset="0"/>
                      </a:rPr>
                      <m:t> : </m:t>
                    </m:r>
                    <m:sSup>
                      <m:sSupPr>
                        <m:ctrlPr>
                          <a:rPr lang="da-DK" sz="1700">
                            <a:latin typeface="Cambria Math" panose="02040503050406030204" pitchFamily="18" charset="0"/>
                          </a:rPr>
                        </m:ctrlPr>
                      </m:sSupPr>
                      <m:e>
                        <m:r>
                          <a:rPr lang="da-DK" sz="1700">
                            <a:latin typeface="Cambria Math" panose="02040503050406030204" pitchFamily="18" charset="0"/>
                          </a:rPr>
                          <m:t>ℝ</m:t>
                        </m:r>
                      </m:e>
                      <m:sup>
                        <m:r>
                          <a:rPr lang="da-DK" sz="1700">
                            <a:latin typeface="Cambria Math" panose="02040503050406030204" pitchFamily="18" charset="0"/>
                          </a:rPr>
                          <m:t>3</m:t>
                        </m:r>
                      </m:sup>
                    </m:sSup>
                    <m:r>
                      <a:rPr lang="da-DK" sz="1700">
                        <a:latin typeface="Cambria Math" panose="02040503050406030204" pitchFamily="18" charset="0"/>
                      </a:rPr>
                      <m:t> → </m:t>
                    </m:r>
                    <m:r>
                      <a:rPr lang="da-DK" sz="1700">
                        <a:latin typeface="Cambria Math" panose="02040503050406030204" pitchFamily="18" charset="0"/>
                      </a:rPr>
                      <m:t>ℝ</m:t>
                    </m:r>
                  </m:oMath>
                </a14:m>
                <a:r>
                  <a:rPr lang="da-DK" sz="1700" dirty="0"/>
                  <a:t> er gradientvektoren givet ved</a:t>
                </a:r>
              </a:p>
              <a:p>
                <a:pPr algn="ctr">
                  <a:spcBef>
                    <a:spcPts val="400"/>
                  </a:spcBef>
                  <a:buNone/>
                </a:pPr>
                <a14:m>
                  <m:oMathPara xmlns:m="http://schemas.openxmlformats.org/officeDocument/2006/math">
                    <m:oMath>
                      <m:r>
                        <a:rPr lang="da-DK" sz="1900">
                          <a:latin typeface="Cambria Math" panose="02040503050406030204" pitchFamily="18" charset="0"/>
                        </a:rPr>
                        <m:t>𝛻</m:t>
                      </m:r>
                      <m:r>
                        <a:rPr lang="da-DK" sz="1900">
                          <a:latin typeface="Cambria Math" panose="02040503050406030204" pitchFamily="18" charset="0"/>
                        </a:rPr>
                        <m:t>𝑓</m:t>
                      </m:r>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𝑥</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r>
                        <a:rPr lang="da-DK" sz="1900">
                          <a:latin typeface="Cambria Math" panose="02040503050406030204" pitchFamily="18" charset="0"/>
                        </a:rPr>
                        <m:t>𝑖</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𝑦</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r>
                        <a:rPr lang="da-DK" sz="1900">
                          <a:latin typeface="Cambria Math" panose="02040503050406030204" pitchFamily="18" charset="0"/>
                        </a:rPr>
                        <m:t>𝑗</m:t>
                      </m:r>
                      <m:r>
                        <a:rPr lang="da-DK" sz="1900">
                          <a:latin typeface="Cambria Math" panose="02040503050406030204" pitchFamily="18" charset="0"/>
                        </a:rPr>
                        <m:t> + </m:t>
                      </m:r>
                      <m:f>
                        <m:fPr>
                          <m:ctrlPr>
                            <a:rPr lang="da-DK" sz="1900">
                              <a:latin typeface="Cambria Math" panose="02040503050406030204" pitchFamily="18" charset="0"/>
                            </a:rPr>
                          </m:ctrlPr>
                        </m:fPr>
                        <m:num>
                          <m:r>
                            <a:rPr lang="da-DK" sz="1900">
                              <a:latin typeface="Cambria Math" panose="02040503050406030204" pitchFamily="18" charset="0"/>
                            </a:rPr>
                            <m:t>𝜕</m:t>
                          </m:r>
                          <m:r>
                            <a:rPr lang="da-DK" sz="1900">
                              <a:latin typeface="Cambria Math" panose="02040503050406030204" pitchFamily="18" charset="0"/>
                            </a:rPr>
                            <m:t>𝑓</m:t>
                          </m:r>
                        </m:num>
                        <m:den>
                          <m:r>
                            <a:rPr lang="da-DK" sz="1900">
                              <a:latin typeface="Cambria Math" panose="02040503050406030204" pitchFamily="18" charset="0"/>
                            </a:rPr>
                            <m:t>𝜕</m:t>
                          </m:r>
                          <m:r>
                            <a:rPr lang="da-DK" sz="1900">
                              <a:latin typeface="Cambria Math" panose="02040503050406030204" pitchFamily="18" charset="0"/>
                            </a:rPr>
                            <m:t>𝑧</m:t>
                          </m:r>
                        </m:den>
                      </m:f>
                      <m:r>
                        <a:rPr lang="da-DK" sz="1900">
                          <a:latin typeface="Cambria Math" panose="02040503050406030204" pitchFamily="18" charset="0"/>
                        </a:rPr>
                        <m:t>(</m:t>
                      </m:r>
                      <m:r>
                        <a:rPr lang="da-DK" sz="1900">
                          <a:latin typeface="Cambria Math" panose="02040503050406030204" pitchFamily="18" charset="0"/>
                        </a:rPr>
                        <m:t>𝑥</m:t>
                      </m:r>
                      <m:r>
                        <a:rPr lang="da-DK" sz="1900">
                          <a:latin typeface="Cambria Math" panose="02040503050406030204" pitchFamily="18" charset="0"/>
                        </a:rPr>
                        <m:t>, </m:t>
                      </m:r>
                      <m:r>
                        <a:rPr lang="da-DK" sz="1900">
                          <a:latin typeface="Cambria Math" panose="02040503050406030204" pitchFamily="18" charset="0"/>
                        </a:rPr>
                        <m:t>𝑦</m:t>
                      </m:r>
                      <m:r>
                        <a:rPr lang="da-DK" sz="1900">
                          <a:latin typeface="Cambria Math" panose="02040503050406030204" pitchFamily="18" charset="0"/>
                        </a:rPr>
                        <m:t>, </m:t>
                      </m:r>
                      <m:r>
                        <a:rPr lang="da-DK" sz="1900">
                          <a:latin typeface="Cambria Math" panose="02040503050406030204" pitchFamily="18" charset="0"/>
                        </a:rPr>
                        <m:t>𝑧</m:t>
                      </m:r>
                      <m:r>
                        <a:rPr lang="da-DK" sz="1900">
                          <a:latin typeface="Cambria Math" panose="02040503050406030204" pitchFamily="18" charset="0"/>
                        </a:rPr>
                        <m:t>) </m:t>
                      </m:r>
                      <m:r>
                        <a:rPr lang="da-DK" sz="1900">
                          <a:latin typeface="Cambria Math" panose="02040503050406030204" pitchFamily="18" charset="0"/>
                        </a:rPr>
                        <m:t>𝑘</m:t>
                      </m:r>
                      <m:r>
                        <a:rPr lang="da-DK" sz="1900">
                          <a:latin typeface="Cambria Math" panose="02040503050406030204" pitchFamily="18" charset="0"/>
                        </a:rPr>
                        <m:t>,</m:t>
                      </m:r>
                    </m:oMath>
                  </m:oMathPara>
                </a14:m>
                <a:endParaRPr lang="da-DK" sz="1700" dirty="0"/>
              </a:p>
              <a:p>
                <a:pPr algn="l">
                  <a:lnSpc>
                    <a:spcPct val="115000"/>
                  </a:lnSpc>
                  <a:spcBef>
                    <a:spcPts val="400"/>
                  </a:spcBef>
                  <a:buNone/>
                </a:pPr>
                <a:r>
                  <a:rPr lang="da-DK" sz="1700" dirty="0"/>
                  <a:t>hvor i = ⟨1, 0, 0⟩, j = ⟨0, 1, 0⟩, k = ⟨0, 0, 1⟩.</a:t>
                </a:r>
              </a:p>
            </p:txBody>
          </p:sp>
        </mc:Choice>
        <mc:Fallback>
          <p:sp>
            <p:nvSpPr>
              <p:cNvPr id="208" name="S208"/>
              <p:cNvSpPr txBox="1">
                <a:spLocks noRot="1" noChangeAspect="1" noMove="1" noResize="1" noEditPoints="1" noAdjustHandles="1" noChangeArrowheads="1" noChangeShapeType="1" noTextEdit="1"/>
              </p:cNvSpPr>
              <p:nvPr/>
            </p:nvSpPr>
            <p:spPr>
              <a:xfrm>
                <a:off x="1071563" y="4470400"/>
                <a:ext cx="10058400" cy="1092200"/>
              </a:xfrm>
              <a:prstGeom prst="rect">
                <a:avLst/>
              </a:prstGeom>
              <a:blipFill>
                <a:blip r:embed="rId3"/>
                <a:stretch>
                  <a:fillRect l="-1387" t="-3409" b="-2500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466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4D036-C919-FA71-3940-3243D980A90E}"/>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8469583E-0701-7033-5485-80789D257CB6}"/>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57237" y="1397000"/>
            <a:ext cx="10668000" cy="15240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397000"/>
            <a:ext cx="50800" cy="15240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6129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p:sp>
        <p:nvSpPr>
          <p:cNvPr id="203" name="S203"/>
          <p:cNvSpPr txBox="1"/>
          <p:nvPr/>
        </p:nvSpPr>
        <p:spPr>
          <a:xfrm>
            <a:off x="1071563" y="2025650"/>
            <a:ext cx="10058400" cy="711200"/>
          </a:xfrm>
          <a:prstGeom prst="rect">
            <a:avLst/>
          </a:prstGeom>
          <a:noFill/>
          <a:ln>
            <a:noFill/>
          </a:ln>
        </p:spPr>
        <p:txBody>
          <a:bodyPr wrap="square" lIns="0" tIns="0" rIns="0" bIns="0">
            <a:noAutofit/>
          </a:bodyPr>
          <a:lstStyle/>
          <a:p>
            <a:pPr marL="0" indent="0" algn="l">
              <a:lnSpc>
                <a:spcPct val="115000"/>
              </a:lnSpc>
              <a:spcBef>
                <a:spcPts val="500"/>
              </a:spcBef>
              <a:buNone/>
            </a:pPr>
            <a:r>
              <a:rPr lang="da-DK" sz="2200" dirty="0"/>
              <a:t>Lad f(x, y, z) = xye</a:t>
            </a:r>
            <a:r>
              <a:rPr lang="da-DK" sz="2200" baseline="30000" dirty="0"/>
              <a:t>x²+z²−5</a:t>
            </a:r>
            <a:r>
              <a:rPr lang="da-DK" sz="2200" dirty="0"/>
              <a:t> og bestem ∇f(1, 3, −2).</a:t>
            </a:r>
          </a:p>
        </p:txBody>
      </p:sp>
    </p:spTree>
    <p:extLst>
      <p:ext uri="{BB962C8B-B14F-4D97-AF65-F5344CB8AC3E}">
        <p14:creationId xmlns:p14="http://schemas.microsoft.com/office/powerpoint/2010/main" val="1770418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BC42-A8F2-F847-365D-DA7CC64AEF40}"/>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92999308-6265-B7A4-82BA-FD991A8D8CDE}"/>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778000"/>
            <a:ext cx="10668000" cy="12192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778000"/>
            <a:ext cx="50800" cy="12192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20066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p:sp>
        <p:nvSpPr>
          <p:cNvPr id="203" name="S203"/>
          <p:cNvSpPr txBox="1"/>
          <p:nvPr/>
        </p:nvSpPr>
        <p:spPr>
          <a:xfrm>
            <a:off x="1071563" y="2362200"/>
            <a:ext cx="10058400" cy="406400"/>
          </a:xfrm>
          <a:prstGeom prst="rect">
            <a:avLst/>
          </a:prstGeom>
          <a:noFill/>
          <a:ln>
            <a:noFill/>
          </a:ln>
        </p:spPr>
        <p:txBody>
          <a:bodyPr wrap="square" lIns="0" tIns="0" rIns="0" bIns="0">
            <a:noAutofit/>
          </a:bodyPr>
          <a:lstStyle/>
          <a:p>
            <a:pPr marL="0" indent="0" algn="l">
              <a:lnSpc>
                <a:spcPct val="115000"/>
              </a:lnSpc>
              <a:spcBef>
                <a:spcPts val="500"/>
              </a:spcBef>
              <a:buNone/>
            </a:pPr>
            <a:r>
              <a:rPr lang="da-DK" sz="1700" dirty="0"/>
              <a:t>Lad f(x, y, z) = xye</a:t>
            </a:r>
            <a:r>
              <a:rPr lang="da-DK" sz="1700" baseline="30000" dirty="0"/>
              <a:t>x²+z²−5</a:t>
            </a:r>
            <a:r>
              <a:rPr lang="da-DK" sz="1700" dirty="0"/>
              <a:t> og bestem ∇f(1, 3, −2).</a:t>
            </a:r>
          </a:p>
        </p:txBody>
      </p:sp>
      <p:sp>
        <p:nvSpPr>
          <p:cNvPr id="204" name="S204"/>
          <p:cNvSpPr txBox="1"/>
          <p:nvPr/>
        </p:nvSpPr>
        <p:spPr>
          <a:xfrm>
            <a:off x="766763" y="3200400"/>
            <a:ext cx="10668000" cy="2286000"/>
          </a:xfrm>
          <a:prstGeom prst="rect">
            <a:avLst/>
          </a:prstGeom>
          <a:solidFill>
            <a:srgbClr val="F4F5F7"/>
          </a:solidFill>
          <a:ln>
            <a:noFill/>
          </a:ln>
        </p:spPr>
        <p:txBody>
          <a:bodyPr wrap="square" lIns="0" tIns="0" rIns="0" bIns="0">
            <a:noAutofit/>
          </a:bodyPr>
          <a:lstStyle/>
          <a:p>
            <a:endParaRPr lang="da-DK"/>
          </a:p>
        </p:txBody>
      </p:sp>
      <p:sp>
        <p:nvSpPr>
          <p:cNvPr id="205" name="S205"/>
          <p:cNvSpPr txBox="1"/>
          <p:nvPr/>
        </p:nvSpPr>
        <p:spPr>
          <a:xfrm>
            <a:off x="766763" y="3200400"/>
            <a:ext cx="50800" cy="2286000"/>
          </a:xfrm>
          <a:prstGeom prst="rect">
            <a:avLst/>
          </a:prstGeom>
          <a:solidFill>
            <a:srgbClr val="211A52"/>
          </a:solidFill>
          <a:ln>
            <a:noFill/>
          </a:ln>
        </p:spPr>
        <p:txBody>
          <a:bodyPr wrap="square" lIns="0" tIns="0" rIns="0" bIns="0">
            <a:noAutofit/>
          </a:bodyPr>
          <a:lstStyle/>
          <a:p>
            <a:endParaRPr lang="da-DK"/>
          </a:p>
        </p:txBody>
      </p:sp>
      <p:sp>
        <p:nvSpPr>
          <p:cNvPr id="206" name="S206"/>
          <p:cNvSpPr txBox="1"/>
          <p:nvPr/>
        </p:nvSpPr>
        <p:spPr>
          <a:xfrm>
            <a:off x="1071563" y="34290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LØSNING</a:t>
            </a:r>
          </a:p>
        </p:txBody>
      </p:sp>
      <mc:AlternateContent xmlns:mc="http://schemas.openxmlformats.org/markup-compatibility/2006">
        <mc:Choice xmlns:a14="http://schemas.microsoft.com/office/drawing/2010/main" Requires="a14">
          <p:sp>
            <p:nvSpPr>
              <p:cNvPr id="207" name="S207"/>
              <p:cNvSpPr txBox="1"/>
              <p:nvPr/>
            </p:nvSpPr>
            <p:spPr>
              <a:xfrm>
                <a:off x="1071563" y="3784600"/>
                <a:ext cx="10058400" cy="1955800"/>
              </a:xfrm>
              <a:prstGeom prst="rect">
                <a:avLst/>
              </a:prstGeom>
              <a:noFill/>
              <a:ln>
                <a:noFill/>
              </a:ln>
            </p:spPr>
            <p:txBody>
              <a:bodyPr wrap="square" lIns="0" tIns="0" rIns="0" bIns="0">
                <a:noAutofit/>
              </a:bodyPr>
              <a:lstStyle/>
              <a:p>
                <a:pPr algn="l">
                  <a:lnSpc>
                    <a:spcPct val="115000"/>
                  </a:lnSpc>
                  <a:spcBef>
                    <a:spcPts val="0"/>
                  </a:spcBef>
                  <a:buNone/>
                </a:pPr>
                <a:r>
                  <a:rPr lang="da-DK" sz="1600" dirty="0"/>
                  <a:t>Vi bestemmer først gradientvektoren</a:t>
                </a:r>
              </a:p>
              <a:p>
                <a:pPr algn="ctr">
                  <a:spcBef>
                    <a:spcPts val="500"/>
                  </a:spcBef>
                  <a:buNone/>
                </a:pPr>
                <a14:m>
                  <m:oMathPara xmlns:m="http://schemas.openxmlformats.org/officeDocument/2006/math">
                    <m:oMath>
                      <m:r>
                        <a:rPr lang="da-DK" sz="1700">
                          <a:latin typeface="Cambria Math" panose="02040503050406030204" pitchFamily="18" charset="0"/>
                        </a:rPr>
                        <m:t>𝛻</m:t>
                      </m:r>
                      <m:r>
                        <a:rPr lang="da-DK" sz="1700">
                          <a:latin typeface="Cambria Math" panose="02040503050406030204" pitchFamily="18" charset="0"/>
                        </a:rPr>
                        <m:t>𝑓</m:t>
                      </m:r>
                      <m:r>
                        <a:rPr lang="da-DK" sz="1700">
                          <a:latin typeface="Cambria Math" panose="02040503050406030204" pitchFamily="18" charset="0"/>
                        </a:rPr>
                        <m:t>(</m:t>
                      </m:r>
                      <m:r>
                        <a:rPr lang="da-DK" sz="1700">
                          <a:latin typeface="Cambria Math" panose="02040503050406030204" pitchFamily="18" charset="0"/>
                        </a:rPr>
                        <m:t>𝑥</m:t>
                      </m:r>
                      <m:r>
                        <a:rPr lang="da-DK" sz="1700">
                          <a:latin typeface="Cambria Math" panose="02040503050406030204" pitchFamily="18" charset="0"/>
                        </a:rPr>
                        <m:t>, </m:t>
                      </m:r>
                      <m:r>
                        <a:rPr lang="da-DK" sz="1700">
                          <a:latin typeface="Cambria Math" panose="02040503050406030204" pitchFamily="18" charset="0"/>
                        </a:rPr>
                        <m:t>𝑦</m:t>
                      </m:r>
                      <m:r>
                        <a:rPr lang="da-DK" sz="1700">
                          <a:latin typeface="Cambria Math" panose="02040503050406030204" pitchFamily="18" charset="0"/>
                        </a:rPr>
                        <m:t>, </m:t>
                      </m:r>
                      <m:r>
                        <a:rPr lang="da-DK" sz="1700">
                          <a:latin typeface="Cambria Math" panose="02040503050406030204" pitchFamily="18" charset="0"/>
                        </a:rPr>
                        <m:t>𝑧</m:t>
                      </m:r>
                      <m:r>
                        <a:rPr lang="da-DK" sz="1700">
                          <a:latin typeface="Cambria Math" panose="02040503050406030204" pitchFamily="18" charset="0"/>
                        </a:rPr>
                        <m:t>) = ⟨</m:t>
                      </m:r>
                      <m:r>
                        <a:rPr lang="da-DK" sz="1700">
                          <a:latin typeface="Cambria Math" panose="02040503050406030204" pitchFamily="18" charset="0"/>
                        </a:rPr>
                        <m:t>𝑦</m:t>
                      </m:r>
                      <m:sSup>
                        <m:sSupPr>
                          <m:ctrlPr>
                            <a:rPr lang="da-DK" sz="1700">
                              <a:latin typeface="Cambria Math" panose="02040503050406030204" pitchFamily="18" charset="0"/>
                            </a:rPr>
                          </m:ctrlPr>
                        </m:sSupPr>
                        <m:e>
                          <m:r>
                            <a:rPr lang="da-DK" sz="1700">
                              <a:latin typeface="Cambria Math" panose="02040503050406030204" pitchFamily="18" charset="0"/>
                            </a:rPr>
                            <m:t>𝑒</m:t>
                          </m:r>
                        </m:e>
                        <m:sup>
                          <m:sSup>
                            <m:sSupPr>
                              <m:ctrlPr>
                                <a:rPr lang="da-DK" sz="1700">
                                  <a:latin typeface="Cambria Math" panose="02040503050406030204" pitchFamily="18" charset="0"/>
                                </a:rPr>
                              </m:ctrlPr>
                            </m:sSupPr>
                            <m:e>
                              <m:r>
                                <a:rPr lang="da-DK" sz="1700">
                                  <a:latin typeface="Cambria Math" panose="02040503050406030204" pitchFamily="18" charset="0"/>
                                </a:rPr>
                                <m:t>𝑥</m:t>
                              </m:r>
                            </m:e>
                            <m:sup>
                              <m:r>
                                <a:rPr lang="da-DK" sz="1700">
                                  <a:latin typeface="Cambria Math" panose="02040503050406030204" pitchFamily="18" charset="0"/>
                                </a:rPr>
                                <m:t>2</m:t>
                              </m:r>
                            </m:sup>
                          </m:sSup>
                          <m:r>
                            <a:rPr lang="da-DK" sz="1700">
                              <a:latin typeface="Cambria Math" panose="02040503050406030204" pitchFamily="18" charset="0"/>
                            </a:rPr>
                            <m:t>+</m:t>
                          </m:r>
                          <m:sSup>
                            <m:sSupPr>
                              <m:ctrlPr>
                                <a:rPr lang="da-DK" sz="1700">
                                  <a:latin typeface="Cambria Math" panose="02040503050406030204" pitchFamily="18" charset="0"/>
                                </a:rPr>
                              </m:ctrlPr>
                            </m:sSupPr>
                            <m:e>
                              <m:r>
                                <a:rPr lang="da-DK" sz="1700">
                                  <a:latin typeface="Cambria Math" panose="02040503050406030204" pitchFamily="18" charset="0"/>
                                </a:rPr>
                                <m:t>𝑧</m:t>
                              </m:r>
                            </m:e>
                            <m:sup>
                              <m:r>
                                <a:rPr lang="da-DK" sz="1700">
                                  <a:latin typeface="Cambria Math" panose="02040503050406030204" pitchFamily="18" charset="0"/>
                                </a:rPr>
                                <m:t>2</m:t>
                              </m:r>
                            </m:sup>
                          </m:sSup>
                          <m:r>
                            <a:rPr lang="da-DK" sz="1700">
                              <a:latin typeface="Cambria Math" panose="02040503050406030204" pitchFamily="18" charset="0"/>
                            </a:rPr>
                            <m:t>−5</m:t>
                          </m:r>
                        </m:sup>
                      </m:sSup>
                      <m:r>
                        <a:rPr lang="da-DK" sz="1700">
                          <a:latin typeface="Cambria Math" panose="02040503050406030204" pitchFamily="18" charset="0"/>
                        </a:rPr>
                        <m:t> + 2</m:t>
                      </m:r>
                      <m:sSup>
                        <m:sSupPr>
                          <m:ctrlPr>
                            <a:rPr lang="da-DK" sz="1700">
                              <a:latin typeface="Cambria Math" panose="02040503050406030204" pitchFamily="18" charset="0"/>
                            </a:rPr>
                          </m:ctrlPr>
                        </m:sSupPr>
                        <m:e>
                          <m:r>
                            <a:rPr lang="da-DK" sz="1700">
                              <a:latin typeface="Cambria Math" panose="02040503050406030204" pitchFamily="18" charset="0"/>
                            </a:rPr>
                            <m:t>𝑥</m:t>
                          </m:r>
                        </m:e>
                        <m:sup>
                          <m:r>
                            <a:rPr lang="da-DK" sz="1700">
                              <a:latin typeface="Cambria Math" panose="02040503050406030204" pitchFamily="18" charset="0"/>
                            </a:rPr>
                            <m:t>2</m:t>
                          </m:r>
                        </m:sup>
                      </m:sSup>
                      <m:r>
                        <a:rPr lang="da-DK" sz="1700">
                          <a:latin typeface="Cambria Math" panose="02040503050406030204" pitchFamily="18" charset="0"/>
                        </a:rPr>
                        <m:t>𝑦</m:t>
                      </m:r>
                      <m:sSup>
                        <m:sSupPr>
                          <m:ctrlPr>
                            <a:rPr lang="da-DK" sz="1700">
                              <a:latin typeface="Cambria Math" panose="02040503050406030204" pitchFamily="18" charset="0"/>
                            </a:rPr>
                          </m:ctrlPr>
                        </m:sSupPr>
                        <m:e>
                          <m:r>
                            <a:rPr lang="da-DK" sz="1700">
                              <a:latin typeface="Cambria Math" panose="02040503050406030204" pitchFamily="18" charset="0"/>
                            </a:rPr>
                            <m:t>𝑒</m:t>
                          </m:r>
                        </m:e>
                        <m:sup>
                          <m:sSup>
                            <m:sSupPr>
                              <m:ctrlPr>
                                <a:rPr lang="da-DK" sz="1700">
                                  <a:latin typeface="Cambria Math" panose="02040503050406030204" pitchFamily="18" charset="0"/>
                                </a:rPr>
                              </m:ctrlPr>
                            </m:sSupPr>
                            <m:e>
                              <m:r>
                                <a:rPr lang="da-DK" sz="1700">
                                  <a:latin typeface="Cambria Math" panose="02040503050406030204" pitchFamily="18" charset="0"/>
                                </a:rPr>
                                <m:t>𝑥</m:t>
                              </m:r>
                            </m:e>
                            <m:sup>
                              <m:r>
                                <a:rPr lang="da-DK" sz="1700">
                                  <a:latin typeface="Cambria Math" panose="02040503050406030204" pitchFamily="18" charset="0"/>
                                </a:rPr>
                                <m:t>2</m:t>
                              </m:r>
                            </m:sup>
                          </m:sSup>
                          <m:r>
                            <a:rPr lang="da-DK" sz="1700">
                              <a:latin typeface="Cambria Math" panose="02040503050406030204" pitchFamily="18" charset="0"/>
                            </a:rPr>
                            <m:t>+</m:t>
                          </m:r>
                          <m:sSup>
                            <m:sSupPr>
                              <m:ctrlPr>
                                <a:rPr lang="da-DK" sz="1700">
                                  <a:latin typeface="Cambria Math" panose="02040503050406030204" pitchFamily="18" charset="0"/>
                                </a:rPr>
                              </m:ctrlPr>
                            </m:sSupPr>
                            <m:e>
                              <m:r>
                                <a:rPr lang="da-DK" sz="1700">
                                  <a:latin typeface="Cambria Math" panose="02040503050406030204" pitchFamily="18" charset="0"/>
                                </a:rPr>
                                <m:t>𝑧</m:t>
                              </m:r>
                            </m:e>
                            <m:sup>
                              <m:r>
                                <a:rPr lang="da-DK" sz="1700">
                                  <a:latin typeface="Cambria Math" panose="02040503050406030204" pitchFamily="18" charset="0"/>
                                </a:rPr>
                                <m:t>2</m:t>
                              </m:r>
                            </m:sup>
                          </m:sSup>
                          <m:r>
                            <a:rPr lang="da-DK" sz="1700">
                              <a:latin typeface="Cambria Math" panose="02040503050406030204" pitchFamily="18" charset="0"/>
                            </a:rPr>
                            <m:t>−5</m:t>
                          </m:r>
                        </m:sup>
                      </m:sSup>
                      <m:r>
                        <a:rPr lang="da-DK" sz="1700">
                          <a:latin typeface="Cambria Math" panose="02040503050406030204" pitchFamily="18" charset="0"/>
                        </a:rPr>
                        <m:t>, </m:t>
                      </m:r>
                      <m:r>
                        <a:rPr lang="da-DK" sz="1700">
                          <a:latin typeface="Cambria Math" panose="02040503050406030204" pitchFamily="18" charset="0"/>
                        </a:rPr>
                        <m:t>𝑥</m:t>
                      </m:r>
                      <m:sSup>
                        <m:sSupPr>
                          <m:ctrlPr>
                            <a:rPr lang="da-DK" sz="1700">
                              <a:latin typeface="Cambria Math" panose="02040503050406030204" pitchFamily="18" charset="0"/>
                            </a:rPr>
                          </m:ctrlPr>
                        </m:sSupPr>
                        <m:e>
                          <m:r>
                            <a:rPr lang="da-DK" sz="1700">
                              <a:latin typeface="Cambria Math" panose="02040503050406030204" pitchFamily="18" charset="0"/>
                            </a:rPr>
                            <m:t>𝑒</m:t>
                          </m:r>
                        </m:e>
                        <m:sup>
                          <m:sSup>
                            <m:sSupPr>
                              <m:ctrlPr>
                                <a:rPr lang="da-DK" sz="1700">
                                  <a:latin typeface="Cambria Math" panose="02040503050406030204" pitchFamily="18" charset="0"/>
                                </a:rPr>
                              </m:ctrlPr>
                            </m:sSupPr>
                            <m:e>
                              <m:r>
                                <a:rPr lang="da-DK" sz="1700">
                                  <a:latin typeface="Cambria Math" panose="02040503050406030204" pitchFamily="18" charset="0"/>
                                </a:rPr>
                                <m:t>𝑥</m:t>
                              </m:r>
                            </m:e>
                            <m:sup>
                              <m:r>
                                <a:rPr lang="da-DK" sz="1700">
                                  <a:latin typeface="Cambria Math" panose="02040503050406030204" pitchFamily="18" charset="0"/>
                                </a:rPr>
                                <m:t>2</m:t>
                              </m:r>
                            </m:sup>
                          </m:sSup>
                          <m:r>
                            <a:rPr lang="da-DK" sz="1700">
                              <a:latin typeface="Cambria Math" panose="02040503050406030204" pitchFamily="18" charset="0"/>
                            </a:rPr>
                            <m:t>+</m:t>
                          </m:r>
                          <m:sSup>
                            <m:sSupPr>
                              <m:ctrlPr>
                                <a:rPr lang="da-DK" sz="1700">
                                  <a:latin typeface="Cambria Math" panose="02040503050406030204" pitchFamily="18" charset="0"/>
                                </a:rPr>
                              </m:ctrlPr>
                            </m:sSupPr>
                            <m:e>
                              <m:r>
                                <a:rPr lang="da-DK" sz="1700">
                                  <a:latin typeface="Cambria Math" panose="02040503050406030204" pitchFamily="18" charset="0"/>
                                </a:rPr>
                                <m:t>𝑧</m:t>
                              </m:r>
                            </m:e>
                            <m:sup>
                              <m:r>
                                <a:rPr lang="da-DK" sz="1700">
                                  <a:latin typeface="Cambria Math" panose="02040503050406030204" pitchFamily="18" charset="0"/>
                                </a:rPr>
                                <m:t>2</m:t>
                              </m:r>
                            </m:sup>
                          </m:sSup>
                          <m:r>
                            <a:rPr lang="da-DK" sz="1700">
                              <a:latin typeface="Cambria Math" panose="02040503050406030204" pitchFamily="18" charset="0"/>
                            </a:rPr>
                            <m:t>−5</m:t>
                          </m:r>
                        </m:sup>
                      </m:sSup>
                      <m:r>
                        <a:rPr lang="da-DK" sz="1700">
                          <a:latin typeface="Cambria Math" panose="02040503050406030204" pitchFamily="18" charset="0"/>
                        </a:rPr>
                        <m:t>, 2</m:t>
                      </m:r>
                      <m:r>
                        <a:rPr lang="da-DK" sz="1700">
                          <a:latin typeface="Cambria Math" panose="02040503050406030204" pitchFamily="18" charset="0"/>
                        </a:rPr>
                        <m:t>𝑧𝑥𝑦</m:t>
                      </m:r>
                      <m:sSup>
                        <m:sSupPr>
                          <m:ctrlPr>
                            <a:rPr lang="da-DK" sz="1700">
                              <a:latin typeface="Cambria Math" panose="02040503050406030204" pitchFamily="18" charset="0"/>
                            </a:rPr>
                          </m:ctrlPr>
                        </m:sSupPr>
                        <m:e>
                          <m:r>
                            <a:rPr lang="da-DK" sz="1700">
                              <a:latin typeface="Cambria Math" panose="02040503050406030204" pitchFamily="18" charset="0"/>
                            </a:rPr>
                            <m:t>𝑒</m:t>
                          </m:r>
                        </m:e>
                        <m:sup>
                          <m:sSup>
                            <m:sSupPr>
                              <m:ctrlPr>
                                <a:rPr lang="da-DK" sz="1700">
                                  <a:latin typeface="Cambria Math" panose="02040503050406030204" pitchFamily="18" charset="0"/>
                                </a:rPr>
                              </m:ctrlPr>
                            </m:sSupPr>
                            <m:e>
                              <m:r>
                                <a:rPr lang="da-DK" sz="1700">
                                  <a:latin typeface="Cambria Math" panose="02040503050406030204" pitchFamily="18" charset="0"/>
                                </a:rPr>
                                <m:t>𝑥</m:t>
                              </m:r>
                            </m:e>
                            <m:sup>
                              <m:r>
                                <a:rPr lang="da-DK" sz="1700">
                                  <a:latin typeface="Cambria Math" panose="02040503050406030204" pitchFamily="18" charset="0"/>
                                </a:rPr>
                                <m:t>2</m:t>
                              </m:r>
                            </m:sup>
                          </m:sSup>
                          <m:r>
                            <a:rPr lang="da-DK" sz="1700">
                              <a:latin typeface="Cambria Math" panose="02040503050406030204" pitchFamily="18" charset="0"/>
                            </a:rPr>
                            <m:t>+</m:t>
                          </m:r>
                          <m:sSup>
                            <m:sSupPr>
                              <m:ctrlPr>
                                <a:rPr lang="da-DK" sz="1700">
                                  <a:latin typeface="Cambria Math" panose="02040503050406030204" pitchFamily="18" charset="0"/>
                                </a:rPr>
                              </m:ctrlPr>
                            </m:sSupPr>
                            <m:e>
                              <m:r>
                                <a:rPr lang="da-DK" sz="1700">
                                  <a:latin typeface="Cambria Math" panose="02040503050406030204" pitchFamily="18" charset="0"/>
                                </a:rPr>
                                <m:t>𝑧</m:t>
                              </m:r>
                            </m:e>
                            <m:sup>
                              <m:r>
                                <a:rPr lang="da-DK" sz="1700">
                                  <a:latin typeface="Cambria Math" panose="02040503050406030204" pitchFamily="18" charset="0"/>
                                </a:rPr>
                                <m:t>2</m:t>
                              </m:r>
                            </m:sup>
                          </m:sSup>
                          <m:r>
                            <a:rPr lang="da-DK" sz="1700">
                              <a:latin typeface="Cambria Math" panose="02040503050406030204" pitchFamily="18" charset="0"/>
                            </a:rPr>
                            <m:t>−5</m:t>
                          </m:r>
                        </m:sup>
                      </m:sSup>
                      <m:r>
                        <a:rPr lang="da-DK" sz="1700">
                          <a:latin typeface="Cambria Math" panose="02040503050406030204" pitchFamily="18" charset="0"/>
                        </a:rPr>
                        <m:t>⟩.</m:t>
                      </m:r>
                    </m:oMath>
                  </m:oMathPara>
                </a14:m>
                <a:endParaRPr lang="da-DK" sz="1600" dirty="0"/>
              </a:p>
              <a:p>
                <a:pPr algn="l">
                  <a:lnSpc>
                    <a:spcPct val="115000"/>
                  </a:lnSpc>
                  <a:spcBef>
                    <a:spcPts val="600"/>
                  </a:spcBef>
                  <a:buNone/>
                </a:pPr>
                <a:r>
                  <a:rPr lang="da-DK" sz="1600" dirty="0"/>
                  <a:t>Vi indsætter dernæst punktet og får</a:t>
                </a:r>
              </a:p>
              <a:p>
                <a:pPr algn="ctr">
                  <a:spcBef>
                    <a:spcPts val="500"/>
                  </a:spcBef>
                  <a:buNone/>
                </a:pPr>
                <a14:m>
                  <m:oMathPara xmlns:m="http://schemas.openxmlformats.org/officeDocument/2006/math">
                    <m:oMath>
                      <m:r>
                        <a:rPr lang="da-DK" sz="1700">
                          <a:latin typeface="Cambria Math" panose="02040503050406030204" pitchFamily="18" charset="0"/>
                        </a:rPr>
                        <m:t>𝛻</m:t>
                      </m:r>
                      <m:r>
                        <a:rPr lang="da-DK" sz="1700">
                          <a:latin typeface="Cambria Math" panose="02040503050406030204" pitchFamily="18" charset="0"/>
                        </a:rPr>
                        <m:t>𝑓</m:t>
                      </m:r>
                      <m:r>
                        <a:rPr lang="da-DK" sz="1700">
                          <a:latin typeface="Cambria Math" panose="02040503050406030204" pitchFamily="18" charset="0"/>
                        </a:rPr>
                        <m:t>(1, 3, −2) = ⟨3 + 6, 1, −12⟩ = ⟨9, 1, −12⟩.</m:t>
                      </m:r>
                    </m:oMath>
                  </m:oMathPara>
                </a14:m>
                <a:endParaRPr lang="da-DK" sz="1600" dirty="0"/>
              </a:p>
            </p:txBody>
          </p:sp>
        </mc:Choice>
        <mc:Fallback>
          <p:sp>
            <p:nvSpPr>
              <p:cNvPr id="207" name="S207"/>
              <p:cNvSpPr txBox="1">
                <a:spLocks noRot="1" noChangeAspect="1" noMove="1" noResize="1" noEditPoints="1" noAdjustHandles="1" noChangeArrowheads="1" noChangeShapeType="1" noTextEdit="1"/>
              </p:cNvSpPr>
              <p:nvPr/>
            </p:nvSpPr>
            <p:spPr>
              <a:xfrm>
                <a:off x="1071563" y="3784600"/>
                <a:ext cx="10058400" cy="1955800"/>
              </a:xfrm>
              <a:prstGeom prst="rect">
                <a:avLst/>
              </a:prstGeom>
              <a:blipFill>
                <a:blip r:embed="rId2"/>
                <a:stretch>
                  <a:fillRect l="-1261" t="-258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44544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543A3-CECA-A1A2-6528-1EEE40CA3069}"/>
              </a:ext>
            </a:extLst>
          </p:cNvPr>
          <p:cNvSpPr>
            <a:spLocks noGrp="1"/>
          </p:cNvSpPr>
          <p:nvPr>
            <p:ph type="title"/>
          </p:nvPr>
        </p:nvSpPr>
        <p:spPr>
          <a:xfrm>
            <a:off x="766763" y="660400"/>
            <a:ext cx="10668000" cy="635000"/>
          </a:xfrm>
        </p:spPr>
        <p:txBody>
          <a:bodyPr/>
          <a:lstStyle/>
          <a:p>
            <a:r>
              <a:rPr lang="da-DK" sz="3200" b="1" dirty="0"/>
              <a:t>GRADIENTVEKTOREN</a:t>
            </a:r>
          </a:p>
        </p:txBody>
      </p:sp>
      <p:sp>
        <p:nvSpPr>
          <p:cNvPr id="4" name="Text Placeholder 3">
            <a:extLst>
              <a:ext uri="{FF2B5EF4-FFF2-40B4-BE49-F238E27FC236}">
                <a16:creationId xmlns:a16="http://schemas.microsoft.com/office/drawing/2014/main" id="{E495B136-2DF9-115B-8B4B-99F2D01758ED}"/>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676400"/>
            <a:ext cx="10668000" cy="17526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676400"/>
            <a:ext cx="50800" cy="17526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9050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SÆTNING</a:t>
            </a:r>
          </a:p>
        </p:txBody>
      </p:sp>
      <p:sp>
        <p:nvSpPr>
          <p:cNvPr id="203" name="S203"/>
          <p:cNvSpPr txBox="1"/>
          <p:nvPr/>
        </p:nvSpPr>
        <p:spPr>
          <a:xfrm>
            <a:off x="1071563" y="2260600"/>
            <a:ext cx="10058400" cy="1219200"/>
          </a:xfrm>
          <a:prstGeom prst="rect">
            <a:avLst/>
          </a:prstGeom>
          <a:noFill/>
          <a:ln>
            <a:noFill/>
          </a:ln>
        </p:spPr>
        <p:txBody>
          <a:bodyPr wrap="square" lIns="0" tIns="0" rIns="0" bIns="0">
            <a:noAutofit/>
          </a:bodyPr>
          <a:lstStyle/>
          <a:p>
            <a:pPr marL="0" indent="0" algn="l">
              <a:lnSpc>
                <a:spcPct val="115000"/>
              </a:lnSpc>
              <a:spcBef>
                <a:spcPts val="500"/>
              </a:spcBef>
              <a:buNone/>
            </a:pPr>
            <a:r>
              <a:rPr lang="da-DK" sz="1600" dirty="0"/>
              <a:t>Lad f(x, y) have partielle afledede der eksisterer og er kontinuerte i en omegn omkring punktet (x</a:t>
            </a:r>
            <a:r>
              <a:rPr lang="da-DK" sz="1600" baseline="-25000" dirty="0"/>
              <a:t>0</a:t>
            </a:r>
            <a:r>
              <a:rPr lang="da-DK" sz="1600" dirty="0"/>
              <a:t>, y</a:t>
            </a:r>
            <a:r>
              <a:rPr lang="da-DK" sz="1600" baseline="-25000" dirty="0"/>
              <a:t>0</a:t>
            </a:r>
            <a:r>
              <a:rPr lang="da-DK" sz="1600" dirty="0"/>
              <a:t>) med ∇f(x</a:t>
            </a:r>
            <a:r>
              <a:rPr lang="da-DK" sz="1600" baseline="-25000" dirty="0"/>
              <a:t>0</a:t>
            </a:r>
            <a:r>
              <a:rPr lang="da-DK" sz="1600" dirty="0"/>
              <a:t>, y</a:t>
            </a:r>
            <a:r>
              <a:rPr lang="da-DK" sz="1600" baseline="-25000" dirty="0"/>
              <a:t>0</a:t>
            </a:r>
            <a:r>
              <a:rPr lang="da-DK" sz="1600" dirty="0"/>
              <a:t>) ≠ 0. Så er ∇f(x</a:t>
            </a:r>
            <a:r>
              <a:rPr lang="da-DK" sz="1600" baseline="-25000" dirty="0"/>
              <a:t>0</a:t>
            </a:r>
            <a:r>
              <a:rPr lang="da-DK" sz="1600" dirty="0"/>
              <a:t>, y</a:t>
            </a:r>
            <a:r>
              <a:rPr lang="da-DK" sz="1600" baseline="-25000" dirty="0"/>
              <a:t>0</a:t>
            </a:r>
            <a:r>
              <a:rPr lang="da-DK" sz="1600" dirty="0"/>
              <a:t>) en normal vektor, til niveaukurven, i punktet (x</a:t>
            </a:r>
            <a:r>
              <a:rPr lang="da-DK" sz="1600" baseline="-25000" dirty="0"/>
              <a:t>0</a:t>
            </a:r>
            <a:r>
              <a:rPr lang="da-DK" sz="1600" dirty="0"/>
              <a:t>, y</a:t>
            </a:r>
            <a:r>
              <a:rPr lang="da-DK" sz="1600" baseline="-25000" dirty="0"/>
              <a:t>0</a:t>
            </a:r>
            <a:r>
              <a:rPr lang="da-DK" sz="1600" dirty="0"/>
              <a:t>), i.e. ∇f(x</a:t>
            </a:r>
            <a:r>
              <a:rPr lang="da-DK" sz="1600" baseline="-25000" dirty="0"/>
              <a:t>0</a:t>
            </a:r>
            <a:r>
              <a:rPr lang="da-DK" sz="1600" dirty="0"/>
              <a:t>, y</a:t>
            </a:r>
            <a:r>
              <a:rPr lang="da-DK" sz="1600" baseline="-25000" dirty="0"/>
              <a:t>0</a:t>
            </a:r>
            <a:r>
              <a:rPr lang="da-DK" sz="1600" dirty="0"/>
              <a:t>) står vinkelret på tangentlinjen til niveaukurven i punktet (x</a:t>
            </a:r>
            <a:r>
              <a:rPr lang="da-DK" sz="1600" baseline="-25000" dirty="0"/>
              <a:t>0</a:t>
            </a:r>
            <a:r>
              <a:rPr lang="da-DK" sz="1600" dirty="0"/>
              <a:t>, y</a:t>
            </a:r>
            <a:r>
              <a:rPr lang="da-DK" sz="1600" baseline="-25000" dirty="0"/>
              <a:t>0</a:t>
            </a:r>
            <a:r>
              <a:rPr lang="da-DK" sz="1600" dirty="0"/>
              <a:t>).</a:t>
            </a:r>
          </a:p>
        </p:txBody>
      </p:sp>
      <p:sp>
        <p:nvSpPr>
          <p:cNvPr id="204" name="S204"/>
          <p:cNvSpPr txBox="1"/>
          <p:nvPr/>
        </p:nvSpPr>
        <p:spPr>
          <a:xfrm>
            <a:off x="766763" y="3911600"/>
            <a:ext cx="10668000" cy="1016000"/>
          </a:xfrm>
          <a:prstGeom prst="rect">
            <a:avLst/>
          </a:prstGeom>
          <a:noFill/>
          <a:ln>
            <a:noFill/>
          </a:ln>
        </p:spPr>
        <p:txBody>
          <a:bodyPr wrap="square" lIns="0" tIns="0" rIns="0" bIns="0">
            <a:noAutofit/>
          </a:bodyPr>
          <a:lstStyle/>
          <a:p>
            <a:pPr marL="0" indent="0" algn="l">
              <a:lnSpc>
                <a:spcPct val="115000"/>
              </a:lnSpc>
              <a:spcBef>
                <a:spcPts val="500"/>
              </a:spcBef>
              <a:buNone/>
            </a:pPr>
            <a:r>
              <a:rPr lang="da-DK" sz="1600" dirty="0"/>
              <a:t>Hvis P = (x, y) er et punkt på tangentlinjen til niveaukurven i punktet (x</a:t>
            </a:r>
            <a:r>
              <a:rPr lang="da-DK" sz="1600" baseline="-25000" dirty="0"/>
              <a:t>0</a:t>
            </a:r>
            <a:r>
              <a:rPr lang="da-DK" sz="1600" dirty="0"/>
              <a:t>, y</a:t>
            </a:r>
            <a:r>
              <a:rPr lang="da-DK" sz="1600" baseline="-25000" dirty="0"/>
              <a:t>0</a:t>
            </a:r>
            <a:r>
              <a:rPr lang="da-DK" sz="1600" dirty="0"/>
              <a:t>), så er vektoren P</a:t>
            </a:r>
            <a:r>
              <a:rPr lang="da-DK" sz="1600" baseline="-25000" dirty="0"/>
              <a:t>0</a:t>
            </a:r>
            <a:r>
              <a:rPr lang="da-DK" sz="1600" dirty="0"/>
              <a:t>P = ⟨x − x</a:t>
            </a:r>
            <a:r>
              <a:rPr lang="da-DK" sz="1600" baseline="-25000" dirty="0"/>
              <a:t>0</a:t>
            </a:r>
            <a:r>
              <a:rPr lang="da-DK" sz="1600" dirty="0"/>
              <a:t>, y − y</a:t>
            </a:r>
            <a:r>
              <a:rPr lang="da-DK" sz="1600" baseline="-25000" dirty="0"/>
              <a:t>0</a:t>
            </a:r>
            <a:r>
              <a:rPr lang="da-DK" sz="1600" dirty="0"/>
              <a:t>⟩ en vektor på tangentlinjen. Det giver os at P</a:t>
            </a:r>
            <a:r>
              <a:rPr lang="da-DK" sz="1600" baseline="-25000" dirty="0"/>
              <a:t>0</a:t>
            </a:r>
            <a:r>
              <a:rPr lang="da-DK" sz="1600" dirty="0"/>
              <a:t>P · ∇f(P</a:t>
            </a:r>
            <a:r>
              <a:rPr lang="da-DK" sz="1600" baseline="-25000" dirty="0"/>
              <a:t>0</a:t>
            </a:r>
            <a:r>
              <a:rPr lang="da-DK" sz="1600" dirty="0"/>
              <a:t>) = 0 og dermed er ligningen for tangentlinjen til niveaukurven i punktet P</a:t>
            </a:r>
            <a:r>
              <a:rPr lang="da-DK" sz="1600" baseline="-25000" dirty="0"/>
              <a:t>0</a:t>
            </a:r>
            <a:r>
              <a:rPr lang="da-DK" sz="1600" dirty="0"/>
              <a:t> givet ved</a:t>
            </a:r>
          </a:p>
        </p:txBody>
      </p:sp>
      <mc:AlternateContent xmlns:mc="http://schemas.openxmlformats.org/markup-compatibility/2006">
        <mc:Choice xmlns:a14="http://schemas.microsoft.com/office/drawing/2010/main" Requires="a14">
          <p:sp>
            <p:nvSpPr>
              <p:cNvPr id="205" name="S205"/>
              <p:cNvSpPr txBox="1"/>
              <p:nvPr/>
            </p:nvSpPr>
            <p:spPr>
              <a:xfrm>
                <a:off x="766763" y="5080000"/>
                <a:ext cx="10668000" cy="508000"/>
              </a:xfrm>
              <a:prstGeom prst="rect">
                <a:avLst/>
              </a:prstGeom>
              <a:noFill/>
              <a:ln>
                <a:noFill/>
              </a:ln>
            </p:spPr>
            <p:txBody>
              <a:bodyPr wrap="square" lIns="0" tIns="0" rIns="0" bIns="0">
                <a:noAutofit/>
              </a:bodyPr>
              <a:lstStyle/>
              <a:p>
                <a:pPr algn="ctr">
                  <a:spcBef>
                    <a:spcPts val="0"/>
                  </a:spcBef>
                  <a:buNone/>
                </a:pPr>
                <a14:m>
                  <m:oMathPara xmlns:m="http://schemas.openxmlformats.org/officeDocument/2006/math">
                    <m:oMath>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m:t>
                      </m:r>
                      <m:r>
                        <a:rPr lang="da-DK" sz="1800">
                          <a:latin typeface="Cambria Math" panose="02040503050406030204" pitchFamily="18" charset="0"/>
                        </a:rPr>
                        <m:t>𝑥</m:t>
                      </m:r>
                      <m:r>
                        <a:rPr lang="da-DK" sz="1800">
                          <a:latin typeface="Cambria Math" panose="02040503050406030204" pitchFamily="18" charset="0"/>
                        </a:rPr>
                        <m:t> − </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𝑦</m:t>
                          </m:r>
                        </m:den>
                      </m:f>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m:t>
                      </m:r>
                      <m:r>
                        <a:rPr lang="da-DK" sz="1800">
                          <a:latin typeface="Cambria Math" panose="02040503050406030204" pitchFamily="18" charset="0"/>
                        </a:rPr>
                        <m:t>𝑦</m:t>
                      </m:r>
                      <m:r>
                        <a:rPr lang="da-DK" sz="1800">
                          <a:latin typeface="Cambria Math" panose="02040503050406030204" pitchFamily="18" charset="0"/>
                        </a:rPr>
                        <m:t> −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 = 0.</m:t>
                      </m:r>
                    </m:oMath>
                  </m:oMathPara>
                </a14:m>
                <a:endParaRPr/>
              </a:p>
            </p:txBody>
          </p:sp>
        </mc:Choice>
        <mc:Fallback>
          <p:sp>
            <p:nvSpPr>
              <p:cNvPr id="205" name="S205"/>
              <p:cNvSpPr txBox="1">
                <a:spLocks noRot="1" noChangeAspect="1" noMove="1" noResize="1" noEditPoints="1" noAdjustHandles="1" noChangeArrowheads="1" noChangeShapeType="1" noTextEdit="1"/>
              </p:cNvSpPr>
              <p:nvPr/>
            </p:nvSpPr>
            <p:spPr>
              <a:xfrm>
                <a:off x="766763" y="5080000"/>
                <a:ext cx="10668000" cy="508000"/>
              </a:xfrm>
              <a:prstGeom prst="rect">
                <a:avLst/>
              </a:prstGeom>
              <a:blipFill>
                <a:blip r:embed="rId2"/>
                <a:stretch>
                  <a:fillRect t="-4762" b="-3095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815500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6387-77F6-FCF6-3798-68CB4DFAFDC5}"/>
              </a:ext>
            </a:extLst>
          </p:cNvPr>
          <p:cNvSpPr>
            <a:spLocks noGrp="1"/>
          </p:cNvSpPr>
          <p:nvPr>
            <p:ph type="title"/>
          </p:nvPr>
        </p:nvSpPr>
        <p:spPr>
          <a:xfrm>
            <a:off x="766763" y="660400"/>
            <a:ext cx="10668000" cy="635000"/>
          </a:xfrm>
        </p:spPr>
        <p:txBody>
          <a:bodyPr/>
          <a:lstStyle/>
          <a:p>
            <a:r>
              <a:rPr lang="da-DK" sz="3200" b="1" dirty="0"/>
              <a:t>PAUSE</a:t>
            </a:r>
          </a:p>
        </p:txBody>
      </p:sp>
      <p:sp>
        <p:nvSpPr>
          <p:cNvPr id="4" name="Text Placeholder 3">
            <a:extLst>
              <a:ext uri="{FF2B5EF4-FFF2-40B4-BE49-F238E27FC236}">
                <a16:creationId xmlns:a16="http://schemas.microsoft.com/office/drawing/2014/main" id="{1BE78B44-D15F-90E2-3938-8636B3EA3349}"/>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371600"/>
            <a:ext cx="10668000" cy="279400"/>
          </a:xfrm>
          <a:prstGeom prst="rect">
            <a:avLst/>
          </a:prstGeom>
          <a:noFill/>
          <a:ln>
            <a:noFill/>
          </a:ln>
        </p:spPr>
        <p:txBody>
          <a:bodyPr wrap="square" lIns="0" tIns="0" rIns="0" bIns="0">
            <a:noAutofit/>
          </a:bodyPr>
          <a:lstStyle/>
          <a:p>
            <a:pPr algn="l">
              <a:buNone/>
            </a:pPr>
            <a:r>
              <a:rPr lang="da-DK" sz="1400" b="1" spc="170" dirty="0">
                <a:solidFill>
                  <a:srgbClr val="DF6752"/>
                </a:solidFill>
              </a:rPr>
              <a:t>VI ER TILBAGE OM 10 MINUTTER</a:t>
            </a:r>
          </a:p>
        </p:txBody>
      </p:sp>
      <p:pic>
        <p:nvPicPr>
          <p:cNvPr id="201" name="Graphic 201" descr="Kaffekop"/>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90648" y="1923648"/>
            <a:ext cx="3010704" cy="3010704"/>
          </a:xfrm>
          <a:prstGeom prst="rect">
            <a:avLst/>
          </a:prstGeom>
        </p:spPr>
      </p:pic>
    </p:spTree>
    <p:extLst>
      <p:ext uri="{BB962C8B-B14F-4D97-AF65-F5344CB8AC3E}">
        <p14:creationId xmlns:p14="http://schemas.microsoft.com/office/powerpoint/2010/main" val="257589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C9C8-3265-036C-1D15-859C83E4E21E}"/>
              </a:ext>
            </a:extLst>
          </p:cNvPr>
          <p:cNvSpPr>
            <a:spLocks noGrp="1"/>
          </p:cNvSpPr>
          <p:nvPr>
            <p:ph type="title"/>
          </p:nvPr>
        </p:nvSpPr>
        <p:spPr>
          <a:xfrm>
            <a:off x="766763" y="660400"/>
            <a:ext cx="10668000" cy="635000"/>
          </a:xfrm>
        </p:spPr>
        <p:txBody>
          <a:bodyPr/>
          <a:lstStyle/>
          <a:p>
            <a:r>
              <a:rPr lang="da-DK" sz="3200" b="1" dirty="0"/>
              <a:t>DEN RETNINGSAFLEDEDE</a:t>
            </a:r>
          </a:p>
        </p:txBody>
      </p:sp>
      <p:sp>
        <p:nvSpPr>
          <p:cNvPr id="4" name="Text Placeholder 3">
            <a:extLst>
              <a:ext uri="{FF2B5EF4-FFF2-40B4-BE49-F238E27FC236}">
                <a16:creationId xmlns:a16="http://schemas.microsoft.com/office/drawing/2014/main" id="{A532ECE2-AC75-4C18-2F4C-9EFDEAD9D84C}"/>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mc:AlternateContent xmlns:mc="http://schemas.openxmlformats.org/markup-compatibility/2006">
        <mc:Choice xmlns:a14="http://schemas.microsoft.com/office/drawing/2010/main" Requires="a14">
          <p:sp>
            <p:nvSpPr>
              <p:cNvPr id="200" name="S200"/>
              <p:cNvSpPr txBox="1"/>
              <p:nvPr/>
            </p:nvSpPr>
            <p:spPr>
              <a:xfrm>
                <a:off x="766763" y="1473200"/>
                <a:ext cx="10668000" cy="3175000"/>
              </a:xfrm>
              <a:prstGeom prst="rect">
                <a:avLst/>
              </a:prstGeom>
              <a:noFill/>
              <a:ln>
                <a:noFill/>
              </a:ln>
            </p:spPr>
            <p:txBody>
              <a:bodyPr wrap="square" lIns="0" tIns="0" rIns="0" bIns="0">
                <a:noAutofit/>
              </a:bodyPr>
              <a:lstStyle/>
              <a:p>
                <a:pPr algn="l">
                  <a:lnSpc>
                    <a:spcPct val="120000"/>
                  </a:lnSpc>
                  <a:spcBef>
                    <a:spcPts val="500"/>
                  </a:spcBef>
                  <a:buNone/>
                </a:pPr>
                <a:r>
                  <a:rPr lang="da-DK" sz="1600" dirty="0"/>
                  <a:t>Husk, hvordan de partielle afledede af f(x, y, z) i punktet (x</a:t>
                </a:r>
                <a:r>
                  <a:rPr lang="da-DK" sz="1600" baseline="-25000" dirty="0"/>
                  <a:t>0</a:t>
                </a:r>
                <a:r>
                  <a:rPr lang="da-DK" sz="1600" dirty="0"/>
                  <a:t>, y</a:t>
                </a:r>
                <a:r>
                  <a:rPr lang="da-DK" sz="1600" baseline="-25000" dirty="0"/>
                  <a:t>0</a:t>
                </a:r>
                <a:r>
                  <a:rPr lang="da-DK" sz="1600" dirty="0"/>
                  <a:t>, z</a:t>
                </a:r>
                <a:r>
                  <a:rPr lang="da-DK" sz="1600" baseline="-25000" dirty="0"/>
                  <a:t>0</a:t>
                </a:r>
                <a:r>
                  <a:rPr lang="da-DK" sz="1600" dirty="0"/>
                  <a:t>) er defineret:</a:t>
                </a:r>
              </a:p>
              <a:p>
                <a:pPr algn="ctr">
                  <a:spcBef>
                    <a:spcPts val="500"/>
                  </a:spcBef>
                  <a:buNone/>
                </a:pPr>
                <a14:m>
                  <m:oMathPara xmlns:m="http://schemas.openxmlformats.org/officeDocument/2006/math">
                    <m:oMath>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𝑧</m:t>
                          </m:r>
                        </m:e>
                        <m:sub>
                          <m:r>
                            <a:rPr lang="da-DK" sz="1800">
                              <a:latin typeface="Cambria Math" panose="02040503050406030204" pitchFamily="18" charset="0"/>
                            </a:rPr>
                            <m:t>0</m:t>
                          </m:r>
                        </m:sub>
                      </m:sSub>
                      <m:r>
                        <a:rPr lang="da-DK" sz="1800">
                          <a:latin typeface="Cambria Math" panose="02040503050406030204" pitchFamily="18" charset="0"/>
                        </a:rPr>
                        <m:t>) = </m:t>
                      </m:r>
                      <m:func>
                        <m:funcPr>
                          <m:ctrlPr>
                            <a:rPr lang="da-DK" sz="1800" i="1">
                              <a:latin typeface="Cambria Math" panose="02040503050406030204" pitchFamily="18" charset="0"/>
                            </a:rPr>
                          </m:ctrlPr>
                        </m:funcPr>
                        <m:fName>
                          <m:limLow>
                            <m:limLowPr>
                              <m:ctrlPr>
                                <a:rPr lang="da-DK" sz="1800">
                                  <a:latin typeface="Cambria Math" panose="02040503050406030204" pitchFamily="18" charset="0"/>
                                </a:rPr>
                              </m:ctrlPr>
                            </m:limLowPr>
                            <m:e>
                              <m:r>
                                <a:rPr lang="da-DK" sz="1800">
                                  <a:latin typeface="Cambria Math" panose="02040503050406030204" pitchFamily="18" charset="0"/>
                                </a:rPr>
                                <m:t>𝑙𝑖𝑚</m:t>
                              </m:r>
                            </m:e>
                            <m:lim>
                              <m:r>
                                <a:rPr lang="da-DK" sz="1800">
                                  <a:latin typeface="Cambria Math" panose="02040503050406030204" pitchFamily="18" charset="0"/>
                                </a:rPr>
                                <m:t>ℎ</m:t>
                              </m:r>
                              <m:r>
                                <a:rPr lang="da-DK" sz="1800">
                                  <a:latin typeface="Cambria Math" panose="02040503050406030204" pitchFamily="18" charset="0"/>
                                </a:rPr>
                                <m:t>→0</m:t>
                              </m:r>
                            </m:lim>
                          </m:limLow>
                        </m:fName>
                        <m:e>
                          <m:f>
                            <m:fPr>
                              <m:ctrlPr>
                                <a:rPr lang="da-DK" sz="1800">
                                  <a:latin typeface="Cambria Math" panose="02040503050406030204" pitchFamily="18" charset="0"/>
                                </a:rPr>
                              </m:ctrlPr>
                            </m:fPr>
                            <m:num>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ℎ</m:t>
                              </m:r>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𝑧</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𝑥</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𝑦</m:t>
                                  </m:r>
                                </m:e>
                                <m:sub>
                                  <m:r>
                                    <a:rPr lang="da-DK" sz="1800">
                                      <a:latin typeface="Cambria Math" panose="02040503050406030204" pitchFamily="18" charset="0"/>
                                    </a:rPr>
                                    <m:t>0</m:t>
                                  </m:r>
                                </m:sub>
                              </m:sSub>
                              <m:r>
                                <a:rPr lang="da-DK" sz="1800">
                                  <a:latin typeface="Cambria Math" panose="02040503050406030204" pitchFamily="18" charset="0"/>
                                </a:rPr>
                                <m:t>, </m:t>
                              </m:r>
                              <m:sSub>
                                <m:sSubPr>
                                  <m:ctrlPr>
                                    <a:rPr lang="da-DK" sz="1800">
                                      <a:latin typeface="Cambria Math" panose="02040503050406030204" pitchFamily="18" charset="0"/>
                                    </a:rPr>
                                  </m:ctrlPr>
                                </m:sSubPr>
                                <m:e>
                                  <m:r>
                                    <a:rPr lang="da-DK" sz="1800">
                                      <a:latin typeface="Cambria Math" panose="02040503050406030204" pitchFamily="18" charset="0"/>
                                    </a:rPr>
                                    <m:t>𝑧</m:t>
                                  </m:r>
                                </m:e>
                                <m:sub>
                                  <m:r>
                                    <a:rPr lang="da-DK" sz="1800">
                                      <a:latin typeface="Cambria Math" panose="02040503050406030204" pitchFamily="18" charset="0"/>
                                    </a:rPr>
                                    <m:t>0</m:t>
                                  </m:r>
                                </m:sub>
                              </m:sSub>
                              <m:r>
                                <a:rPr lang="da-DK" sz="1800">
                                  <a:latin typeface="Cambria Math" panose="02040503050406030204" pitchFamily="18" charset="0"/>
                                </a:rPr>
                                <m:t>)</m:t>
                              </m:r>
                            </m:num>
                            <m:den>
                              <m:r>
                                <a:rPr lang="da-DK" sz="1800">
                                  <a:latin typeface="Cambria Math" panose="02040503050406030204" pitchFamily="18" charset="0"/>
                                </a:rPr>
                                <m:t>ℎ</m:t>
                              </m:r>
                            </m:den>
                          </m:f>
                        </m:e>
                      </m:func>
                      <m:r>
                        <a:rPr lang="da-DK" sz="1800">
                          <a:latin typeface="Cambria Math" panose="02040503050406030204" pitchFamily="18" charset="0"/>
                        </a:rPr>
                        <m:t>.</m:t>
                      </m:r>
                    </m:oMath>
                  </m:oMathPara>
                </a14:m>
                <a:endParaRPr lang="da-DK" sz="1600" dirty="0"/>
              </a:p>
              <a:p>
                <a:pPr algn="l">
                  <a:lnSpc>
                    <a:spcPct val="120000"/>
                  </a:lnSpc>
                  <a:spcBef>
                    <a:spcPts val="600"/>
                  </a:spcBef>
                  <a:buNone/>
                </a:pPr>
                <a:r>
                  <a:rPr lang="da-DK" sz="1600" dirty="0"/>
                  <a:t>Hvis vi sætter P</a:t>
                </a:r>
                <a:r>
                  <a:rPr lang="da-DK" sz="1600" baseline="-25000" dirty="0"/>
                  <a:t>0</a:t>
                </a:r>
                <a:r>
                  <a:rPr lang="da-DK" sz="1600" dirty="0"/>
                  <a:t> = ⟨x</a:t>
                </a:r>
                <a:r>
                  <a:rPr lang="da-DK" sz="1600" baseline="-25000" dirty="0"/>
                  <a:t>0</a:t>
                </a:r>
                <a:r>
                  <a:rPr lang="da-DK" sz="1600" dirty="0"/>
                  <a:t>, y</a:t>
                </a:r>
                <a:r>
                  <a:rPr lang="da-DK" sz="1600" baseline="-25000" dirty="0"/>
                  <a:t>0</a:t>
                </a:r>
                <a:r>
                  <a:rPr lang="da-DK" sz="1600" dirty="0"/>
                  <a:t>, z</a:t>
                </a:r>
                <a:r>
                  <a:rPr lang="da-DK" sz="1600" baseline="-25000" dirty="0"/>
                  <a:t>0</a:t>
                </a:r>
                <a:r>
                  <a:rPr lang="da-DK" sz="1600" dirty="0"/>
                  <a:t>⟩, kan dette skrives som</a:t>
                </a:r>
              </a:p>
              <a:p>
                <a:pPr algn="ctr">
                  <a:spcBef>
                    <a:spcPts val="500"/>
                  </a:spcBef>
                  <a:buNone/>
                </a:pPr>
                <a14:m>
                  <m:oMathPara xmlns:m="http://schemas.openxmlformats.org/officeDocument/2006/math">
                    <m:oMath>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func>
                        <m:funcPr>
                          <m:ctrlPr>
                            <a:rPr lang="da-DK" sz="1800" i="1">
                              <a:latin typeface="Cambria Math" panose="02040503050406030204" pitchFamily="18" charset="0"/>
                            </a:rPr>
                          </m:ctrlPr>
                        </m:funcPr>
                        <m:fName>
                          <m:limLow>
                            <m:limLowPr>
                              <m:ctrlPr>
                                <a:rPr lang="da-DK" sz="1800">
                                  <a:latin typeface="Cambria Math" panose="02040503050406030204" pitchFamily="18" charset="0"/>
                                </a:rPr>
                              </m:ctrlPr>
                            </m:limLowPr>
                            <m:e>
                              <m:r>
                                <a:rPr lang="da-DK" sz="1800">
                                  <a:latin typeface="Cambria Math" panose="02040503050406030204" pitchFamily="18" charset="0"/>
                                </a:rPr>
                                <m:t>𝑙𝑖𝑚</m:t>
                              </m:r>
                            </m:e>
                            <m:lim>
                              <m:r>
                                <a:rPr lang="da-DK" sz="1800">
                                  <a:latin typeface="Cambria Math" panose="02040503050406030204" pitchFamily="18" charset="0"/>
                                </a:rPr>
                                <m:t>ℎ</m:t>
                              </m:r>
                              <m:r>
                                <a:rPr lang="da-DK" sz="1800">
                                  <a:latin typeface="Cambria Math" panose="02040503050406030204" pitchFamily="18" charset="0"/>
                                </a:rPr>
                                <m:t>→0</m:t>
                              </m:r>
                            </m:lim>
                          </m:limLow>
                        </m:fName>
                        <m:e>
                          <m:f>
                            <m:fPr>
                              <m:ctrlPr>
                                <a:rPr lang="da-DK" sz="1800">
                                  <a:latin typeface="Cambria Math" panose="02040503050406030204" pitchFamily="18" charset="0"/>
                                </a:rPr>
                              </m:ctrlPr>
                            </m:fPr>
                            <m:num>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ℎ</m:t>
                              </m:r>
                              <m:r>
                                <a:rPr lang="da-DK" sz="1800">
                                  <a:latin typeface="Cambria Math" panose="02040503050406030204" pitchFamily="18" charset="0"/>
                                </a:rPr>
                                <m:t> </m:t>
                              </m:r>
                              <m:r>
                                <a:rPr lang="da-DK" sz="1800" b="1" i="1">
                                  <a:latin typeface="Cambria Math" panose="02040503050406030204" pitchFamily="18" charset="0"/>
                                </a:rPr>
                                <m:t>𝐢</m:t>
                              </m:r>
                              <m:r>
                                <a:rPr lang="da-DK" sz="1800">
                                  <a:latin typeface="Cambria Math" panose="02040503050406030204" pitchFamily="18" charset="0"/>
                                </a:rPr>
                                <m:t>) − </m:t>
                              </m:r>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m:t>
                              </m:r>
                            </m:num>
                            <m:den>
                              <m:r>
                                <a:rPr lang="da-DK" sz="1800">
                                  <a:latin typeface="Cambria Math" panose="02040503050406030204" pitchFamily="18" charset="0"/>
                                </a:rPr>
                                <m:t>ℎ</m:t>
                              </m:r>
                            </m:den>
                          </m:f>
                        </m:e>
                      </m:func>
                      <m:r>
                        <a:rPr lang="da-DK" sz="1800">
                          <a:latin typeface="Cambria Math" panose="02040503050406030204" pitchFamily="18" charset="0"/>
                        </a:rPr>
                        <m:t>.</m:t>
                      </m:r>
                    </m:oMath>
                  </m:oMathPara>
                </a14:m>
                <a:endParaRPr lang="da-DK" sz="1600" dirty="0"/>
              </a:p>
              <a:p>
                <a:pPr algn="l">
                  <a:lnSpc>
                    <a:spcPct val="130000"/>
                  </a:lnSpc>
                  <a:spcBef>
                    <a:spcPts val="700"/>
                  </a:spcBef>
                  <a:buNone/>
                </a:pPr>
                <a:r>
                  <a:rPr lang="da-DK" sz="1600" dirty="0"/>
                  <a:t>Altså beskriver </a:t>
                </a:r>
                <a14:m>
                  <m:oMath xmlns:m="http://schemas.openxmlformats.org/officeDocument/2006/math">
                    <m:f>
                      <m:fPr>
                        <m:ctrlPr>
                          <a:rPr lang="da-DK" sz="1600">
                            <a:latin typeface="Cambria Math" panose="02040503050406030204" pitchFamily="18" charset="0"/>
                          </a:rPr>
                        </m:ctrlPr>
                      </m:fPr>
                      <m:num>
                        <m:r>
                          <a:rPr lang="da-DK" sz="1600">
                            <a:latin typeface="Cambria Math" panose="02040503050406030204" pitchFamily="18" charset="0"/>
                          </a:rPr>
                          <m:t>𝜕</m:t>
                        </m:r>
                        <m:r>
                          <a:rPr lang="da-DK" sz="1600">
                            <a:latin typeface="Cambria Math" panose="02040503050406030204" pitchFamily="18" charset="0"/>
                          </a:rPr>
                          <m:t>𝑓</m:t>
                        </m:r>
                      </m:num>
                      <m:den>
                        <m:r>
                          <a:rPr lang="da-DK" sz="1600">
                            <a:latin typeface="Cambria Math" panose="02040503050406030204" pitchFamily="18" charset="0"/>
                          </a:rPr>
                          <m:t>𝜕</m:t>
                        </m:r>
                        <m:r>
                          <a:rPr lang="da-DK" sz="1600">
                            <a:latin typeface="Cambria Math" panose="02040503050406030204" pitchFamily="18" charset="0"/>
                          </a:rPr>
                          <m:t>𝑥</m:t>
                        </m:r>
                      </m:den>
                    </m:f>
                    <m:r>
                      <a:rPr lang="da-DK" sz="1600">
                        <a:latin typeface="Cambria Math" panose="02040503050406030204" pitchFamily="18" charset="0"/>
                      </a:rPr>
                      <m:t>(</m:t>
                    </m:r>
                    <m:sSub>
                      <m:sSubPr>
                        <m:ctrlPr>
                          <a:rPr lang="da-DK" sz="1600">
                            <a:latin typeface="Cambria Math" panose="02040503050406030204" pitchFamily="18" charset="0"/>
                          </a:rPr>
                        </m:ctrlPr>
                      </m:sSubPr>
                      <m:e>
                        <m:r>
                          <a:rPr lang="da-DK" sz="1600">
                            <a:latin typeface="Cambria Math" panose="02040503050406030204" pitchFamily="18" charset="0"/>
                          </a:rPr>
                          <m:t>𝑃</m:t>
                        </m:r>
                      </m:e>
                      <m:sub>
                        <m:r>
                          <a:rPr lang="da-DK" sz="1600">
                            <a:latin typeface="Cambria Math" panose="02040503050406030204" pitchFamily="18" charset="0"/>
                          </a:rPr>
                          <m:t>0</m:t>
                        </m:r>
                      </m:sub>
                    </m:sSub>
                    <m:r>
                      <a:rPr lang="da-DK" sz="1600">
                        <a:latin typeface="Cambria Math" panose="02040503050406030204" pitchFamily="18" charset="0"/>
                      </a:rPr>
                      <m:t>)</m:t>
                    </m:r>
                  </m:oMath>
                </a14:m>
                <a:r>
                  <a:rPr lang="da-DK" sz="1600" dirty="0"/>
                  <a:t> hældningen af f(P</a:t>
                </a:r>
                <a:r>
                  <a:rPr lang="da-DK" sz="1600" baseline="-25000" dirty="0"/>
                  <a:t>0</a:t>
                </a:r>
                <a:r>
                  <a:rPr lang="da-DK" sz="1600" dirty="0"/>
                  <a:t>) i retningen af </a:t>
                </a:r>
                <a:r>
                  <a:rPr lang="da-DK" sz="1600" b="1" dirty="0"/>
                  <a:t>i</a:t>
                </a:r>
                <a:r>
                  <a:rPr lang="da-DK" sz="1600" dirty="0"/>
                  <a:t>. Tilsvarende beskriver </a:t>
                </a:r>
                <a14:m>
                  <m:oMath xmlns:m="http://schemas.openxmlformats.org/officeDocument/2006/math">
                    <m:f>
                      <m:fPr>
                        <m:ctrlPr>
                          <a:rPr lang="da-DK" sz="1600">
                            <a:latin typeface="Cambria Math" panose="02040503050406030204" pitchFamily="18" charset="0"/>
                          </a:rPr>
                        </m:ctrlPr>
                      </m:fPr>
                      <m:num>
                        <m:r>
                          <a:rPr lang="da-DK" sz="1600">
                            <a:latin typeface="Cambria Math" panose="02040503050406030204" pitchFamily="18" charset="0"/>
                          </a:rPr>
                          <m:t>𝜕</m:t>
                        </m:r>
                        <m:r>
                          <a:rPr lang="da-DK" sz="1600">
                            <a:latin typeface="Cambria Math" panose="02040503050406030204" pitchFamily="18" charset="0"/>
                          </a:rPr>
                          <m:t>𝑓</m:t>
                        </m:r>
                      </m:num>
                      <m:den>
                        <m:r>
                          <a:rPr lang="da-DK" sz="1600">
                            <a:latin typeface="Cambria Math" panose="02040503050406030204" pitchFamily="18" charset="0"/>
                          </a:rPr>
                          <m:t>𝜕</m:t>
                        </m:r>
                        <m:r>
                          <a:rPr lang="da-DK" sz="1600">
                            <a:latin typeface="Cambria Math" panose="02040503050406030204" pitchFamily="18" charset="0"/>
                          </a:rPr>
                          <m:t>𝑦</m:t>
                        </m:r>
                      </m:den>
                    </m:f>
                    <m:r>
                      <a:rPr lang="da-DK" sz="1600">
                        <a:latin typeface="Cambria Math" panose="02040503050406030204" pitchFamily="18" charset="0"/>
                      </a:rPr>
                      <m:t>(</m:t>
                    </m:r>
                    <m:sSub>
                      <m:sSubPr>
                        <m:ctrlPr>
                          <a:rPr lang="da-DK" sz="1600">
                            <a:latin typeface="Cambria Math" panose="02040503050406030204" pitchFamily="18" charset="0"/>
                          </a:rPr>
                        </m:ctrlPr>
                      </m:sSubPr>
                      <m:e>
                        <m:r>
                          <a:rPr lang="da-DK" sz="1600">
                            <a:latin typeface="Cambria Math" panose="02040503050406030204" pitchFamily="18" charset="0"/>
                          </a:rPr>
                          <m:t>𝑃</m:t>
                        </m:r>
                      </m:e>
                      <m:sub>
                        <m:r>
                          <a:rPr lang="da-DK" sz="1600">
                            <a:latin typeface="Cambria Math" panose="02040503050406030204" pitchFamily="18" charset="0"/>
                          </a:rPr>
                          <m:t>0</m:t>
                        </m:r>
                      </m:sub>
                    </m:sSub>
                    <m:r>
                      <a:rPr lang="da-DK" sz="1600">
                        <a:latin typeface="Cambria Math" panose="02040503050406030204" pitchFamily="18" charset="0"/>
                      </a:rPr>
                      <m:t>)</m:t>
                    </m:r>
                  </m:oMath>
                </a14:m>
                <a:r>
                  <a:rPr lang="da-DK" sz="1600" dirty="0"/>
                  <a:t> hældningen i retningen af j, og </a:t>
                </a:r>
                <a14:m>
                  <m:oMath xmlns:m="http://schemas.openxmlformats.org/officeDocument/2006/math">
                    <m:f>
                      <m:fPr>
                        <m:ctrlPr>
                          <a:rPr lang="da-DK" sz="1600">
                            <a:latin typeface="Cambria Math" panose="02040503050406030204" pitchFamily="18" charset="0"/>
                          </a:rPr>
                        </m:ctrlPr>
                      </m:fPr>
                      <m:num>
                        <m:r>
                          <a:rPr lang="da-DK" sz="1600">
                            <a:latin typeface="Cambria Math" panose="02040503050406030204" pitchFamily="18" charset="0"/>
                          </a:rPr>
                          <m:t>𝜕</m:t>
                        </m:r>
                        <m:r>
                          <a:rPr lang="da-DK" sz="1600">
                            <a:latin typeface="Cambria Math" panose="02040503050406030204" pitchFamily="18" charset="0"/>
                          </a:rPr>
                          <m:t>𝑓</m:t>
                        </m:r>
                      </m:num>
                      <m:den>
                        <m:r>
                          <a:rPr lang="da-DK" sz="1600">
                            <a:latin typeface="Cambria Math" panose="02040503050406030204" pitchFamily="18" charset="0"/>
                          </a:rPr>
                          <m:t>𝜕</m:t>
                        </m:r>
                        <m:r>
                          <a:rPr lang="da-DK" sz="1600">
                            <a:latin typeface="Cambria Math" panose="02040503050406030204" pitchFamily="18" charset="0"/>
                          </a:rPr>
                          <m:t>𝑧</m:t>
                        </m:r>
                      </m:den>
                    </m:f>
                    <m:r>
                      <a:rPr lang="da-DK" sz="1600">
                        <a:latin typeface="Cambria Math" panose="02040503050406030204" pitchFamily="18" charset="0"/>
                      </a:rPr>
                      <m:t>(</m:t>
                    </m:r>
                    <m:sSub>
                      <m:sSubPr>
                        <m:ctrlPr>
                          <a:rPr lang="da-DK" sz="1600">
                            <a:latin typeface="Cambria Math" panose="02040503050406030204" pitchFamily="18" charset="0"/>
                          </a:rPr>
                        </m:ctrlPr>
                      </m:sSubPr>
                      <m:e>
                        <m:r>
                          <a:rPr lang="da-DK" sz="1600">
                            <a:latin typeface="Cambria Math" panose="02040503050406030204" pitchFamily="18" charset="0"/>
                          </a:rPr>
                          <m:t>𝑃</m:t>
                        </m:r>
                      </m:e>
                      <m:sub>
                        <m:r>
                          <a:rPr lang="da-DK" sz="1600">
                            <a:latin typeface="Cambria Math" panose="02040503050406030204" pitchFamily="18" charset="0"/>
                          </a:rPr>
                          <m:t>0</m:t>
                        </m:r>
                      </m:sub>
                    </m:sSub>
                    <m:r>
                      <a:rPr lang="da-DK" sz="1600">
                        <a:latin typeface="Cambria Math" panose="02040503050406030204" pitchFamily="18" charset="0"/>
                      </a:rPr>
                      <m:t>)</m:t>
                    </m:r>
                  </m:oMath>
                </a14:m>
                <a:r>
                  <a:rPr lang="da-DK" sz="1600" dirty="0"/>
                  <a:t> beskriver hældningen i retning af k.</a:t>
                </a:r>
              </a:p>
            </p:txBody>
          </p:sp>
        </mc:Choice>
        <mc:Fallback>
          <p:sp>
            <p:nvSpPr>
              <p:cNvPr id="200" name="S200"/>
              <p:cNvSpPr txBox="1">
                <a:spLocks noRot="1" noChangeAspect="1" noMove="1" noResize="1" noEditPoints="1" noAdjustHandles="1" noChangeArrowheads="1" noChangeShapeType="1" noTextEdit="1"/>
              </p:cNvSpPr>
              <p:nvPr/>
            </p:nvSpPr>
            <p:spPr>
              <a:xfrm>
                <a:off x="766763" y="1473200"/>
                <a:ext cx="10668000" cy="3175000"/>
              </a:xfrm>
              <a:prstGeom prst="rect">
                <a:avLst/>
              </a:prstGeom>
              <a:blipFill>
                <a:blip r:embed="rId2"/>
                <a:stretch>
                  <a:fillRect l="-1189" t="-1992" r="-951"/>
                </a:stretch>
              </a:blipFill>
              <a:ln>
                <a:noFill/>
              </a:ln>
            </p:spPr>
            <p:txBody>
              <a:bodyPr/>
              <a:lstStyle/>
              <a:p>
                <a:r>
                  <a:rPr lang="en-US">
                    <a:noFill/>
                  </a:rPr>
                  <a:t> </a:t>
                </a:r>
              </a:p>
            </p:txBody>
          </p:sp>
        </mc:Fallback>
      </mc:AlternateContent>
      <p:sp>
        <p:nvSpPr>
          <p:cNvPr id="201" name="S201"/>
          <p:cNvSpPr txBox="1"/>
          <p:nvPr/>
        </p:nvSpPr>
        <p:spPr>
          <a:xfrm>
            <a:off x="766763" y="4775200"/>
            <a:ext cx="10668000" cy="1016000"/>
          </a:xfrm>
          <a:prstGeom prst="rect">
            <a:avLst/>
          </a:prstGeom>
          <a:solidFill>
            <a:srgbClr val="FBEEEB"/>
          </a:solidFill>
          <a:ln>
            <a:noFill/>
          </a:ln>
        </p:spPr>
        <p:txBody>
          <a:bodyPr wrap="square" lIns="0" tIns="0" rIns="0" bIns="0">
            <a:noAutofit/>
          </a:bodyPr>
          <a:lstStyle/>
          <a:p>
            <a:endParaRPr lang="da-DK"/>
          </a:p>
        </p:txBody>
      </p:sp>
      <p:sp>
        <p:nvSpPr>
          <p:cNvPr id="202" name="S202"/>
          <p:cNvSpPr txBox="1"/>
          <p:nvPr/>
        </p:nvSpPr>
        <p:spPr>
          <a:xfrm>
            <a:off x="766763" y="4775200"/>
            <a:ext cx="50800" cy="1016000"/>
          </a:xfrm>
          <a:prstGeom prst="rect">
            <a:avLst/>
          </a:prstGeom>
          <a:solidFill>
            <a:srgbClr val="DF6752"/>
          </a:solidFill>
          <a:ln>
            <a:noFill/>
          </a:ln>
        </p:spPr>
        <p:txBody>
          <a:bodyPr wrap="square" lIns="0" tIns="0" rIns="0" bIns="0">
            <a:noAutofit/>
          </a:bodyPr>
          <a:lstStyle/>
          <a:p>
            <a:endParaRPr lang="da-DK"/>
          </a:p>
        </p:txBody>
      </p:sp>
      <p:sp>
        <p:nvSpPr>
          <p:cNvPr id="203" name="S203"/>
          <p:cNvSpPr txBox="1"/>
          <p:nvPr/>
        </p:nvSpPr>
        <p:spPr>
          <a:xfrm>
            <a:off x="1071563" y="50038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SPØRGSMÅL</a:t>
            </a:r>
          </a:p>
        </p:txBody>
      </p:sp>
      <p:sp>
        <p:nvSpPr>
          <p:cNvPr id="204" name="S204"/>
          <p:cNvSpPr txBox="1"/>
          <p:nvPr/>
        </p:nvSpPr>
        <p:spPr>
          <a:xfrm>
            <a:off x="1071563" y="5359400"/>
            <a:ext cx="10058400" cy="381000"/>
          </a:xfrm>
          <a:prstGeom prst="rect">
            <a:avLst/>
          </a:prstGeom>
          <a:noFill/>
          <a:ln>
            <a:noFill/>
          </a:ln>
        </p:spPr>
        <p:txBody>
          <a:bodyPr wrap="square" lIns="0" tIns="0" rIns="0" bIns="0">
            <a:noAutofit/>
          </a:bodyPr>
          <a:lstStyle/>
          <a:p>
            <a:pPr marL="0" indent="0" algn="l">
              <a:lnSpc>
                <a:spcPct val="115000"/>
              </a:lnSpc>
              <a:spcBef>
                <a:spcPts val="500"/>
              </a:spcBef>
              <a:buNone/>
            </a:pPr>
            <a:r>
              <a:rPr lang="da-DK" sz="1900" b="1" dirty="0"/>
              <a:t>Hvad hvis vi bruger andre enhedsvektorer?</a:t>
            </a:r>
          </a:p>
        </p:txBody>
      </p:sp>
    </p:spTree>
    <p:extLst>
      <p:ext uri="{BB962C8B-B14F-4D97-AF65-F5344CB8AC3E}">
        <p14:creationId xmlns:p14="http://schemas.microsoft.com/office/powerpoint/2010/main" val="1581512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F7E8-761E-3091-738C-37E97A91B6A3}"/>
              </a:ext>
            </a:extLst>
          </p:cNvPr>
          <p:cNvSpPr>
            <a:spLocks noGrp="1"/>
          </p:cNvSpPr>
          <p:nvPr>
            <p:ph type="title"/>
          </p:nvPr>
        </p:nvSpPr>
        <p:spPr>
          <a:xfrm>
            <a:off x="766763" y="660400"/>
            <a:ext cx="10668000" cy="635000"/>
          </a:xfrm>
        </p:spPr>
        <p:txBody>
          <a:bodyPr/>
          <a:lstStyle/>
          <a:p>
            <a:r>
              <a:rPr lang="da-DK" sz="3200" b="1" dirty="0"/>
              <a:t>DEN RETNINGSAFLEDEDE</a:t>
            </a:r>
          </a:p>
        </p:txBody>
      </p:sp>
      <p:sp>
        <p:nvSpPr>
          <p:cNvPr id="4" name="Text Placeholder 3">
            <a:extLst>
              <a:ext uri="{FF2B5EF4-FFF2-40B4-BE49-F238E27FC236}">
                <a16:creationId xmlns:a16="http://schemas.microsoft.com/office/drawing/2014/main" id="{8FDA0E63-1074-8014-F51F-C931CAA9206D}"/>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473200"/>
            <a:ext cx="10668000" cy="21336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473200"/>
            <a:ext cx="50800" cy="21336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7018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DEFINITION</a:t>
            </a:r>
          </a:p>
        </p:txBody>
      </p:sp>
      <mc:AlternateContent xmlns:mc="http://schemas.openxmlformats.org/markup-compatibility/2006">
        <mc:Choice xmlns:a14="http://schemas.microsoft.com/office/drawing/2010/main" Requires="a14">
          <p:sp>
            <p:nvSpPr>
              <p:cNvPr id="203" name="S203"/>
              <p:cNvSpPr txBox="1"/>
              <p:nvPr/>
            </p:nvSpPr>
            <p:spPr>
              <a:xfrm>
                <a:off x="1071563" y="2057400"/>
                <a:ext cx="10058400" cy="1320800"/>
              </a:xfrm>
              <a:prstGeom prst="rect">
                <a:avLst/>
              </a:prstGeom>
              <a:noFill/>
              <a:ln>
                <a:noFill/>
              </a:ln>
            </p:spPr>
            <p:txBody>
              <a:bodyPr wrap="square" lIns="0" tIns="0" rIns="0" bIns="0">
                <a:noAutofit/>
              </a:bodyPr>
              <a:lstStyle/>
              <a:p>
                <a:pPr algn="l">
                  <a:lnSpc>
                    <a:spcPct val="120000"/>
                  </a:lnSpc>
                  <a:spcBef>
                    <a:spcPts val="0"/>
                  </a:spcBef>
                  <a:buNone/>
                </a:pPr>
                <a:r>
                  <a:rPr lang="da-DK" sz="1600" dirty="0"/>
                  <a:t>Den retningsafledede af </a:t>
                </a:r>
                <a14:m>
                  <m:oMath xmlns:m="http://schemas.openxmlformats.org/officeDocument/2006/math">
                    <m:r>
                      <a:rPr lang="da-DK" sz="1600">
                        <a:latin typeface="Cambria Math" panose="02040503050406030204" pitchFamily="18" charset="0"/>
                      </a:rPr>
                      <m:t>𝑓</m:t>
                    </m:r>
                    <m:r>
                      <a:rPr lang="da-DK" sz="1600">
                        <a:latin typeface="Cambria Math" panose="02040503050406030204" pitchFamily="18" charset="0"/>
                      </a:rPr>
                      <m:t> : </m:t>
                    </m:r>
                    <m:sSup>
                      <m:sSupPr>
                        <m:ctrlPr>
                          <a:rPr lang="da-DK" sz="1600">
                            <a:latin typeface="Cambria Math" panose="02040503050406030204" pitchFamily="18" charset="0"/>
                          </a:rPr>
                        </m:ctrlPr>
                      </m:sSupPr>
                      <m:e>
                        <m:r>
                          <a:rPr lang="da-DK" sz="1600">
                            <a:latin typeface="Cambria Math" panose="02040503050406030204" pitchFamily="18" charset="0"/>
                          </a:rPr>
                          <m:t>ℝ</m:t>
                        </m:r>
                      </m:e>
                      <m:sup>
                        <m:r>
                          <a:rPr lang="da-DK" sz="1600">
                            <a:latin typeface="Cambria Math" panose="02040503050406030204" pitchFamily="18" charset="0"/>
                          </a:rPr>
                          <m:t>𝑛</m:t>
                        </m:r>
                      </m:sup>
                    </m:sSup>
                    <m:r>
                      <a:rPr lang="da-DK" sz="1600">
                        <a:latin typeface="Cambria Math" panose="02040503050406030204" pitchFamily="18" charset="0"/>
                      </a:rPr>
                      <m:t> → </m:t>
                    </m:r>
                    <m:r>
                      <a:rPr lang="da-DK" sz="1600">
                        <a:latin typeface="Cambria Math" panose="02040503050406030204" pitchFamily="18" charset="0"/>
                      </a:rPr>
                      <m:t>ℝ</m:t>
                    </m:r>
                  </m:oMath>
                </a14:m>
                <a:r>
                  <a:rPr lang="da-DK" sz="1600" dirty="0"/>
                  <a:t> i punktet P</a:t>
                </a:r>
                <a:r>
                  <a:rPr lang="da-DK" sz="1600" baseline="-25000" dirty="0"/>
                  <a:t>0</a:t>
                </a:r>
                <a:r>
                  <a:rPr lang="da-DK" sz="1600" dirty="0"/>
                  <a:t> og i retningen af enhedsvektoren u (i.e. ‖u‖ = 1) er givet ved</a:t>
                </a:r>
              </a:p>
              <a:p>
                <a:pPr algn="ctr">
                  <a:spcBef>
                    <a:spcPts val="500"/>
                  </a:spcBef>
                  <a:buNone/>
                </a:pPr>
                <a14:m>
                  <m:oMathPara xmlns:m="http://schemas.openxmlformats.org/officeDocument/2006/math">
                    <m:oMath>
                      <m:sSub>
                        <m:sSubPr>
                          <m:ctrlPr>
                            <a:rPr lang="da-DK" sz="1800">
                              <a:latin typeface="Cambria Math" panose="02040503050406030204" pitchFamily="18" charset="0"/>
                            </a:rPr>
                          </m:ctrlPr>
                        </m:sSubPr>
                        <m:e>
                          <m:r>
                            <a:rPr lang="da-DK" sz="1800">
                              <a:latin typeface="Cambria Math" panose="02040503050406030204" pitchFamily="18" charset="0"/>
                            </a:rPr>
                            <m:t>𝐷</m:t>
                          </m:r>
                        </m:e>
                        <m:sub>
                          <m:r>
                            <a:rPr lang="da-DK" sz="1800">
                              <a:latin typeface="Cambria Math" panose="02040503050406030204" pitchFamily="18" charset="0"/>
                            </a:rPr>
                            <m:t>𝑢</m:t>
                          </m:r>
                        </m:sub>
                      </m:sSub>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func>
                        <m:funcPr>
                          <m:ctrlPr>
                            <a:rPr lang="da-DK" sz="1800" i="1">
                              <a:latin typeface="Cambria Math" panose="02040503050406030204" pitchFamily="18" charset="0"/>
                            </a:rPr>
                          </m:ctrlPr>
                        </m:funcPr>
                        <m:fName>
                          <m:limLow>
                            <m:limLowPr>
                              <m:ctrlPr>
                                <a:rPr lang="da-DK" sz="1800">
                                  <a:latin typeface="Cambria Math" panose="02040503050406030204" pitchFamily="18" charset="0"/>
                                </a:rPr>
                              </m:ctrlPr>
                            </m:limLowPr>
                            <m:e>
                              <m:r>
                                <a:rPr lang="da-DK" sz="1800">
                                  <a:latin typeface="Cambria Math" panose="02040503050406030204" pitchFamily="18" charset="0"/>
                                </a:rPr>
                                <m:t>𝑙𝑖𝑚</m:t>
                              </m:r>
                            </m:e>
                            <m:lim>
                              <m:r>
                                <a:rPr lang="da-DK" sz="1800">
                                  <a:latin typeface="Cambria Math" panose="02040503050406030204" pitchFamily="18" charset="0"/>
                                </a:rPr>
                                <m:t>ℎ</m:t>
                              </m:r>
                              <m:r>
                                <a:rPr lang="da-DK" sz="1800">
                                  <a:latin typeface="Cambria Math" panose="02040503050406030204" pitchFamily="18" charset="0"/>
                                </a:rPr>
                                <m:t>→0</m:t>
                              </m:r>
                            </m:lim>
                          </m:limLow>
                        </m:fName>
                        <m:e>
                          <m:f>
                            <m:fPr>
                              <m:ctrlPr>
                                <a:rPr lang="da-DK" sz="1800">
                                  <a:latin typeface="Cambria Math" panose="02040503050406030204" pitchFamily="18" charset="0"/>
                                </a:rPr>
                              </m:ctrlPr>
                            </m:fPr>
                            <m:num>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ℎ</m:t>
                              </m:r>
                              <m:r>
                                <a:rPr lang="da-DK" sz="1800" b="1" i="1">
                                  <a:latin typeface="Cambria Math" panose="02040503050406030204" pitchFamily="18" charset="0"/>
                                </a:rPr>
                                <m:t>𝒖</m:t>
                              </m:r>
                              <m:r>
                                <a:rPr lang="da-DK" sz="1800">
                                  <a:latin typeface="Cambria Math" panose="02040503050406030204" pitchFamily="18" charset="0"/>
                                </a:rPr>
                                <m:t>) − </m:t>
                              </m:r>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m:t>
                              </m:r>
                            </m:num>
                            <m:den>
                              <m:r>
                                <a:rPr lang="da-DK" sz="1800">
                                  <a:latin typeface="Cambria Math" panose="02040503050406030204" pitchFamily="18" charset="0"/>
                                </a:rPr>
                                <m:t>ℎ</m:t>
                              </m:r>
                            </m:den>
                          </m:f>
                        </m:e>
                      </m:func>
                      <m:r>
                        <a:rPr lang="da-DK" sz="1800">
                          <a:latin typeface="Cambria Math" panose="02040503050406030204" pitchFamily="18" charset="0"/>
                        </a:rPr>
                        <m:t>,</m:t>
                      </m:r>
                    </m:oMath>
                  </m:oMathPara>
                </a14:m>
                <a:endParaRPr lang="da-DK" sz="1600" dirty="0"/>
              </a:p>
              <a:p>
                <a:pPr algn="l">
                  <a:lnSpc>
                    <a:spcPct val="115000"/>
                  </a:lnSpc>
                  <a:spcBef>
                    <a:spcPts val="500"/>
                  </a:spcBef>
                  <a:buNone/>
                </a:pPr>
                <a:r>
                  <a:rPr lang="da-DK" sz="1600" dirty="0"/>
                  <a:t>hvis grænsen eksisterer.</a:t>
                </a:r>
              </a:p>
            </p:txBody>
          </p:sp>
        </mc:Choice>
        <mc:Fallback>
          <p:sp>
            <p:nvSpPr>
              <p:cNvPr id="203" name="S203"/>
              <p:cNvSpPr txBox="1">
                <a:spLocks noRot="1" noChangeAspect="1" noMove="1" noResize="1" noEditPoints="1" noAdjustHandles="1" noChangeArrowheads="1" noChangeShapeType="1" noTextEdit="1"/>
              </p:cNvSpPr>
              <p:nvPr/>
            </p:nvSpPr>
            <p:spPr>
              <a:xfrm>
                <a:off x="1071563" y="2057400"/>
                <a:ext cx="10058400" cy="1320800"/>
              </a:xfrm>
              <a:prstGeom prst="rect">
                <a:avLst/>
              </a:prstGeom>
              <a:blipFill>
                <a:blip r:embed="rId2"/>
                <a:stretch>
                  <a:fillRect l="-1261" t="-4808"/>
                </a:stretch>
              </a:blipFill>
              <a:ln>
                <a:noFill/>
              </a:ln>
            </p:spPr>
            <p:txBody>
              <a:bodyPr/>
              <a:lstStyle/>
              <a:p>
                <a:r>
                  <a:rPr lang="en-US">
                    <a:noFill/>
                  </a:rPr>
                  <a:t> </a:t>
                </a:r>
              </a:p>
            </p:txBody>
          </p:sp>
        </mc:Fallback>
      </mc:AlternateContent>
      <p:sp>
        <p:nvSpPr>
          <p:cNvPr id="204" name="S204"/>
          <p:cNvSpPr txBox="1"/>
          <p:nvPr/>
        </p:nvSpPr>
        <p:spPr>
          <a:xfrm>
            <a:off x="766763" y="3810000"/>
            <a:ext cx="10668000" cy="2159000"/>
          </a:xfrm>
          <a:prstGeom prst="rect">
            <a:avLst/>
          </a:prstGeom>
          <a:solidFill>
            <a:srgbClr val="F4F5F7"/>
          </a:solidFill>
          <a:ln>
            <a:noFill/>
          </a:ln>
        </p:spPr>
        <p:txBody>
          <a:bodyPr wrap="square" lIns="0" tIns="0" rIns="0" bIns="0">
            <a:noAutofit/>
          </a:bodyPr>
          <a:lstStyle/>
          <a:p>
            <a:endParaRPr lang="da-DK"/>
          </a:p>
        </p:txBody>
      </p:sp>
      <p:sp>
        <p:nvSpPr>
          <p:cNvPr id="205" name="S205"/>
          <p:cNvSpPr txBox="1"/>
          <p:nvPr/>
        </p:nvSpPr>
        <p:spPr>
          <a:xfrm>
            <a:off x="766763" y="3810000"/>
            <a:ext cx="50800" cy="2159000"/>
          </a:xfrm>
          <a:prstGeom prst="rect">
            <a:avLst/>
          </a:prstGeom>
          <a:solidFill>
            <a:srgbClr val="211A52"/>
          </a:solidFill>
          <a:ln>
            <a:noFill/>
          </a:ln>
        </p:spPr>
        <p:txBody>
          <a:bodyPr wrap="square" lIns="0" tIns="0" rIns="0" bIns="0">
            <a:noAutofit/>
          </a:bodyPr>
          <a:lstStyle/>
          <a:p>
            <a:endParaRPr lang="da-DK"/>
          </a:p>
        </p:txBody>
      </p:sp>
      <p:sp>
        <p:nvSpPr>
          <p:cNvPr id="206" name="S206"/>
          <p:cNvSpPr txBox="1"/>
          <p:nvPr/>
        </p:nvSpPr>
        <p:spPr>
          <a:xfrm>
            <a:off x="1071563" y="40386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SÆTNING</a:t>
            </a:r>
          </a:p>
        </p:txBody>
      </p:sp>
      <mc:AlternateContent xmlns:mc="http://schemas.openxmlformats.org/markup-compatibility/2006">
        <mc:Choice xmlns:a14="http://schemas.microsoft.com/office/drawing/2010/main" Requires="a14">
          <p:sp>
            <p:nvSpPr>
              <p:cNvPr id="207" name="S207"/>
              <p:cNvSpPr txBox="1"/>
              <p:nvPr/>
            </p:nvSpPr>
            <p:spPr>
              <a:xfrm>
                <a:off x="1071563" y="4394200"/>
                <a:ext cx="10058400" cy="1346200"/>
              </a:xfrm>
              <a:prstGeom prst="rect">
                <a:avLst/>
              </a:prstGeom>
              <a:noFill/>
              <a:ln>
                <a:noFill/>
              </a:ln>
            </p:spPr>
            <p:txBody>
              <a:bodyPr wrap="square" lIns="0" tIns="0" rIns="0" bIns="0">
                <a:noAutofit/>
              </a:bodyPr>
              <a:lstStyle/>
              <a:p>
                <a:pPr algn="l">
                  <a:lnSpc>
                    <a:spcPct val="120000"/>
                  </a:lnSpc>
                  <a:spcBef>
                    <a:spcPts val="0"/>
                  </a:spcBef>
                  <a:buNone/>
                </a:pPr>
                <a:r>
                  <a:rPr lang="da-DK" sz="1600" dirty="0"/>
                  <a:t>Lad </a:t>
                </a:r>
                <a14:m>
                  <m:oMath xmlns:m="http://schemas.openxmlformats.org/officeDocument/2006/math">
                    <m:r>
                      <a:rPr lang="da-DK" sz="1600">
                        <a:latin typeface="Cambria Math" panose="02040503050406030204" pitchFamily="18" charset="0"/>
                      </a:rPr>
                      <m:t>𝑓</m:t>
                    </m:r>
                    <m:r>
                      <a:rPr lang="da-DK" sz="1600">
                        <a:latin typeface="Cambria Math" panose="02040503050406030204" pitchFamily="18" charset="0"/>
                      </a:rPr>
                      <m:t> : </m:t>
                    </m:r>
                    <m:sSup>
                      <m:sSupPr>
                        <m:ctrlPr>
                          <a:rPr lang="da-DK" sz="1600">
                            <a:latin typeface="Cambria Math" panose="02040503050406030204" pitchFamily="18" charset="0"/>
                          </a:rPr>
                        </m:ctrlPr>
                      </m:sSupPr>
                      <m:e>
                        <m:r>
                          <a:rPr lang="da-DK" sz="1600">
                            <a:latin typeface="Cambria Math" panose="02040503050406030204" pitchFamily="18" charset="0"/>
                          </a:rPr>
                          <m:t>ℝ</m:t>
                        </m:r>
                      </m:e>
                      <m:sup>
                        <m:r>
                          <a:rPr lang="da-DK" sz="1600">
                            <a:latin typeface="Cambria Math" panose="02040503050406030204" pitchFamily="18" charset="0"/>
                          </a:rPr>
                          <m:t>𝑛</m:t>
                        </m:r>
                      </m:sup>
                    </m:sSup>
                    <m:r>
                      <a:rPr lang="da-DK" sz="1600">
                        <a:latin typeface="Cambria Math" panose="02040503050406030204" pitchFamily="18" charset="0"/>
                      </a:rPr>
                      <m:t> → </m:t>
                    </m:r>
                    <m:r>
                      <a:rPr lang="da-DK" sz="1600">
                        <a:latin typeface="Cambria Math" panose="02040503050406030204" pitchFamily="18" charset="0"/>
                      </a:rPr>
                      <m:t>ℝ</m:t>
                    </m:r>
                  </m:oMath>
                </a14:m>
                <a:r>
                  <a:rPr lang="da-DK" sz="1600" dirty="0"/>
                  <a:t> have kontinuerte første ordens partielle afledede der er kontinuerte i en omegn omkring P</a:t>
                </a:r>
                <a:r>
                  <a:rPr lang="da-DK" sz="1600" baseline="-25000" dirty="0"/>
                  <a:t>0</a:t>
                </a:r>
                <a:r>
                  <a:rPr lang="da-DK" sz="1600" dirty="0"/>
                  <a:t>, og u være en enhedsvektor, så eksisterer den retningsafledede D</a:t>
                </a:r>
                <a:r>
                  <a:rPr lang="da-DK" sz="1600" baseline="-25000" dirty="0"/>
                  <a:t>u</a:t>
                </a:r>
                <a:r>
                  <a:rPr lang="da-DK" sz="1600" dirty="0"/>
                  <a:t>f(P</a:t>
                </a:r>
                <a:r>
                  <a:rPr lang="da-DK" sz="1600" baseline="-25000" dirty="0"/>
                  <a:t>0</a:t>
                </a:r>
                <a:r>
                  <a:rPr lang="da-DK" sz="1600" dirty="0"/>
                  <a:t>) og er givet ved</a:t>
                </a:r>
              </a:p>
              <a:p>
                <a:pPr algn="ctr">
                  <a:spcBef>
                    <a:spcPts val="700"/>
                  </a:spcBef>
                  <a:buNone/>
                </a:pPr>
                <a14:m>
                  <m:oMathPara xmlns:m="http://schemas.openxmlformats.org/officeDocument/2006/math">
                    <m:oMath>
                      <m:sSub>
                        <m:sSubPr>
                          <m:ctrlPr>
                            <a:rPr lang="da-DK" sz="1800">
                              <a:latin typeface="Cambria Math" panose="02040503050406030204" pitchFamily="18" charset="0"/>
                            </a:rPr>
                          </m:ctrlPr>
                        </m:sSubPr>
                        <m:e>
                          <m:r>
                            <a:rPr lang="da-DK" sz="1800">
                              <a:latin typeface="Cambria Math" panose="02040503050406030204" pitchFamily="18" charset="0"/>
                            </a:rPr>
                            <m:t>𝐷</m:t>
                          </m:r>
                        </m:e>
                        <m:sub>
                          <m:r>
                            <a:rPr lang="da-DK" sz="1800">
                              <a:latin typeface="Cambria Math" panose="02040503050406030204" pitchFamily="18" charset="0"/>
                            </a:rPr>
                            <m:t>𝑢</m:t>
                          </m:r>
                        </m:sub>
                      </m:sSub>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sSub>
                        <m:sSubPr>
                          <m:ctrlPr>
                            <a:rPr lang="da-DK" sz="1800">
                              <a:latin typeface="Cambria Math" panose="02040503050406030204" pitchFamily="18" charset="0"/>
                            </a:rPr>
                          </m:ctrlPr>
                        </m:sSubPr>
                        <m:e>
                          <m:r>
                            <a:rPr lang="da-DK" sz="1800">
                              <a:latin typeface="Cambria Math" panose="02040503050406030204" pitchFamily="18" charset="0"/>
                            </a:rPr>
                            <m:t>𝑃</m:t>
                          </m:r>
                        </m:e>
                        <m:sub>
                          <m:r>
                            <a:rPr lang="da-DK" sz="1800">
                              <a:latin typeface="Cambria Math" panose="02040503050406030204" pitchFamily="18" charset="0"/>
                            </a:rPr>
                            <m:t>0</m:t>
                          </m:r>
                        </m:sub>
                      </m:sSub>
                      <m:r>
                        <a:rPr lang="da-DK" sz="1800">
                          <a:latin typeface="Cambria Math" panose="02040503050406030204" pitchFamily="18" charset="0"/>
                        </a:rPr>
                        <m:t>) · </m:t>
                      </m:r>
                      <m:r>
                        <a:rPr lang="da-DK" sz="1800">
                          <a:latin typeface="Cambria Math" panose="02040503050406030204" pitchFamily="18" charset="0"/>
                        </a:rPr>
                        <m:t>𝑢</m:t>
                      </m:r>
                      <m:r>
                        <a:rPr lang="da-DK" sz="1800">
                          <a:latin typeface="Cambria Math" panose="02040503050406030204" pitchFamily="18" charset="0"/>
                        </a:rPr>
                        <m:t>.</m:t>
                      </m:r>
                    </m:oMath>
                  </m:oMathPara>
                </a14:m>
                <a:endParaRPr lang="da-DK" sz="1600" dirty="0"/>
              </a:p>
            </p:txBody>
          </p:sp>
        </mc:Choice>
        <mc:Fallback>
          <p:sp>
            <p:nvSpPr>
              <p:cNvPr id="207" name="S207"/>
              <p:cNvSpPr txBox="1">
                <a:spLocks noRot="1" noChangeAspect="1" noMove="1" noResize="1" noEditPoints="1" noAdjustHandles="1" noChangeArrowheads="1" noChangeShapeType="1" noTextEdit="1"/>
              </p:cNvSpPr>
              <p:nvPr/>
            </p:nvSpPr>
            <p:spPr>
              <a:xfrm>
                <a:off x="1071563" y="4394200"/>
                <a:ext cx="10058400" cy="1346200"/>
              </a:xfrm>
              <a:prstGeom prst="rect">
                <a:avLst/>
              </a:prstGeom>
              <a:blipFill>
                <a:blip r:embed="rId3"/>
                <a:stretch>
                  <a:fillRect l="-1261" t="-3738" r="-151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2327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CDD72-C4B3-EB69-6BD1-47A7272AC8D0}"/>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689BB03E-1A72-BC9A-B172-7B887987ABAE}"/>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92163" y="1397000"/>
            <a:ext cx="10668000" cy="1095375"/>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73113" y="1414462"/>
            <a:ext cx="45719" cy="1077913"/>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66800" y="1501775"/>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mc:AlternateContent xmlns:mc="http://schemas.openxmlformats.org/markup-compatibility/2006">
        <mc:Choice xmlns:a14="http://schemas.microsoft.com/office/drawing/2010/main" Requires="a14">
          <p:sp>
            <p:nvSpPr>
              <p:cNvPr id="203" name="S203"/>
              <p:cNvSpPr txBox="1"/>
              <p:nvPr/>
            </p:nvSpPr>
            <p:spPr>
              <a:xfrm>
                <a:off x="1066800" y="1730375"/>
                <a:ext cx="10058400" cy="762000"/>
              </a:xfrm>
              <a:prstGeom prst="rect">
                <a:avLst/>
              </a:prstGeom>
              <a:noFill/>
              <a:ln>
                <a:noFill/>
              </a:ln>
            </p:spPr>
            <p:txBody>
              <a:bodyPr wrap="square" lIns="0" tIns="0" rIns="0" bIns="0">
                <a:noAutofit/>
              </a:bodyPr>
              <a:lstStyle/>
              <a:p>
                <a:pPr algn="l">
                  <a:lnSpc>
                    <a:spcPct val="125000"/>
                  </a:lnSpc>
                  <a:spcBef>
                    <a:spcPts val="0"/>
                  </a:spcBef>
                  <a:buNone/>
                </a:pPr>
                <a:r>
                  <a:rPr lang="da-DK" sz="2200" dirty="0"/>
                  <a:t>Bestem den retningsafledede af f(x, y) = </a:t>
                </a:r>
                <a14:m>
                  <m:oMath xmlns:m="http://schemas.openxmlformats.org/officeDocument/2006/math">
                    <m:f>
                      <m:fPr>
                        <m:ctrlPr>
                          <a:rPr lang="da-DK" sz="2200">
                            <a:latin typeface="Cambria Math" panose="02040503050406030204" pitchFamily="18" charset="0"/>
                          </a:rPr>
                        </m:ctrlPr>
                      </m:fPr>
                      <m:num>
                        <m:r>
                          <a:rPr lang="da-DK" sz="2200">
                            <a:latin typeface="Cambria Math" panose="02040503050406030204" pitchFamily="18" charset="0"/>
                          </a:rPr>
                          <m:t>𝑥</m:t>
                        </m:r>
                      </m:num>
                      <m:den>
                        <m:r>
                          <a:rPr lang="da-DK" sz="2200">
                            <a:latin typeface="Cambria Math" panose="02040503050406030204" pitchFamily="18" charset="0"/>
                          </a:rPr>
                          <m:t>1+</m:t>
                        </m:r>
                        <m:r>
                          <a:rPr lang="da-DK" sz="2200">
                            <a:latin typeface="Cambria Math" panose="02040503050406030204" pitchFamily="18" charset="0"/>
                          </a:rPr>
                          <m:t>𝑦</m:t>
                        </m:r>
                      </m:den>
                    </m:f>
                  </m:oMath>
                </a14:m>
                <a:r>
                  <a:rPr lang="da-DK" sz="2200" dirty="0"/>
                  <a:t> i punktet (0, 0) i retningen i − j.</a:t>
                </a:r>
              </a:p>
            </p:txBody>
          </p:sp>
        </mc:Choice>
        <mc:Fallback>
          <p:sp>
            <p:nvSpPr>
              <p:cNvPr id="203" name="S203"/>
              <p:cNvSpPr txBox="1">
                <a:spLocks noRot="1" noChangeAspect="1" noMove="1" noResize="1" noEditPoints="1" noAdjustHandles="1" noChangeArrowheads="1" noChangeShapeType="1" noTextEdit="1"/>
              </p:cNvSpPr>
              <p:nvPr/>
            </p:nvSpPr>
            <p:spPr>
              <a:xfrm>
                <a:off x="1066800" y="1730375"/>
                <a:ext cx="10058400" cy="762000"/>
              </a:xfrm>
              <a:prstGeom prst="rect">
                <a:avLst/>
              </a:prstGeom>
              <a:blipFill>
                <a:blip r:embed="rId2"/>
                <a:stretch>
                  <a:fillRect l="-176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39382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5D97-FEB0-0EC9-42B1-EB6A0B5FAF39}"/>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877E68B9-CFD1-73ED-0DCE-ED235DCD01A2}"/>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574800"/>
            <a:ext cx="10668000" cy="39116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574800"/>
            <a:ext cx="50800" cy="39116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8034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LØSNING</a:t>
            </a:r>
          </a:p>
        </p:txBody>
      </p:sp>
      <mc:AlternateContent xmlns:mc="http://schemas.openxmlformats.org/markup-compatibility/2006">
        <mc:Choice xmlns:a14="http://schemas.microsoft.com/office/drawing/2010/main" Requires="a14">
          <p:sp>
            <p:nvSpPr>
              <p:cNvPr id="203" name="S203"/>
              <p:cNvSpPr txBox="1"/>
              <p:nvPr/>
            </p:nvSpPr>
            <p:spPr>
              <a:xfrm>
                <a:off x="1071563" y="2159000"/>
                <a:ext cx="10058400" cy="3251200"/>
              </a:xfrm>
              <a:prstGeom prst="rect">
                <a:avLst/>
              </a:prstGeom>
              <a:noFill/>
              <a:ln>
                <a:noFill/>
              </a:ln>
            </p:spPr>
            <p:txBody>
              <a:bodyPr wrap="square" lIns="0" tIns="0" rIns="0" bIns="0">
                <a:noAutofit/>
              </a:bodyPr>
              <a:lstStyle/>
              <a:p>
                <a:pPr algn="ctr">
                  <a:spcBef>
                    <a:spcPts val="0"/>
                  </a:spcBef>
                  <a:buNone/>
                </a:pPr>
                <a14:m>
                  <m:oMathPara xmlns:m="http://schemas.openxmlformats.org/officeDocument/2006/math">
                    <m:oMath>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m:t>
                      </m:r>
                      <m:r>
                        <a:rPr lang="da-DK" sz="1800">
                          <a:latin typeface="Cambria Math" panose="02040503050406030204" pitchFamily="18" charset="0"/>
                        </a:rPr>
                        <m:t>𝑥</m:t>
                      </m:r>
                      <m:r>
                        <a:rPr lang="da-DK" sz="1800">
                          <a:latin typeface="Cambria Math" panose="02040503050406030204" pitchFamily="18" charset="0"/>
                        </a:rPr>
                        <m:t>, </m:t>
                      </m:r>
                      <m:r>
                        <a:rPr lang="da-DK" sz="1800">
                          <a:latin typeface="Cambria Math" panose="02040503050406030204" pitchFamily="18" charset="0"/>
                        </a:rPr>
                        <m:t>𝑦</m:t>
                      </m:r>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1</m:t>
                          </m:r>
                        </m:num>
                        <m:den>
                          <m:r>
                            <a:rPr lang="da-DK" sz="1800">
                              <a:latin typeface="Cambria Math" panose="02040503050406030204" pitchFamily="18" charset="0"/>
                            </a:rPr>
                            <m:t>1+</m:t>
                          </m:r>
                          <m:r>
                            <a:rPr lang="da-DK" sz="1800">
                              <a:latin typeface="Cambria Math" panose="02040503050406030204" pitchFamily="18" charset="0"/>
                            </a:rPr>
                            <m:t>𝑦</m:t>
                          </m:r>
                        </m:den>
                      </m:f>
                      <m:r>
                        <a:rPr lang="da-DK" sz="1800">
                          <a:latin typeface="Cambria Math" panose="02040503050406030204" pitchFamily="18" charset="0"/>
                        </a:rPr>
                        <m:t>, 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𝑦</m:t>
                          </m:r>
                        </m:den>
                      </m:f>
                      <m:r>
                        <a:rPr lang="da-DK" sz="1800">
                          <a:latin typeface="Cambria Math" panose="02040503050406030204" pitchFamily="18" charset="0"/>
                        </a:rPr>
                        <m:t>(</m:t>
                      </m:r>
                      <m:r>
                        <a:rPr lang="da-DK" sz="1800">
                          <a:latin typeface="Cambria Math" panose="02040503050406030204" pitchFamily="18" charset="0"/>
                        </a:rPr>
                        <m:t>𝑥</m:t>
                      </m:r>
                      <m:r>
                        <a:rPr lang="da-DK" sz="1800">
                          <a:latin typeface="Cambria Math" panose="02040503050406030204" pitchFamily="18" charset="0"/>
                        </a:rPr>
                        <m:t>, </m:t>
                      </m:r>
                      <m:r>
                        <a:rPr lang="da-DK" sz="1800">
                          <a:latin typeface="Cambria Math" panose="02040503050406030204" pitchFamily="18" charset="0"/>
                        </a:rPr>
                        <m:t>𝑦</m:t>
                      </m:r>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𝑥</m:t>
                          </m:r>
                        </m:num>
                        <m:den>
                          <m:sSup>
                            <m:sSupPr>
                              <m:ctrlPr>
                                <a:rPr lang="da-DK" sz="1800">
                                  <a:latin typeface="Cambria Math" panose="02040503050406030204" pitchFamily="18" charset="0"/>
                                </a:rPr>
                              </m:ctrlPr>
                            </m:sSupPr>
                            <m:e>
                              <m:r>
                                <a:rPr lang="da-DK" sz="1800">
                                  <a:latin typeface="Cambria Math" panose="02040503050406030204" pitchFamily="18" charset="0"/>
                                </a:rPr>
                                <m:t>(1+</m:t>
                              </m:r>
                              <m:r>
                                <a:rPr lang="da-DK" sz="1800">
                                  <a:latin typeface="Cambria Math" panose="02040503050406030204" pitchFamily="18" charset="0"/>
                                </a:rPr>
                                <m:t>𝑦</m:t>
                              </m:r>
                              <m:r>
                                <a:rPr lang="da-DK" sz="1800">
                                  <a:latin typeface="Cambria Math" panose="02040503050406030204" pitchFamily="18" charset="0"/>
                                </a:rPr>
                                <m:t>)</m:t>
                              </m:r>
                            </m:e>
                            <m:sup>
                              <m:r>
                                <a:rPr lang="da-DK" sz="1800">
                                  <a:latin typeface="Cambria Math" panose="02040503050406030204" pitchFamily="18" charset="0"/>
                                </a:rPr>
                                <m:t>2</m:t>
                              </m:r>
                            </m:sup>
                          </m:sSup>
                        </m:den>
                      </m:f>
                      <m:r>
                        <a:rPr lang="da-DK" sz="1800">
                          <a:latin typeface="Cambria Math" panose="02040503050406030204" pitchFamily="18" charset="0"/>
                        </a:rPr>
                        <m:t>.</m:t>
                      </m:r>
                    </m:oMath>
                  </m:oMathPara>
                </a14:m>
                <a:endParaRPr/>
              </a:p>
              <a:p>
                <a:pPr algn="l">
                  <a:lnSpc>
                    <a:spcPct val="115000"/>
                  </a:lnSpc>
                  <a:spcBef>
                    <a:spcPts val="500"/>
                  </a:spcBef>
                  <a:buNone/>
                </a:pPr>
                <a:r>
                  <a:rPr lang="da-DK" sz="1600" dirty="0"/>
                  <a:t>Det giver os</a:t>
                </a:r>
              </a:p>
              <a:p>
                <a:pPr algn="ctr">
                  <a:spcBef>
                    <a:spcPts val="400"/>
                  </a:spcBef>
                  <a:buNone/>
                </a:pPr>
                <a14:m>
                  <m:oMathPara xmlns:m="http://schemas.openxmlformats.org/officeDocument/2006/math">
                    <m:oMath>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(0, 0) =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(0, 0),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𝑦</m:t>
                          </m:r>
                        </m:den>
                      </m:f>
                      <m:r>
                        <a:rPr lang="da-DK" sz="1800">
                          <a:latin typeface="Cambria Math" panose="02040503050406030204" pitchFamily="18" charset="0"/>
                        </a:rPr>
                        <m:t>(0, 0)⟩ = ⟨1, 0⟩.</m:t>
                      </m:r>
                    </m:oMath>
                  </m:oMathPara>
                </a14:m>
                <a:endParaRPr lang="da-DK" sz="1600" dirty="0"/>
              </a:p>
              <a:p>
                <a:pPr algn="l">
                  <a:lnSpc>
                    <a:spcPct val="115000"/>
                  </a:lnSpc>
                  <a:spcBef>
                    <a:spcPts val="500"/>
                  </a:spcBef>
                  <a:buNone/>
                </a:pPr>
                <a:r>
                  <a:rPr lang="da-DK" sz="1600" dirty="0"/>
                  <a:t>Vores retningsvektor er givet ved i − j = ⟨1, −1⟩. Vi normaliserer</a:t>
                </a:r>
              </a:p>
              <a:p>
                <a:pPr algn="ctr">
                  <a:spcBef>
                    <a:spcPts val="400"/>
                  </a:spcBef>
                  <a:buNone/>
                </a:pPr>
                <a14:m>
                  <m:oMathPara xmlns:m="http://schemas.openxmlformats.org/officeDocument/2006/math">
                    <m:oMath>
                      <m:r>
                        <a:rPr lang="da-DK" sz="1800">
                          <a:latin typeface="Cambria Math" panose="02040503050406030204" pitchFamily="18" charset="0"/>
                        </a:rPr>
                        <m:t>𝑢</m:t>
                      </m:r>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𝑖</m:t>
                          </m:r>
                          <m:r>
                            <a:rPr lang="da-DK" sz="1800">
                              <a:latin typeface="Cambria Math" panose="02040503050406030204" pitchFamily="18" charset="0"/>
                            </a:rPr>
                            <m:t> − </m:t>
                          </m:r>
                          <m:r>
                            <a:rPr lang="da-DK" sz="1800">
                              <a:latin typeface="Cambria Math" panose="02040503050406030204" pitchFamily="18" charset="0"/>
                            </a:rPr>
                            <m:t>𝑗</m:t>
                          </m:r>
                        </m:num>
                        <m:den>
                          <m:r>
                            <a:rPr lang="da-DK" sz="1800">
                              <a:latin typeface="Cambria Math" panose="02040503050406030204" pitchFamily="18" charset="0"/>
                            </a:rPr>
                            <m:t>‖</m:t>
                          </m:r>
                          <m:r>
                            <a:rPr lang="da-DK" sz="1800">
                              <a:latin typeface="Cambria Math" panose="02040503050406030204" pitchFamily="18" charset="0"/>
                            </a:rPr>
                            <m:t>𝑖</m:t>
                          </m:r>
                          <m:r>
                            <a:rPr lang="da-DK" sz="1800">
                              <a:latin typeface="Cambria Math" panose="02040503050406030204" pitchFamily="18" charset="0"/>
                            </a:rPr>
                            <m:t> − </m:t>
                          </m:r>
                          <m:r>
                            <a:rPr lang="da-DK" sz="1800">
                              <a:latin typeface="Cambria Math" panose="02040503050406030204" pitchFamily="18" charset="0"/>
                            </a:rPr>
                            <m:t>𝑗</m:t>
                          </m:r>
                          <m:r>
                            <a:rPr lang="da-DK" sz="1800">
                              <a:latin typeface="Cambria Math" panose="02040503050406030204" pitchFamily="18" charset="0"/>
                            </a:rPr>
                            <m:t>‖</m:t>
                          </m:r>
                        </m:den>
                      </m:f>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1</m:t>
                          </m:r>
                        </m:num>
                        <m:den>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den>
                      </m:f>
                      <m:r>
                        <a:rPr lang="da-DK" sz="1800">
                          <a:latin typeface="Cambria Math" panose="02040503050406030204" pitchFamily="18" charset="0"/>
                        </a:rPr>
                        <m:t>⟨1, −1⟩</m:t>
                      </m:r>
                    </m:oMath>
                  </m:oMathPara>
                </a14:m>
                <a:endParaRPr lang="da-DK" sz="1600" dirty="0"/>
              </a:p>
              <a:p>
                <a:pPr algn="l">
                  <a:lnSpc>
                    <a:spcPct val="115000"/>
                  </a:lnSpc>
                  <a:spcBef>
                    <a:spcPts val="500"/>
                  </a:spcBef>
                  <a:buNone/>
                </a:pPr>
                <a:r>
                  <a:rPr lang="da-DK" sz="1600" dirty="0"/>
                  <a:t>Det giver os at den retningsafledede er givet ved</a:t>
                </a:r>
              </a:p>
              <a:p>
                <a:pPr algn="ctr">
                  <a:spcBef>
                    <a:spcPts val="400"/>
                  </a:spcBef>
                  <a:buNone/>
                </a:pPr>
                <a14:m>
                  <m:oMathPara xmlns:m="http://schemas.openxmlformats.org/officeDocument/2006/math">
                    <m:oMath>
                      <m:sSub>
                        <m:sSubPr>
                          <m:ctrlPr>
                            <a:rPr lang="da-DK" sz="1800">
                              <a:latin typeface="Cambria Math" panose="02040503050406030204" pitchFamily="18" charset="0"/>
                            </a:rPr>
                          </m:ctrlPr>
                        </m:sSubPr>
                        <m:e>
                          <m:r>
                            <a:rPr lang="da-DK" sz="1800">
                              <a:latin typeface="Cambria Math" panose="02040503050406030204" pitchFamily="18" charset="0"/>
                            </a:rPr>
                            <m:t>𝐷</m:t>
                          </m:r>
                        </m:e>
                        <m:sub>
                          <m:r>
                            <a:rPr lang="da-DK" sz="1800">
                              <a:latin typeface="Cambria Math" panose="02040503050406030204" pitchFamily="18" charset="0"/>
                            </a:rPr>
                            <m:t>𝑢</m:t>
                          </m:r>
                        </m:sub>
                      </m:sSub>
                      <m:r>
                        <a:rPr lang="da-DK" sz="1800">
                          <a:latin typeface="Cambria Math" panose="02040503050406030204" pitchFamily="18" charset="0"/>
                        </a:rPr>
                        <m:t>𝑓</m:t>
                      </m:r>
                      <m:r>
                        <a:rPr lang="da-DK" sz="1800">
                          <a:latin typeface="Cambria Math" panose="02040503050406030204" pitchFamily="18" charset="0"/>
                        </a:rPr>
                        <m:t>(0, 0) = </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(0, 0) · </m:t>
                      </m:r>
                      <m:r>
                        <a:rPr lang="da-DK" sz="1800">
                          <a:latin typeface="Cambria Math" panose="02040503050406030204" pitchFamily="18" charset="0"/>
                        </a:rPr>
                        <m:t>𝑢</m:t>
                      </m:r>
                      <m:r>
                        <a:rPr lang="da-DK" sz="1800">
                          <a:latin typeface="Cambria Math" panose="02040503050406030204" pitchFamily="18" charset="0"/>
                        </a:rPr>
                        <m:t> = ⟨1, 0⟩ · ⟨</m:t>
                      </m:r>
                      <m:f>
                        <m:fPr>
                          <m:ctrlPr>
                            <a:rPr lang="da-DK" sz="1800">
                              <a:latin typeface="Cambria Math" panose="02040503050406030204" pitchFamily="18" charset="0"/>
                            </a:rPr>
                          </m:ctrlPr>
                        </m:fPr>
                        <m:num>
                          <m:r>
                            <a:rPr lang="da-DK" sz="1800">
                              <a:latin typeface="Cambria Math" panose="02040503050406030204" pitchFamily="18" charset="0"/>
                            </a:rPr>
                            <m:t>1</m:t>
                          </m:r>
                        </m:num>
                        <m:den>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den>
                      </m:f>
                      <m:r>
                        <a:rPr lang="da-DK" sz="1800">
                          <a:latin typeface="Cambria Math" panose="02040503050406030204" pitchFamily="18" charset="0"/>
                        </a:rPr>
                        <m:t>, −</m:t>
                      </m:r>
                      <m:f>
                        <m:fPr>
                          <m:ctrlPr>
                            <a:rPr lang="da-DK" sz="1800">
                              <a:latin typeface="Cambria Math" panose="02040503050406030204" pitchFamily="18" charset="0"/>
                            </a:rPr>
                          </m:ctrlPr>
                        </m:fPr>
                        <m:num>
                          <m:r>
                            <a:rPr lang="da-DK" sz="1800">
                              <a:latin typeface="Cambria Math" panose="02040503050406030204" pitchFamily="18" charset="0"/>
                            </a:rPr>
                            <m:t>1</m:t>
                          </m:r>
                        </m:num>
                        <m:den>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den>
                      </m:f>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1</m:t>
                          </m:r>
                        </m:num>
                        <m:den>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den>
                      </m:f>
                      <m:r>
                        <a:rPr lang="da-DK" sz="1800">
                          <a:latin typeface="Cambria Math" panose="02040503050406030204" pitchFamily="18" charset="0"/>
                        </a:rPr>
                        <m:t> = </m:t>
                      </m:r>
                      <m:f>
                        <m:fPr>
                          <m:ctrlPr>
                            <a:rPr lang="da-DK" sz="1800" i="1">
                              <a:latin typeface="Cambria Math" panose="02040503050406030204" pitchFamily="18" charset="0"/>
                            </a:rPr>
                          </m:ctrlPr>
                        </m:fPr>
                        <m:num>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num>
                        <m:den>
                          <m:r>
                            <a:rPr lang="da-DK" sz="1800">
                              <a:latin typeface="Cambria Math" panose="02040503050406030204" pitchFamily="18" charset="0"/>
                            </a:rPr>
                            <m:t>2</m:t>
                          </m:r>
                        </m:den>
                      </m:f>
                      <m:r>
                        <a:rPr lang="da-DK" sz="1800">
                          <a:latin typeface="Cambria Math" panose="02040503050406030204" pitchFamily="18" charset="0"/>
                        </a:rPr>
                        <m:t>.</m:t>
                      </m:r>
                    </m:oMath>
                  </m:oMathPara>
                </a14:m>
                <a:endParaRPr lang="da-DK" sz="1600" dirty="0"/>
              </a:p>
            </p:txBody>
          </p:sp>
        </mc:Choice>
        <mc:Fallback>
          <p:sp>
            <p:nvSpPr>
              <p:cNvPr id="203" name="S203"/>
              <p:cNvSpPr txBox="1">
                <a:spLocks noRot="1" noChangeAspect="1" noMove="1" noResize="1" noEditPoints="1" noAdjustHandles="1" noChangeArrowheads="1" noChangeShapeType="1" noTextEdit="1"/>
              </p:cNvSpPr>
              <p:nvPr/>
            </p:nvSpPr>
            <p:spPr>
              <a:xfrm>
                <a:off x="1071563" y="2159000"/>
                <a:ext cx="10058400" cy="3251200"/>
              </a:xfrm>
              <a:prstGeom prst="rect">
                <a:avLst/>
              </a:prstGeom>
              <a:blipFill>
                <a:blip r:embed="rId2"/>
                <a:stretch>
                  <a:fillRect l="-1261" t="-388" b="-542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185422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D9FA-4C0C-A076-B430-0BE2B80C2DBF}"/>
              </a:ext>
            </a:extLst>
          </p:cNvPr>
          <p:cNvSpPr>
            <a:spLocks noGrp="1"/>
          </p:cNvSpPr>
          <p:nvPr>
            <p:ph type="title"/>
          </p:nvPr>
        </p:nvSpPr>
        <p:spPr>
          <a:xfrm>
            <a:off x="766763" y="660400"/>
            <a:ext cx="10668000" cy="635000"/>
          </a:xfrm>
        </p:spPr>
        <p:txBody>
          <a:bodyPr/>
          <a:lstStyle/>
          <a:p>
            <a:r>
              <a:rPr lang="da-DK" sz="3200" b="1" dirty="0"/>
              <a:t>DEN RETNINGSAFLEDEDE</a:t>
            </a:r>
          </a:p>
        </p:txBody>
      </p:sp>
      <p:sp>
        <p:nvSpPr>
          <p:cNvPr id="4" name="Text Placeholder 3">
            <a:extLst>
              <a:ext uri="{FF2B5EF4-FFF2-40B4-BE49-F238E27FC236}">
                <a16:creationId xmlns:a16="http://schemas.microsoft.com/office/drawing/2014/main" id="{AFBB5740-F6BD-F9D5-87D9-20C825AB81EC}"/>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mc:AlternateContent xmlns:mc="http://schemas.openxmlformats.org/markup-compatibility/2006">
        <mc:Choice xmlns:a14="http://schemas.microsoft.com/office/drawing/2010/main" Requires="a14">
          <p:sp>
            <p:nvSpPr>
              <p:cNvPr id="200" name="S200"/>
              <p:cNvSpPr txBox="1"/>
              <p:nvPr/>
            </p:nvSpPr>
            <p:spPr>
              <a:xfrm>
                <a:off x="766763" y="1905000"/>
                <a:ext cx="10668000" cy="3302000"/>
              </a:xfrm>
              <a:prstGeom prst="rect">
                <a:avLst/>
              </a:prstGeom>
              <a:noFill/>
              <a:ln>
                <a:noFill/>
              </a:ln>
            </p:spPr>
            <p:txBody>
              <a:bodyPr wrap="square" lIns="0" tIns="0" rIns="0" bIns="0">
                <a:noAutofit/>
              </a:bodyPr>
              <a:lstStyle/>
              <a:p>
                <a:pPr algn="l">
                  <a:lnSpc>
                    <a:spcPct val="115000"/>
                  </a:lnSpc>
                  <a:spcBef>
                    <a:spcPts val="0"/>
                  </a:spcBef>
                  <a:buNone/>
                </a:pPr>
                <a:r>
                  <a:rPr lang="da-DK" sz="1800" dirty="0"/>
                  <a:t>Hvis φ er vinklen mellem to vektorer v og w, så er prikproduktet givet ved</a:t>
                </a:r>
              </a:p>
              <a:p>
                <a:pPr algn="ctr">
                  <a:spcBef>
                    <a:spcPts val="900"/>
                  </a:spcBef>
                  <a:buNone/>
                </a:pPr>
                <a14:m>
                  <m:oMathPara xmlns:m="http://schemas.openxmlformats.org/officeDocument/2006/math">
                    <m:oMath>
                      <m:r>
                        <a:rPr lang="da-DK" sz="2000">
                          <a:latin typeface="Cambria Math" panose="02040503050406030204" pitchFamily="18" charset="0"/>
                        </a:rPr>
                        <m:t>𝑣</m:t>
                      </m:r>
                      <m:r>
                        <a:rPr lang="da-DK" sz="2000">
                          <a:latin typeface="Cambria Math" panose="02040503050406030204" pitchFamily="18" charset="0"/>
                        </a:rPr>
                        <m:t> · </m:t>
                      </m:r>
                      <m:r>
                        <a:rPr lang="da-DK" sz="2000">
                          <a:latin typeface="Cambria Math" panose="02040503050406030204" pitchFamily="18" charset="0"/>
                        </a:rPr>
                        <m:t>𝑤</m:t>
                      </m:r>
                      <m:r>
                        <a:rPr lang="da-DK" sz="2000">
                          <a:latin typeface="Cambria Math" panose="02040503050406030204" pitchFamily="18" charset="0"/>
                        </a:rPr>
                        <m:t> = ‖</m:t>
                      </m:r>
                      <m:r>
                        <a:rPr lang="da-DK" sz="2000">
                          <a:latin typeface="Cambria Math" panose="02040503050406030204" pitchFamily="18" charset="0"/>
                        </a:rPr>
                        <m:t>𝑣</m:t>
                      </m:r>
                      <m:r>
                        <a:rPr lang="da-DK" sz="2000">
                          <a:latin typeface="Cambria Math" panose="02040503050406030204" pitchFamily="18" charset="0"/>
                        </a:rPr>
                        <m:t>‖‖</m:t>
                      </m:r>
                      <m:r>
                        <a:rPr lang="da-DK" sz="2000">
                          <a:latin typeface="Cambria Math" panose="02040503050406030204" pitchFamily="18" charset="0"/>
                        </a:rPr>
                        <m:t>𝑤</m:t>
                      </m:r>
                      <m:r>
                        <a:rPr lang="da-DK" sz="2000">
                          <a:latin typeface="Cambria Math" panose="02040503050406030204" pitchFamily="18" charset="0"/>
                        </a:rPr>
                        <m:t>‖ </m:t>
                      </m:r>
                      <m:r>
                        <a:rPr lang="da-DK" sz="2000">
                          <a:latin typeface="Cambria Math" panose="02040503050406030204" pitchFamily="18" charset="0"/>
                        </a:rPr>
                        <m:t>𝑐𝑜𝑠</m:t>
                      </m:r>
                      <m:r>
                        <a:rPr lang="da-DK" sz="2000">
                          <a:latin typeface="Cambria Math" panose="02040503050406030204" pitchFamily="18" charset="0"/>
                        </a:rPr>
                        <m:t>(</m:t>
                      </m:r>
                      <m:r>
                        <a:rPr lang="da-DK" sz="2000">
                          <a:latin typeface="Cambria Math" panose="02040503050406030204" pitchFamily="18" charset="0"/>
                        </a:rPr>
                        <m:t>𝜑</m:t>
                      </m:r>
                      <m:r>
                        <a:rPr lang="da-DK" sz="2000">
                          <a:latin typeface="Cambria Math" panose="02040503050406030204" pitchFamily="18" charset="0"/>
                        </a:rPr>
                        <m:t>).</m:t>
                      </m:r>
                    </m:oMath>
                  </m:oMathPara>
                </a14:m>
                <a:endParaRPr lang="da-DK" sz="1800" dirty="0"/>
              </a:p>
              <a:p>
                <a:pPr algn="l">
                  <a:lnSpc>
                    <a:spcPct val="115000"/>
                  </a:lnSpc>
                  <a:spcBef>
                    <a:spcPts val="1000"/>
                  </a:spcBef>
                  <a:buNone/>
                </a:pPr>
                <a:r>
                  <a:rPr lang="da-DK" sz="1800" dirty="0"/>
                  <a:t>Dermed gælder der for den retningsafledede af f i punktet P, at</a:t>
                </a:r>
              </a:p>
              <a:p>
                <a:pPr algn="ctr">
                  <a:spcBef>
                    <a:spcPts val="900"/>
                  </a:spcBef>
                  <a:buNone/>
                </a:pPr>
                <a14:m>
                  <m:oMathPara xmlns:m="http://schemas.openxmlformats.org/officeDocument/2006/math">
                    <m:oMath>
                      <m:sSub>
                        <m:sSubPr>
                          <m:ctrlPr>
                            <a:rPr lang="da-DK" sz="2000">
                              <a:latin typeface="Cambria Math" panose="02040503050406030204" pitchFamily="18" charset="0"/>
                            </a:rPr>
                          </m:ctrlPr>
                        </m:sSubPr>
                        <m:e>
                          <m:r>
                            <a:rPr lang="da-DK" sz="2000">
                              <a:latin typeface="Cambria Math" panose="02040503050406030204" pitchFamily="18" charset="0"/>
                            </a:rPr>
                            <m:t>𝐷</m:t>
                          </m:r>
                        </m:e>
                        <m:sub>
                          <m:r>
                            <a:rPr lang="da-DK" sz="2000">
                              <a:latin typeface="Cambria Math" panose="02040503050406030204" pitchFamily="18" charset="0"/>
                            </a:rPr>
                            <m:t>𝑢</m:t>
                          </m:r>
                        </m:sub>
                      </m:sSub>
                      <m:r>
                        <a:rPr lang="da-DK" sz="2000">
                          <a:latin typeface="Cambria Math" panose="02040503050406030204" pitchFamily="18" charset="0"/>
                        </a:rPr>
                        <m:t>𝑓</m:t>
                      </m:r>
                      <m:r>
                        <a:rPr lang="da-DK" sz="2000">
                          <a:latin typeface="Cambria Math" panose="02040503050406030204" pitchFamily="18" charset="0"/>
                        </a:rPr>
                        <m:t>(</m:t>
                      </m:r>
                      <m:r>
                        <a:rPr lang="da-DK" sz="2000">
                          <a:latin typeface="Cambria Math" panose="02040503050406030204" pitchFamily="18" charset="0"/>
                        </a:rPr>
                        <m:t>𝑃</m:t>
                      </m:r>
                      <m:r>
                        <a:rPr lang="da-DK" sz="2000">
                          <a:latin typeface="Cambria Math" panose="02040503050406030204" pitchFamily="18" charset="0"/>
                        </a:rPr>
                        <m:t>) = </m:t>
                      </m:r>
                      <m:r>
                        <a:rPr lang="da-DK" sz="2000">
                          <a:latin typeface="Cambria Math" panose="02040503050406030204" pitchFamily="18" charset="0"/>
                        </a:rPr>
                        <m:t>𝛻</m:t>
                      </m:r>
                      <m:r>
                        <a:rPr lang="da-DK" sz="2000">
                          <a:latin typeface="Cambria Math" panose="02040503050406030204" pitchFamily="18" charset="0"/>
                        </a:rPr>
                        <m:t>𝑓</m:t>
                      </m:r>
                      <m:r>
                        <a:rPr lang="da-DK" sz="2000">
                          <a:latin typeface="Cambria Math" panose="02040503050406030204" pitchFamily="18" charset="0"/>
                        </a:rPr>
                        <m:t>(</m:t>
                      </m:r>
                      <m:r>
                        <a:rPr lang="da-DK" sz="2000">
                          <a:latin typeface="Cambria Math" panose="02040503050406030204" pitchFamily="18" charset="0"/>
                        </a:rPr>
                        <m:t>𝑃</m:t>
                      </m:r>
                      <m:r>
                        <a:rPr lang="da-DK" sz="2000">
                          <a:latin typeface="Cambria Math" panose="02040503050406030204" pitchFamily="18" charset="0"/>
                        </a:rPr>
                        <m:t>) · </m:t>
                      </m:r>
                      <m:r>
                        <a:rPr lang="da-DK" sz="2000">
                          <a:latin typeface="Cambria Math" panose="02040503050406030204" pitchFamily="18" charset="0"/>
                        </a:rPr>
                        <m:t>𝑢</m:t>
                      </m:r>
                      <m:r>
                        <a:rPr lang="da-DK" sz="2000">
                          <a:latin typeface="Cambria Math" panose="02040503050406030204" pitchFamily="18" charset="0"/>
                        </a:rPr>
                        <m:t> = ‖</m:t>
                      </m:r>
                      <m:r>
                        <a:rPr lang="da-DK" sz="2000">
                          <a:latin typeface="Cambria Math" panose="02040503050406030204" pitchFamily="18" charset="0"/>
                        </a:rPr>
                        <m:t>𝛻</m:t>
                      </m:r>
                      <m:r>
                        <a:rPr lang="da-DK" sz="2000">
                          <a:latin typeface="Cambria Math" panose="02040503050406030204" pitchFamily="18" charset="0"/>
                        </a:rPr>
                        <m:t>𝑓</m:t>
                      </m:r>
                      <m:r>
                        <a:rPr lang="da-DK" sz="2000">
                          <a:latin typeface="Cambria Math" panose="02040503050406030204" pitchFamily="18" charset="0"/>
                        </a:rPr>
                        <m:t>(</m:t>
                      </m:r>
                      <m:r>
                        <a:rPr lang="da-DK" sz="2000">
                          <a:latin typeface="Cambria Math" panose="02040503050406030204" pitchFamily="18" charset="0"/>
                        </a:rPr>
                        <m:t>𝑃</m:t>
                      </m:r>
                      <m:r>
                        <a:rPr lang="da-DK" sz="2000">
                          <a:latin typeface="Cambria Math" panose="02040503050406030204" pitchFamily="18" charset="0"/>
                        </a:rPr>
                        <m:t>)‖‖</m:t>
                      </m:r>
                      <m:r>
                        <a:rPr lang="da-DK" sz="2000">
                          <a:latin typeface="Cambria Math" panose="02040503050406030204" pitchFamily="18" charset="0"/>
                        </a:rPr>
                        <m:t>𝑢</m:t>
                      </m:r>
                      <m:r>
                        <a:rPr lang="da-DK" sz="2000">
                          <a:latin typeface="Cambria Math" panose="02040503050406030204" pitchFamily="18" charset="0"/>
                        </a:rPr>
                        <m:t>‖ </m:t>
                      </m:r>
                      <m:r>
                        <a:rPr lang="da-DK" sz="2000">
                          <a:latin typeface="Cambria Math" panose="02040503050406030204" pitchFamily="18" charset="0"/>
                        </a:rPr>
                        <m:t>𝑐𝑜𝑠</m:t>
                      </m:r>
                      <m:r>
                        <a:rPr lang="da-DK" sz="2000">
                          <a:latin typeface="Cambria Math" panose="02040503050406030204" pitchFamily="18" charset="0"/>
                        </a:rPr>
                        <m:t>(</m:t>
                      </m:r>
                      <m:r>
                        <a:rPr lang="da-DK" sz="2000">
                          <a:latin typeface="Cambria Math" panose="02040503050406030204" pitchFamily="18" charset="0"/>
                        </a:rPr>
                        <m:t>𝜑</m:t>
                      </m:r>
                      <m:r>
                        <a:rPr lang="da-DK" sz="2000">
                          <a:latin typeface="Cambria Math" panose="02040503050406030204" pitchFamily="18" charset="0"/>
                        </a:rPr>
                        <m:t>) = ‖</m:t>
                      </m:r>
                      <m:r>
                        <a:rPr lang="da-DK" sz="2000">
                          <a:latin typeface="Cambria Math" panose="02040503050406030204" pitchFamily="18" charset="0"/>
                        </a:rPr>
                        <m:t>𝛻</m:t>
                      </m:r>
                      <m:r>
                        <a:rPr lang="da-DK" sz="2000">
                          <a:latin typeface="Cambria Math" panose="02040503050406030204" pitchFamily="18" charset="0"/>
                        </a:rPr>
                        <m:t>𝑓</m:t>
                      </m:r>
                      <m:r>
                        <a:rPr lang="da-DK" sz="2000">
                          <a:latin typeface="Cambria Math" panose="02040503050406030204" pitchFamily="18" charset="0"/>
                        </a:rPr>
                        <m:t>(</m:t>
                      </m:r>
                      <m:r>
                        <a:rPr lang="da-DK" sz="2000">
                          <a:latin typeface="Cambria Math" panose="02040503050406030204" pitchFamily="18" charset="0"/>
                        </a:rPr>
                        <m:t>𝑃</m:t>
                      </m:r>
                      <m:r>
                        <a:rPr lang="da-DK" sz="2000">
                          <a:latin typeface="Cambria Math" panose="02040503050406030204" pitchFamily="18" charset="0"/>
                        </a:rPr>
                        <m:t>)‖ </m:t>
                      </m:r>
                      <m:r>
                        <a:rPr lang="da-DK" sz="2000">
                          <a:latin typeface="Cambria Math" panose="02040503050406030204" pitchFamily="18" charset="0"/>
                        </a:rPr>
                        <m:t>𝑐𝑜𝑠</m:t>
                      </m:r>
                      <m:r>
                        <a:rPr lang="da-DK" sz="2000">
                          <a:latin typeface="Cambria Math" panose="02040503050406030204" pitchFamily="18" charset="0"/>
                        </a:rPr>
                        <m:t>(</m:t>
                      </m:r>
                      <m:r>
                        <a:rPr lang="da-DK" sz="2000">
                          <a:latin typeface="Cambria Math" panose="02040503050406030204" pitchFamily="18" charset="0"/>
                        </a:rPr>
                        <m:t>𝜑</m:t>
                      </m:r>
                      <m:r>
                        <a:rPr lang="da-DK" sz="2000">
                          <a:latin typeface="Cambria Math" panose="02040503050406030204" pitchFamily="18" charset="0"/>
                        </a:rPr>
                        <m:t>),</m:t>
                      </m:r>
                    </m:oMath>
                  </m:oMathPara>
                </a14:m>
                <a:endParaRPr lang="da-DK" sz="1800" dirty="0"/>
              </a:p>
              <a:p>
                <a:pPr algn="l">
                  <a:lnSpc>
                    <a:spcPct val="115000"/>
                  </a:lnSpc>
                  <a:spcBef>
                    <a:spcPts val="1000"/>
                  </a:spcBef>
                  <a:buNone/>
                </a:pPr>
                <a:r>
                  <a:rPr lang="da-DK" sz="1800" dirty="0"/>
                  <a:t>hvor φ er vinklen mellem ∇f(P) og u.</a:t>
                </a:r>
              </a:p>
            </p:txBody>
          </p:sp>
        </mc:Choice>
        <mc:Fallback>
          <p:sp>
            <p:nvSpPr>
              <p:cNvPr id="200" name="S200"/>
              <p:cNvSpPr txBox="1">
                <a:spLocks noRot="1" noChangeAspect="1" noMove="1" noResize="1" noEditPoints="1" noAdjustHandles="1" noChangeArrowheads="1" noChangeShapeType="1" noTextEdit="1"/>
              </p:cNvSpPr>
              <p:nvPr/>
            </p:nvSpPr>
            <p:spPr>
              <a:xfrm>
                <a:off x="766763" y="1905000"/>
                <a:ext cx="10668000" cy="3302000"/>
              </a:xfrm>
              <a:prstGeom prst="rect">
                <a:avLst/>
              </a:prstGeom>
              <a:blipFill>
                <a:blip r:embed="rId2"/>
                <a:stretch>
                  <a:fillRect l="-1427" t="-192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39148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492E-BFCB-8AB5-4CD9-8C00EAA969CF}"/>
              </a:ext>
            </a:extLst>
          </p:cNvPr>
          <p:cNvSpPr>
            <a:spLocks noGrp="1"/>
          </p:cNvSpPr>
          <p:nvPr>
            <p:ph type="title"/>
          </p:nvPr>
        </p:nvSpPr>
        <p:spPr>
          <a:xfrm>
            <a:off x="766763" y="660400"/>
            <a:ext cx="10668000" cy="635000"/>
          </a:xfrm>
        </p:spPr>
        <p:txBody>
          <a:bodyPr/>
          <a:lstStyle/>
          <a:p>
            <a:r>
              <a:rPr lang="da-DK" sz="3200" b="1" dirty="0"/>
              <a:t>DEN RETNINGSAFLEDEDE</a:t>
            </a:r>
          </a:p>
        </p:txBody>
      </p:sp>
      <p:sp>
        <p:nvSpPr>
          <p:cNvPr id="4" name="Text Placeholder 3">
            <a:extLst>
              <a:ext uri="{FF2B5EF4-FFF2-40B4-BE49-F238E27FC236}">
                <a16:creationId xmlns:a16="http://schemas.microsoft.com/office/drawing/2014/main" id="{A2EC9CDA-4C7D-ECB8-1128-941E12FEFFAC}"/>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mc:AlternateContent xmlns:mc="http://schemas.openxmlformats.org/markup-compatibility/2006">
        <mc:Choice xmlns:a14="http://schemas.microsoft.com/office/drawing/2010/main" Requires="a14">
          <p:sp>
            <p:nvSpPr>
              <p:cNvPr id="200" name="S200"/>
              <p:cNvSpPr txBox="1"/>
              <p:nvPr/>
            </p:nvSpPr>
            <p:spPr>
              <a:xfrm>
                <a:off x="766763" y="1498600"/>
                <a:ext cx="10668000" cy="508000"/>
              </a:xfrm>
              <a:prstGeom prst="rect">
                <a:avLst/>
              </a:prstGeom>
              <a:noFill/>
              <a:ln>
                <a:noFill/>
              </a:ln>
            </p:spPr>
            <p:txBody>
              <a:bodyPr wrap="square" lIns="0" tIns="0" rIns="0" bIns="0">
                <a:noAutofit/>
              </a:bodyPr>
              <a:lstStyle/>
              <a:p>
                <a:pPr algn="ctr">
                  <a:spcBef>
                    <a:spcPts val="0"/>
                  </a:spcBef>
                  <a:buNone/>
                </a:pPr>
                <a14:m>
                  <m:oMathPara xmlns:m="http://schemas.openxmlformats.org/officeDocument/2006/math">
                    <m:oMath>
                      <m:sSub>
                        <m:sSubPr>
                          <m:ctrlPr>
                            <a:rPr lang="da-DK" sz="2200">
                              <a:latin typeface="Cambria Math" panose="02040503050406030204" pitchFamily="18" charset="0"/>
                            </a:rPr>
                          </m:ctrlPr>
                        </m:sSubPr>
                        <m:e>
                          <m:r>
                            <a:rPr lang="da-DK" sz="2200">
                              <a:latin typeface="Cambria Math" panose="02040503050406030204" pitchFamily="18" charset="0"/>
                            </a:rPr>
                            <m:t>𝐷</m:t>
                          </m:r>
                        </m:e>
                        <m:sub>
                          <m:r>
                            <a:rPr lang="da-DK" sz="2200">
                              <a:latin typeface="Cambria Math" panose="02040503050406030204" pitchFamily="18" charset="0"/>
                            </a:rPr>
                            <m:t>𝑢</m:t>
                          </m:r>
                        </m:sub>
                      </m:sSub>
                      <m:r>
                        <a:rPr lang="da-DK" sz="2200">
                          <a:latin typeface="Cambria Math" panose="02040503050406030204" pitchFamily="18" charset="0"/>
                        </a:rPr>
                        <m:t>𝑓</m:t>
                      </m:r>
                      <m:r>
                        <a:rPr lang="da-DK" sz="2200">
                          <a:latin typeface="Cambria Math" panose="02040503050406030204" pitchFamily="18" charset="0"/>
                        </a:rPr>
                        <m:t>(</m:t>
                      </m:r>
                      <m:r>
                        <a:rPr lang="da-DK" sz="2200">
                          <a:latin typeface="Cambria Math" panose="02040503050406030204" pitchFamily="18" charset="0"/>
                        </a:rPr>
                        <m:t>𝑃</m:t>
                      </m:r>
                      <m:r>
                        <a:rPr lang="da-DK" sz="2200">
                          <a:latin typeface="Cambria Math" panose="02040503050406030204" pitchFamily="18" charset="0"/>
                        </a:rPr>
                        <m:t>) = ‖</m:t>
                      </m:r>
                      <m:r>
                        <a:rPr lang="da-DK" sz="2200">
                          <a:latin typeface="Cambria Math" panose="02040503050406030204" pitchFamily="18" charset="0"/>
                        </a:rPr>
                        <m:t>𝛻</m:t>
                      </m:r>
                      <m:r>
                        <a:rPr lang="da-DK" sz="2200">
                          <a:latin typeface="Cambria Math" panose="02040503050406030204" pitchFamily="18" charset="0"/>
                        </a:rPr>
                        <m:t>𝑓</m:t>
                      </m:r>
                      <m:r>
                        <a:rPr lang="da-DK" sz="2200">
                          <a:latin typeface="Cambria Math" panose="02040503050406030204" pitchFamily="18" charset="0"/>
                        </a:rPr>
                        <m:t>(</m:t>
                      </m:r>
                      <m:r>
                        <a:rPr lang="da-DK" sz="2200">
                          <a:latin typeface="Cambria Math" panose="02040503050406030204" pitchFamily="18" charset="0"/>
                        </a:rPr>
                        <m:t>𝑃</m:t>
                      </m:r>
                      <m:r>
                        <a:rPr lang="da-DK" sz="2200">
                          <a:latin typeface="Cambria Math" panose="02040503050406030204" pitchFamily="18" charset="0"/>
                        </a:rPr>
                        <m:t>)‖ </m:t>
                      </m:r>
                      <m:r>
                        <a:rPr lang="da-DK" sz="2200">
                          <a:latin typeface="Cambria Math" panose="02040503050406030204" pitchFamily="18" charset="0"/>
                        </a:rPr>
                        <m:t>𝑐𝑜𝑠</m:t>
                      </m:r>
                      <m:r>
                        <a:rPr lang="da-DK" sz="2200">
                          <a:latin typeface="Cambria Math" panose="02040503050406030204" pitchFamily="18" charset="0"/>
                        </a:rPr>
                        <m:t>(</m:t>
                      </m:r>
                      <m:r>
                        <a:rPr lang="da-DK" sz="2200">
                          <a:latin typeface="Cambria Math" panose="02040503050406030204" pitchFamily="18" charset="0"/>
                        </a:rPr>
                        <m:t>𝜑</m:t>
                      </m:r>
                      <m:r>
                        <a:rPr lang="da-DK" sz="2200">
                          <a:latin typeface="Cambria Math" panose="02040503050406030204" pitchFamily="18" charset="0"/>
                        </a:rPr>
                        <m:t>)</m:t>
                      </m:r>
                    </m:oMath>
                  </m:oMathPara>
                </a14:m>
                <a:endParaRPr/>
              </a:p>
            </p:txBody>
          </p:sp>
        </mc:Choice>
        <mc:Fallback>
          <p:sp>
            <p:nvSpPr>
              <p:cNvPr id="200" name="S200"/>
              <p:cNvSpPr txBox="1">
                <a:spLocks noRot="1" noChangeAspect="1" noMove="1" noResize="1" noEditPoints="1" noAdjustHandles="1" noChangeArrowheads="1" noChangeShapeType="1" noTextEdit="1"/>
              </p:cNvSpPr>
              <p:nvPr/>
            </p:nvSpPr>
            <p:spPr>
              <a:xfrm>
                <a:off x="766763" y="1498600"/>
                <a:ext cx="10668000" cy="508000"/>
              </a:xfrm>
              <a:prstGeom prst="rect">
                <a:avLst/>
              </a:prstGeom>
              <a:blipFill>
                <a:blip r:embed="rId2"/>
                <a:stretch>
                  <a:fillRect t="-5000"/>
                </a:stretch>
              </a:blipFill>
              <a:ln>
                <a:noFill/>
              </a:ln>
            </p:spPr>
            <p:txBody>
              <a:bodyPr/>
              <a:lstStyle/>
              <a:p>
                <a:r>
                  <a:rPr lang="en-US">
                    <a:noFill/>
                  </a:rPr>
                  <a:t> </a:t>
                </a:r>
              </a:p>
            </p:txBody>
          </p:sp>
        </mc:Fallback>
      </mc:AlternateContent>
      <p:sp>
        <p:nvSpPr>
          <p:cNvPr id="201" name="S201"/>
          <p:cNvSpPr txBox="1"/>
          <p:nvPr/>
        </p:nvSpPr>
        <p:spPr>
          <a:xfrm>
            <a:off x="766763" y="2260600"/>
            <a:ext cx="10668000" cy="2260600"/>
          </a:xfrm>
          <a:prstGeom prst="rect">
            <a:avLst/>
          </a:prstGeom>
          <a:solidFill>
            <a:srgbClr val="F4F5F7"/>
          </a:solidFill>
          <a:ln>
            <a:noFill/>
          </a:ln>
        </p:spPr>
        <p:txBody>
          <a:bodyPr wrap="square" lIns="0" tIns="0" rIns="0" bIns="0">
            <a:noAutofit/>
          </a:bodyPr>
          <a:lstStyle/>
          <a:p>
            <a:endParaRPr lang="da-DK"/>
          </a:p>
        </p:txBody>
      </p:sp>
      <p:sp>
        <p:nvSpPr>
          <p:cNvPr id="202" name="S202"/>
          <p:cNvSpPr txBox="1"/>
          <p:nvPr/>
        </p:nvSpPr>
        <p:spPr>
          <a:xfrm>
            <a:off x="766763" y="2260600"/>
            <a:ext cx="50800" cy="2260600"/>
          </a:xfrm>
          <a:prstGeom prst="rect">
            <a:avLst/>
          </a:prstGeom>
          <a:solidFill>
            <a:srgbClr val="211A52"/>
          </a:solidFill>
          <a:ln>
            <a:noFill/>
          </a:ln>
        </p:spPr>
        <p:txBody>
          <a:bodyPr wrap="square" lIns="0" tIns="0" rIns="0" bIns="0">
            <a:noAutofit/>
          </a:bodyPr>
          <a:lstStyle/>
          <a:p>
            <a:endParaRPr lang="da-DK"/>
          </a:p>
        </p:txBody>
      </p:sp>
      <p:sp>
        <p:nvSpPr>
          <p:cNvPr id="203" name="S203"/>
          <p:cNvSpPr txBox="1"/>
          <p:nvPr/>
        </p:nvSpPr>
        <p:spPr>
          <a:xfrm>
            <a:off x="1071563" y="24892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SÆTNING</a:t>
            </a:r>
          </a:p>
        </p:txBody>
      </p:sp>
      <mc:AlternateContent xmlns:mc="http://schemas.openxmlformats.org/markup-compatibility/2006">
        <mc:Choice xmlns:a14="http://schemas.microsoft.com/office/drawing/2010/main" Requires="a14">
          <p:sp>
            <p:nvSpPr>
              <p:cNvPr id="204" name="S204"/>
              <p:cNvSpPr txBox="1"/>
              <p:nvPr/>
            </p:nvSpPr>
            <p:spPr>
              <a:xfrm>
                <a:off x="1071563" y="2844800"/>
                <a:ext cx="10058400" cy="2032000"/>
              </a:xfrm>
              <a:prstGeom prst="rect">
                <a:avLst/>
              </a:prstGeom>
              <a:noFill/>
              <a:ln>
                <a:noFill/>
              </a:ln>
            </p:spPr>
            <p:txBody>
              <a:bodyPr wrap="square" lIns="0" tIns="0" rIns="0" bIns="0">
                <a:noAutofit/>
              </a:bodyPr>
              <a:lstStyle/>
              <a:p>
                <a:pPr algn="l">
                  <a:lnSpc>
                    <a:spcPct val="120000"/>
                  </a:lnSpc>
                  <a:spcBef>
                    <a:spcPts val="0"/>
                  </a:spcBef>
                  <a:buNone/>
                </a:pPr>
                <a:r>
                  <a:rPr lang="da-DK" sz="1600" dirty="0"/>
                  <a:t>Lad </a:t>
                </a:r>
                <a14:m>
                  <m:oMath xmlns:m="http://schemas.openxmlformats.org/officeDocument/2006/math">
                    <m:r>
                      <a:rPr lang="da-DK" sz="1600">
                        <a:latin typeface="Cambria Math" panose="02040503050406030204" pitchFamily="18" charset="0"/>
                      </a:rPr>
                      <m:t>𝑓</m:t>
                    </m:r>
                    <m:r>
                      <a:rPr lang="da-DK" sz="1600">
                        <a:latin typeface="Cambria Math" panose="02040503050406030204" pitchFamily="18" charset="0"/>
                      </a:rPr>
                      <m:t> : </m:t>
                    </m:r>
                    <m:sSup>
                      <m:sSupPr>
                        <m:ctrlPr>
                          <a:rPr lang="da-DK" sz="1600">
                            <a:latin typeface="Cambria Math" panose="02040503050406030204" pitchFamily="18" charset="0"/>
                          </a:rPr>
                        </m:ctrlPr>
                      </m:sSupPr>
                      <m:e>
                        <m:r>
                          <a:rPr lang="da-DK" sz="1600">
                            <a:latin typeface="Cambria Math" panose="02040503050406030204" pitchFamily="18" charset="0"/>
                          </a:rPr>
                          <m:t>ℝ</m:t>
                        </m:r>
                      </m:e>
                      <m:sup>
                        <m:r>
                          <a:rPr lang="da-DK" sz="1600">
                            <a:latin typeface="Cambria Math" panose="02040503050406030204" pitchFamily="18" charset="0"/>
                          </a:rPr>
                          <m:t>𝑛</m:t>
                        </m:r>
                      </m:sup>
                    </m:sSup>
                    <m:r>
                      <a:rPr lang="da-DK" sz="1600">
                        <a:latin typeface="Cambria Math" panose="02040503050406030204" pitchFamily="18" charset="0"/>
                      </a:rPr>
                      <m:t> → </m:t>
                    </m:r>
                    <m:r>
                      <a:rPr lang="da-DK" sz="1600">
                        <a:latin typeface="Cambria Math" panose="02040503050406030204" pitchFamily="18" charset="0"/>
                      </a:rPr>
                      <m:t>ℝ</m:t>
                    </m:r>
                  </m:oMath>
                </a14:m>
                <a:r>
                  <a:rPr lang="da-DK" sz="1600" dirty="0"/>
                  <a:t> have kontinuerte første ordens partielle afledede der er kontinuerte. Så gælder der, at</a:t>
                </a:r>
              </a:p>
              <a:p>
                <a:pPr marL="342900" indent="-342900" algn="l">
                  <a:lnSpc>
                    <a:spcPct val="115000"/>
                  </a:lnSpc>
                  <a:spcBef>
                    <a:spcPts val="700"/>
                  </a:spcBef>
                  <a:buNone/>
                </a:pPr>
                <a:r>
                  <a:rPr lang="da-DK" sz="1600" dirty="0"/>
                  <a:t>(i) I punktet P = (x</a:t>
                </a:r>
                <a:r>
                  <a:rPr lang="da-DK" sz="1600" baseline="-25000" dirty="0"/>
                  <a:t>0</a:t>
                </a:r>
                <a:r>
                  <a:rPr lang="da-DK" sz="1600" dirty="0"/>
                  <a:t>, y</a:t>
                </a:r>
                <a:r>
                  <a:rPr lang="da-DK" sz="1600" baseline="-25000" dirty="0"/>
                  <a:t>0</a:t>
                </a:r>
                <a:r>
                  <a:rPr lang="da-DK" sz="1600" dirty="0"/>
                  <a:t>) vokser funktionen f hurtigst i retningen af gradientvektoren.</a:t>
                </a:r>
              </a:p>
              <a:p>
                <a:pPr marL="342900" indent="-342900" algn="l">
                  <a:lnSpc>
                    <a:spcPct val="115000"/>
                  </a:lnSpc>
                  <a:spcBef>
                    <a:spcPts val="500"/>
                  </a:spcBef>
                  <a:buNone/>
                </a:pPr>
                <a:r>
                  <a:rPr lang="da-DK" sz="1600" dirty="0"/>
                  <a:t>(ii) I punktet P = (x</a:t>
                </a:r>
                <a:r>
                  <a:rPr lang="da-DK" sz="1600" baseline="-25000" dirty="0"/>
                  <a:t>0</a:t>
                </a:r>
                <a:r>
                  <a:rPr lang="da-DK" sz="1600" dirty="0"/>
                  <a:t>, y</a:t>
                </a:r>
                <a:r>
                  <a:rPr lang="da-DK" sz="1600" baseline="-25000" dirty="0"/>
                  <a:t>0</a:t>
                </a:r>
                <a:r>
                  <a:rPr lang="da-DK" sz="1600" dirty="0"/>
                  <a:t>) aftager funktionen f hurtigst i den modsatte retning af gradientvektoren.</a:t>
                </a:r>
              </a:p>
              <a:p>
                <a:pPr marL="342900" indent="-342900" algn="l">
                  <a:lnSpc>
                    <a:spcPct val="115000"/>
                  </a:lnSpc>
                  <a:spcBef>
                    <a:spcPts val="500"/>
                  </a:spcBef>
                  <a:buNone/>
                </a:pPr>
                <a:r>
                  <a:rPr lang="da-DK" sz="1600" dirty="0"/>
                  <a:t>(iii) I punktet P = (x</a:t>
                </a:r>
                <a:r>
                  <a:rPr lang="da-DK" sz="1600" baseline="-25000" dirty="0"/>
                  <a:t>0</a:t>
                </a:r>
                <a:r>
                  <a:rPr lang="da-DK" sz="1600" dirty="0"/>
                  <a:t>, y</a:t>
                </a:r>
                <a:r>
                  <a:rPr lang="da-DK" sz="1600" baseline="-25000" dirty="0"/>
                  <a:t>0</a:t>
                </a:r>
                <a:r>
                  <a:rPr lang="da-DK" sz="1600" dirty="0"/>
                  <a:t>) ændrer funktionen f sig ikke i retningen vinkelret på gradientvektoren.</a:t>
                </a:r>
              </a:p>
            </p:txBody>
          </p:sp>
        </mc:Choice>
        <mc:Fallback>
          <p:sp>
            <p:nvSpPr>
              <p:cNvPr id="204" name="S204"/>
              <p:cNvSpPr txBox="1">
                <a:spLocks noRot="1" noChangeAspect="1" noMove="1" noResize="1" noEditPoints="1" noAdjustHandles="1" noChangeArrowheads="1" noChangeShapeType="1" noTextEdit="1"/>
              </p:cNvSpPr>
              <p:nvPr/>
            </p:nvSpPr>
            <p:spPr>
              <a:xfrm>
                <a:off x="1071563" y="2844800"/>
                <a:ext cx="10058400" cy="2032000"/>
              </a:xfrm>
              <a:prstGeom prst="rect">
                <a:avLst/>
              </a:prstGeom>
              <a:blipFill>
                <a:blip r:embed="rId3"/>
                <a:stretch>
                  <a:fillRect l="-1261" t="-312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487145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1CC77-1CD9-9751-04F3-81A660E71A52}"/>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98C985F8-E13B-91F9-4012-0263A3008F3D}"/>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333500"/>
            <a:ext cx="10668000" cy="135255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flipH="1">
            <a:off x="727394" y="1333500"/>
            <a:ext cx="45719" cy="135255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49225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p:sp>
        <p:nvSpPr>
          <p:cNvPr id="203" name="S203"/>
          <p:cNvSpPr txBox="1"/>
          <p:nvPr/>
        </p:nvSpPr>
        <p:spPr>
          <a:xfrm>
            <a:off x="1071563" y="1803400"/>
            <a:ext cx="10058400" cy="1092200"/>
          </a:xfrm>
          <a:prstGeom prst="rect">
            <a:avLst/>
          </a:prstGeom>
          <a:noFill/>
          <a:ln>
            <a:noFill/>
          </a:ln>
        </p:spPr>
        <p:txBody>
          <a:bodyPr wrap="square" lIns="0" tIns="0" rIns="0" bIns="0">
            <a:noAutofit/>
          </a:bodyPr>
          <a:lstStyle/>
          <a:p>
            <a:pPr marL="0" indent="0" algn="l">
              <a:lnSpc>
                <a:spcPct val="115000"/>
              </a:lnSpc>
              <a:spcBef>
                <a:spcPts val="500"/>
              </a:spcBef>
              <a:buNone/>
            </a:pPr>
            <a:r>
              <a:rPr lang="da-DK" sz="2200" dirty="0"/>
              <a:t>Lad f(x, y) = x² + 4xy og bestem den maksimale retningsafledede af f i punktet P = (1, 3) og i hvilken retning f vokser mest.</a:t>
            </a:r>
          </a:p>
        </p:txBody>
      </p:sp>
    </p:spTree>
    <p:extLst>
      <p:ext uri="{BB962C8B-B14F-4D97-AF65-F5344CB8AC3E}">
        <p14:creationId xmlns:p14="http://schemas.microsoft.com/office/powerpoint/2010/main" val="1585118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7907-0FE8-0D72-1A77-AE777F597882}"/>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E4F33288-BCAD-155C-812C-6E8A7716AE6E}"/>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574800"/>
            <a:ext cx="10668000" cy="35560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574800"/>
            <a:ext cx="50800" cy="35560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8034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LØSNING</a:t>
            </a:r>
          </a:p>
        </p:txBody>
      </p:sp>
      <mc:AlternateContent xmlns:mc="http://schemas.openxmlformats.org/markup-compatibility/2006">
        <mc:Choice xmlns:a14="http://schemas.microsoft.com/office/drawing/2010/main" Requires="a14">
          <p:sp>
            <p:nvSpPr>
              <p:cNvPr id="203" name="S203"/>
              <p:cNvSpPr txBox="1"/>
              <p:nvPr/>
            </p:nvSpPr>
            <p:spPr>
              <a:xfrm>
                <a:off x="1071563" y="2159000"/>
                <a:ext cx="10058400" cy="2997200"/>
              </a:xfrm>
              <a:prstGeom prst="rect">
                <a:avLst/>
              </a:prstGeom>
              <a:noFill/>
              <a:ln>
                <a:noFill/>
              </a:ln>
            </p:spPr>
            <p:txBody>
              <a:bodyPr wrap="square" lIns="0" tIns="0" rIns="0" bIns="0">
                <a:noAutofit/>
              </a:bodyPr>
              <a:lstStyle/>
              <a:p>
                <a:pPr algn="l">
                  <a:lnSpc>
                    <a:spcPct val="120000"/>
                  </a:lnSpc>
                  <a:spcBef>
                    <a:spcPts val="0"/>
                  </a:spcBef>
                  <a:buNone/>
                </a:pPr>
                <a:r>
                  <a:rPr lang="da-DK" sz="1600" dirty="0"/>
                  <a:t>Vi ved at f vokser hurtigst i retningen af gradientvektoren, vi bestemmer derfor gradientvektoren:</a:t>
                </a:r>
              </a:p>
              <a:p>
                <a:pPr algn="ctr">
                  <a:spcBef>
                    <a:spcPts val="500"/>
                  </a:spcBef>
                  <a:buNone/>
                </a:pPr>
                <a14:m>
                  <m:oMathPara xmlns:m="http://schemas.openxmlformats.org/officeDocument/2006/math">
                    <m:oMath>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𝑥</m:t>
                          </m:r>
                        </m:den>
                      </m:f>
                      <m:r>
                        <a:rPr lang="da-DK" sz="1800">
                          <a:latin typeface="Cambria Math" panose="02040503050406030204" pitchFamily="18" charset="0"/>
                        </a:rPr>
                        <m:t>(</m:t>
                      </m:r>
                      <m:r>
                        <a:rPr lang="da-DK" sz="1800">
                          <a:latin typeface="Cambria Math" panose="02040503050406030204" pitchFamily="18" charset="0"/>
                        </a:rPr>
                        <m:t>𝑥</m:t>
                      </m:r>
                      <m:r>
                        <a:rPr lang="da-DK" sz="1800">
                          <a:latin typeface="Cambria Math" panose="02040503050406030204" pitchFamily="18" charset="0"/>
                        </a:rPr>
                        <m:t>, </m:t>
                      </m:r>
                      <m:r>
                        <a:rPr lang="da-DK" sz="1800">
                          <a:latin typeface="Cambria Math" panose="02040503050406030204" pitchFamily="18" charset="0"/>
                        </a:rPr>
                        <m:t>𝑦</m:t>
                      </m:r>
                      <m:r>
                        <a:rPr lang="da-DK" sz="1800">
                          <a:latin typeface="Cambria Math" panose="02040503050406030204" pitchFamily="18" charset="0"/>
                        </a:rPr>
                        <m:t>) = 2</m:t>
                      </m:r>
                      <m:r>
                        <a:rPr lang="da-DK" sz="1800">
                          <a:latin typeface="Cambria Math" panose="02040503050406030204" pitchFamily="18" charset="0"/>
                        </a:rPr>
                        <m:t>𝑥</m:t>
                      </m:r>
                      <m:r>
                        <a:rPr lang="da-DK" sz="1800">
                          <a:latin typeface="Cambria Math" panose="02040503050406030204" pitchFamily="18" charset="0"/>
                        </a:rPr>
                        <m:t> + 4</m:t>
                      </m:r>
                      <m:r>
                        <a:rPr lang="da-DK" sz="1800">
                          <a:latin typeface="Cambria Math" panose="02040503050406030204" pitchFamily="18" charset="0"/>
                        </a:rPr>
                        <m:t>𝑦</m:t>
                      </m:r>
                      <m:r>
                        <a:rPr lang="da-DK" sz="1800">
                          <a:latin typeface="Cambria Math" panose="02040503050406030204" pitchFamily="18" charset="0"/>
                        </a:rPr>
                        <m:t>, 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num>
                        <m:den>
                          <m:r>
                            <a:rPr lang="da-DK" sz="1800">
                              <a:latin typeface="Cambria Math" panose="02040503050406030204" pitchFamily="18" charset="0"/>
                            </a:rPr>
                            <m:t>𝜕</m:t>
                          </m:r>
                          <m:r>
                            <a:rPr lang="da-DK" sz="1800">
                              <a:latin typeface="Cambria Math" panose="02040503050406030204" pitchFamily="18" charset="0"/>
                            </a:rPr>
                            <m:t>𝑦</m:t>
                          </m:r>
                        </m:den>
                      </m:f>
                      <m:r>
                        <a:rPr lang="da-DK" sz="1800">
                          <a:latin typeface="Cambria Math" panose="02040503050406030204" pitchFamily="18" charset="0"/>
                        </a:rPr>
                        <m:t>(</m:t>
                      </m:r>
                      <m:r>
                        <a:rPr lang="da-DK" sz="1800">
                          <a:latin typeface="Cambria Math" panose="02040503050406030204" pitchFamily="18" charset="0"/>
                        </a:rPr>
                        <m:t>𝑥</m:t>
                      </m:r>
                      <m:r>
                        <a:rPr lang="da-DK" sz="1800">
                          <a:latin typeface="Cambria Math" panose="02040503050406030204" pitchFamily="18" charset="0"/>
                        </a:rPr>
                        <m:t>, </m:t>
                      </m:r>
                      <m:r>
                        <a:rPr lang="da-DK" sz="1800">
                          <a:latin typeface="Cambria Math" panose="02040503050406030204" pitchFamily="18" charset="0"/>
                        </a:rPr>
                        <m:t>𝑦</m:t>
                      </m:r>
                      <m:r>
                        <a:rPr lang="da-DK" sz="1800">
                          <a:latin typeface="Cambria Math" panose="02040503050406030204" pitchFamily="18" charset="0"/>
                        </a:rPr>
                        <m:t>) = 4</m:t>
                      </m:r>
                      <m:r>
                        <a:rPr lang="da-DK" sz="1800">
                          <a:latin typeface="Cambria Math" panose="02040503050406030204" pitchFamily="18" charset="0"/>
                        </a:rPr>
                        <m:t>𝑥</m:t>
                      </m:r>
                      <m:r>
                        <a:rPr lang="da-DK" sz="1800">
                          <a:latin typeface="Cambria Math" panose="02040503050406030204" pitchFamily="18" charset="0"/>
                        </a:rPr>
                        <m:t>,</m:t>
                      </m:r>
                    </m:oMath>
                  </m:oMathPara>
                </a14:m>
                <a:endParaRPr lang="da-DK" sz="1600" dirty="0"/>
              </a:p>
              <a:p>
                <a:pPr algn="l">
                  <a:lnSpc>
                    <a:spcPct val="120000"/>
                  </a:lnSpc>
                  <a:spcBef>
                    <a:spcPts val="500"/>
                  </a:spcBef>
                  <a:buNone/>
                </a:pPr>
                <a:r>
                  <a:rPr lang="da-DK" sz="1600" dirty="0"/>
                  <a:t>hvilket giver at retningen hvor f vokser mest i punktet P er</a:t>
                </a:r>
              </a:p>
              <a:p>
                <a:pPr algn="ctr">
                  <a:spcBef>
                    <a:spcPts val="400"/>
                  </a:spcBef>
                  <a:buNone/>
                </a:pPr>
                <a14:m>
                  <m:oMathPara xmlns:m="http://schemas.openxmlformats.org/officeDocument/2006/math">
                    <m:oMath>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(1, 3) = ⟨14, 4⟩.</m:t>
                      </m:r>
                    </m:oMath>
                  </m:oMathPara>
                </a14:m>
                <a:endParaRPr lang="da-DK" sz="1600" dirty="0"/>
              </a:p>
              <a:p>
                <a:pPr algn="l">
                  <a:lnSpc>
                    <a:spcPct val="120000"/>
                  </a:lnSpc>
                  <a:spcBef>
                    <a:spcPts val="500"/>
                  </a:spcBef>
                  <a:buNone/>
                </a:pPr>
                <a:r>
                  <a:rPr lang="da-DK" sz="1600" dirty="0"/>
                  <a:t>Den maksimale retningsafledede er derfor givet ved at vælge </a:t>
                </a:r>
                <a14:m>
                  <m:oMath xmlns:m="http://schemas.openxmlformats.org/officeDocument/2006/math">
                    <m:r>
                      <a:rPr lang="da-DK" sz="1600">
                        <a:latin typeface="Cambria Math" panose="02040503050406030204" pitchFamily="18" charset="0"/>
                      </a:rPr>
                      <m:t>𝑢</m:t>
                    </m:r>
                    <m:r>
                      <a:rPr lang="da-DK" sz="1600">
                        <a:latin typeface="Cambria Math" panose="02040503050406030204" pitchFamily="18" charset="0"/>
                      </a:rPr>
                      <m:t> = </m:t>
                    </m:r>
                    <m:f>
                      <m:fPr>
                        <m:ctrlPr>
                          <a:rPr lang="da-DK" sz="1600">
                            <a:latin typeface="Cambria Math" panose="02040503050406030204" pitchFamily="18" charset="0"/>
                          </a:rPr>
                        </m:ctrlPr>
                      </m:fPr>
                      <m:num>
                        <m:r>
                          <a:rPr lang="da-DK" sz="1600">
                            <a:latin typeface="Cambria Math" panose="02040503050406030204" pitchFamily="18" charset="0"/>
                          </a:rPr>
                          <m:t>𝛻</m:t>
                        </m:r>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num>
                      <m:den>
                        <m:r>
                          <a:rPr lang="da-DK" sz="1600">
                            <a:latin typeface="Cambria Math" panose="02040503050406030204" pitchFamily="18" charset="0"/>
                          </a:rPr>
                          <m:t>‖</m:t>
                        </m:r>
                        <m:r>
                          <a:rPr lang="da-DK" sz="1600">
                            <a:latin typeface="Cambria Math" panose="02040503050406030204" pitchFamily="18" charset="0"/>
                          </a:rPr>
                          <m:t>𝛻</m:t>
                        </m:r>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den>
                    </m:f>
                  </m:oMath>
                </a14:m>
                <a:r>
                  <a:rPr lang="da-DK" sz="1600" dirty="0"/>
                  <a:t>, hvilket giver</a:t>
                </a:r>
              </a:p>
              <a:p>
                <a:pPr algn="ctr">
                  <a:spcBef>
                    <a:spcPts val="500"/>
                  </a:spcBef>
                  <a:buNone/>
                </a:pPr>
                <a14:m>
                  <m:oMathPara xmlns:m="http://schemas.openxmlformats.org/officeDocument/2006/math">
                    <m:oMath>
                      <m:sSub>
                        <m:sSubPr>
                          <m:ctrlPr>
                            <a:rPr lang="da-DK" sz="1800">
                              <a:latin typeface="Cambria Math" panose="02040503050406030204" pitchFamily="18" charset="0"/>
                            </a:rPr>
                          </m:ctrlPr>
                        </m:sSubPr>
                        <m:e>
                          <m:r>
                            <a:rPr lang="da-DK" sz="1800">
                              <a:latin typeface="Cambria Math" panose="02040503050406030204" pitchFamily="18" charset="0"/>
                            </a:rPr>
                            <m:t>𝐷</m:t>
                          </m:r>
                        </m:e>
                        <m:sub>
                          <m:r>
                            <a:rPr lang="da-DK" sz="1800">
                              <a:latin typeface="Cambria Math" panose="02040503050406030204" pitchFamily="18" charset="0"/>
                            </a:rPr>
                            <m:t>𝑢</m:t>
                          </m:r>
                        </m:sub>
                      </m:sSub>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 = </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 · </m:t>
                      </m:r>
                      <m:f>
                        <m:fPr>
                          <m:ctrlPr>
                            <a:rPr lang="da-DK" sz="1800">
                              <a:latin typeface="Cambria Math" panose="02040503050406030204" pitchFamily="18" charset="0"/>
                            </a:rPr>
                          </m:ctrlPr>
                        </m:fPr>
                        <m:num>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m:t>
                          </m:r>
                        </m:num>
                        <m:den>
                          <m:r>
                            <a:rPr lang="da-DK" sz="1800">
                              <a:latin typeface="Cambria Math" panose="02040503050406030204" pitchFamily="18" charset="0"/>
                            </a:rPr>
                            <m:t>‖</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m:t>
                          </m:r>
                        </m:den>
                      </m:f>
                      <m:r>
                        <a:rPr lang="da-DK" sz="1800">
                          <a:latin typeface="Cambria Math" panose="02040503050406030204" pitchFamily="18" charset="0"/>
                        </a:rPr>
                        <m:t> = </m:t>
                      </m:r>
                      <m:f>
                        <m:fPr>
                          <m:ctrlPr>
                            <a:rPr lang="da-DK" sz="1800" i="1">
                              <a:latin typeface="Cambria Math" panose="02040503050406030204" pitchFamily="18" charset="0"/>
                            </a:rPr>
                          </m:ctrlPr>
                        </m:fPr>
                        <m:num>
                          <m:sSup>
                            <m:sSupPr>
                              <m:ctrlPr>
                                <a:rPr lang="da-DK" sz="1800">
                                  <a:latin typeface="Cambria Math" panose="02040503050406030204" pitchFamily="18" charset="0"/>
                                </a:rPr>
                              </m:ctrlPr>
                            </m:sSupPr>
                            <m:e>
                              <m:r>
                                <a:rPr lang="da-DK" sz="1800">
                                  <a:latin typeface="Cambria Math" panose="02040503050406030204" pitchFamily="18" charset="0"/>
                                </a:rPr>
                                <m:t>‖</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m:t>
                              </m:r>
                            </m:e>
                            <m:sup>
                              <m:r>
                                <a:rPr lang="da-DK" sz="1800">
                                  <a:latin typeface="Cambria Math" panose="02040503050406030204" pitchFamily="18" charset="0"/>
                                </a:rPr>
                                <m:t>2</m:t>
                              </m:r>
                            </m:sup>
                          </m:sSup>
                        </m:num>
                        <m:den>
                          <m:r>
                            <a:rPr lang="da-DK" sz="1800">
                              <a:latin typeface="Cambria Math" panose="02040503050406030204" pitchFamily="18" charset="0"/>
                            </a:rPr>
                            <m:t>‖</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m:t>
                          </m:r>
                        </m:den>
                      </m:f>
                      <m:r>
                        <a:rPr lang="da-DK" sz="1800">
                          <a:latin typeface="Cambria Math" panose="02040503050406030204" pitchFamily="18" charset="0"/>
                        </a:rPr>
                        <m:t> = ‖</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 = </m:t>
                      </m:r>
                      <m:rad>
                        <m:radPr>
                          <m:degHide m:val="on"/>
                          <m:ctrlPr>
                            <a:rPr lang="da-DK" sz="1800" i="1">
                              <a:latin typeface="Cambria Math" panose="02040503050406030204" pitchFamily="18" charset="0"/>
                            </a:rPr>
                          </m:ctrlPr>
                        </m:radPr>
                        <m:deg/>
                        <m:e>
                          <m:r>
                            <a:rPr lang="da-DK" sz="1800">
                              <a:latin typeface="Cambria Math" panose="02040503050406030204" pitchFamily="18" charset="0"/>
                            </a:rPr>
                            <m:t>212</m:t>
                          </m:r>
                        </m:e>
                      </m:rad>
                      <m:r>
                        <a:rPr lang="da-DK" sz="1800">
                          <a:latin typeface="Cambria Math" panose="02040503050406030204" pitchFamily="18" charset="0"/>
                        </a:rPr>
                        <m:t>.</m:t>
                      </m:r>
                    </m:oMath>
                  </m:oMathPara>
                </a14:m>
                <a:endParaRPr lang="da-DK" sz="1600" dirty="0"/>
              </a:p>
            </p:txBody>
          </p:sp>
        </mc:Choice>
        <mc:Fallback>
          <p:sp>
            <p:nvSpPr>
              <p:cNvPr id="203" name="S203"/>
              <p:cNvSpPr txBox="1">
                <a:spLocks noRot="1" noChangeAspect="1" noMove="1" noResize="1" noEditPoints="1" noAdjustHandles="1" noChangeArrowheads="1" noChangeShapeType="1" noTextEdit="1"/>
              </p:cNvSpPr>
              <p:nvPr/>
            </p:nvSpPr>
            <p:spPr>
              <a:xfrm>
                <a:off x="1071563" y="2159000"/>
                <a:ext cx="10058400" cy="2997200"/>
              </a:xfrm>
              <a:prstGeom prst="rect">
                <a:avLst/>
              </a:prstGeom>
              <a:blipFill>
                <a:blip r:embed="rId2"/>
                <a:stretch>
                  <a:fillRect l="-1261" t="-126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37296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B0810-E448-CA6F-22D8-4836631418BF}"/>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28E70FB6-D67F-894B-1FDE-2B1722820D67}"/>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92163" y="1292225"/>
            <a:ext cx="10668000" cy="1751013"/>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92163" y="1292225"/>
            <a:ext cx="45719" cy="1751013"/>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66800" y="1430337"/>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p:sp>
        <p:nvSpPr>
          <p:cNvPr id="203" name="S203"/>
          <p:cNvSpPr txBox="1"/>
          <p:nvPr/>
        </p:nvSpPr>
        <p:spPr>
          <a:xfrm>
            <a:off x="1066800" y="1723231"/>
            <a:ext cx="10058400" cy="1600200"/>
          </a:xfrm>
          <a:prstGeom prst="rect">
            <a:avLst/>
          </a:prstGeom>
          <a:noFill/>
          <a:ln>
            <a:noFill/>
          </a:ln>
        </p:spPr>
        <p:txBody>
          <a:bodyPr wrap="square" lIns="0" tIns="0" rIns="0" bIns="0">
            <a:noAutofit/>
          </a:bodyPr>
          <a:lstStyle/>
          <a:p>
            <a:pPr marL="0" indent="0" algn="l">
              <a:lnSpc>
                <a:spcPct val="115000"/>
              </a:lnSpc>
              <a:spcBef>
                <a:spcPts val="500"/>
              </a:spcBef>
              <a:buNone/>
            </a:pPr>
            <a:r>
              <a:rPr lang="da-DK" sz="2200" dirty="0"/>
              <a:t>Antag at ∇f(P) = ⟨1, 1⟩.</a:t>
            </a:r>
          </a:p>
          <a:p>
            <a:pPr marL="342900" indent="-342900" algn="l">
              <a:lnSpc>
                <a:spcPct val="115000"/>
              </a:lnSpc>
              <a:spcBef>
                <a:spcPts val="800"/>
              </a:spcBef>
              <a:buNone/>
            </a:pPr>
            <a:r>
              <a:rPr lang="da-DK" sz="2000" dirty="0"/>
              <a:t>(i) Bestem u så D</a:t>
            </a:r>
            <a:r>
              <a:rPr lang="da-DK" sz="2000" baseline="-25000" dirty="0"/>
              <a:t>u</a:t>
            </a:r>
            <a:r>
              <a:rPr lang="da-DK" sz="2000" dirty="0"/>
              <a:t>f(P) = 1.</a:t>
            </a:r>
          </a:p>
          <a:p>
            <a:pPr marL="342900" indent="-342900" algn="l">
              <a:lnSpc>
                <a:spcPct val="115000"/>
              </a:lnSpc>
              <a:spcBef>
                <a:spcPts val="500"/>
              </a:spcBef>
              <a:buNone/>
            </a:pPr>
            <a:r>
              <a:rPr lang="da-DK" sz="2000" dirty="0"/>
              <a:t>(ii) Eksisterer der en vektor u så D</a:t>
            </a:r>
            <a:r>
              <a:rPr lang="da-DK" sz="2000" baseline="-25000" dirty="0"/>
              <a:t>u</a:t>
            </a:r>
            <a:r>
              <a:rPr lang="da-DK" sz="2000" dirty="0"/>
              <a:t>f(P) = 5?</a:t>
            </a:r>
          </a:p>
        </p:txBody>
      </p:sp>
    </p:spTree>
    <p:extLst>
      <p:ext uri="{BB962C8B-B14F-4D97-AF65-F5344CB8AC3E}">
        <p14:creationId xmlns:p14="http://schemas.microsoft.com/office/powerpoint/2010/main" val="1846083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198A-4A36-ED8D-13C5-0EEF779D9585}"/>
              </a:ext>
            </a:extLst>
          </p:cNvPr>
          <p:cNvSpPr>
            <a:spLocks noGrp="1"/>
          </p:cNvSpPr>
          <p:nvPr>
            <p:ph type="title"/>
          </p:nvPr>
        </p:nvSpPr>
        <p:spPr>
          <a:xfrm>
            <a:off x="766763" y="660400"/>
            <a:ext cx="10668000" cy="635000"/>
          </a:xfrm>
        </p:spPr>
        <p:txBody>
          <a:bodyPr/>
          <a:lstStyle/>
          <a:p>
            <a:r>
              <a:rPr lang="da-DK" sz="3200" b="1" dirty="0"/>
              <a:t>EKSEMPEL</a:t>
            </a:r>
          </a:p>
        </p:txBody>
      </p:sp>
      <p:sp>
        <p:nvSpPr>
          <p:cNvPr id="4" name="Text Placeholder 3">
            <a:extLst>
              <a:ext uri="{FF2B5EF4-FFF2-40B4-BE49-F238E27FC236}">
                <a16:creationId xmlns:a16="http://schemas.microsoft.com/office/drawing/2014/main" id="{5A5B502F-4458-FB37-CBE1-4BFD423BE806}"/>
              </a:ext>
            </a:extLst>
          </p:cNvPr>
          <p:cNvSpPr>
            <a:spLocks noGrp="1"/>
          </p:cNvSpPr>
          <p:nvPr>
            <p:ph type="body" sz="quarter" idx="13"/>
          </p:nvPr>
        </p:nvSpPr>
        <p:spPr>
          <a:xfrm>
            <a:off x="1651000" y="6426200"/>
            <a:ext cx="6350000" cy="228600"/>
          </a:xfrm>
        </p:spPr>
        <p:txBody>
          <a:bodyPr/>
          <a:lstStyle/>
          <a:p>
            <a:r>
              <a:rPr lang="da-DK" sz="800" b="1" spc="170" dirty="0">
                <a:solidFill>
                  <a:schemeClr val="tx2"/>
                </a:solidFill>
              </a:rPr>
              <a:t>MADS MUNK NIELSEN  |  GRADIENTVEKTOR OG RETNINGSAFLEDEDE</a:t>
            </a:r>
          </a:p>
        </p:txBody>
      </p:sp>
      <p:sp>
        <p:nvSpPr>
          <p:cNvPr id="200" name="S200"/>
          <p:cNvSpPr txBox="1"/>
          <p:nvPr/>
        </p:nvSpPr>
        <p:spPr>
          <a:xfrm>
            <a:off x="766763" y="1473200"/>
            <a:ext cx="10668000" cy="1219200"/>
          </a:xfrm>
          <a:prstGeom prst="rect">
            <a:avLst/>
          </a:prstGeom>
          <a:solidFill>
            <a:srgbClr val="F4F5F7"/>
          </a:solidFill>
          <a:ln>
            <a:noFill/>
          </a:ln>
        </p:spPr>
        <p:txBody>
          <a:bodyPr wrap="square" lIns="0" tIns="0" rIns="0" bIns="0">
            <a:noAutofit/>
          </a:bodyPr>
          <a:lstStyle/>
          <a:p>
            <a:endParaRPr lang="da-DK"/>
          </a:p>
        </p:txBody>
      </p:sp>
      <p:sp>
        <p:nvSpPr>
          <p:cNvPr id="201" name="S201"/>
          <p:cNvSpPr txBox="1"/>
          <p:nvPr/>
        </p:nvSpPr>
        <p:spPr>
          <a:xfrm>
            <a:off x="766763" y="1473200"/>
            <a:ext cx="50800" cy="1219200"/>
          </a:xfrm>
          <a:prstGeom prst="rect">
            <a:avLst/>
          </a:prstGeom>
          <a:solidFill>
            <a:srgbClr val="211A52"/>
          </a:solidFill>
          <a:ln>
            <a:noFill/>
          </a:ln>
        </p:spPr>
        <p:txBody>
          <a:bodyPr wrap="square" lIns="0" tIns="0" rIns="0" bIns="0">
            <a:noAutofit/>
          </a:bodyPr>
          <a:lstStyle/>
          <a:p>
            <a:endParaRPr lang="da-DK"/>
          </a:p>
        </p:txBody>
      </p:sp>
      <p:sp>
        <p:nvSpPr>
          <p:cNvPr id="202" name="S202"/>
          <p:cNvSpPr txBox="1"/>
          <p:nvPr/>
        </p:nvSpPr>
        <p:spPr>
          <a:xfrm>
            <a:off x="1071563" y="17018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OPGAVE</a:t>
            </a:r>
          </a:p>
        </p:txBody>
      </p:sp>
      <p:sp>
        <p:nvSpPr>
          <p:cNvPr id="203" name="S203"/>
          <p:cNvSpPr txBox="1"/>
          <p:nvPr/>
        </p:nvSpPr>
        <p:spPr>
          <a:xfrm>
            <a:off x="1071563" y="2057400"/>
            <a:ext cx="10058400" cy="406400"/>
          </a:xfrm>
          <a:prstGeom prst="rect">
            <a:avLst/>
          </a:prstGeom>
          <a:noFill/>
          <a:ln>
            <a:noFill/>
          </a:ln>
        </p:spPr>
        <p:txBody>
          <a:bodyPr wrap="square" lIns="0" tIns="0" rIns="0" bIns="0">
            <a:noAutofit/>
          </a:bodyPr>
          <a:lstStyle/>
          <a:p>
            <a:pPr marL="0" indent="0" algn="l">
              <a:lnSpc>
                <a:spcPct val="115000"/>
              </a:lnSpc>
              <a:spcBef>
                <a:spcPts val="500"/>
              </a:spcBef>
              <a:buNone/>
            </a:pPr>
            <a:r>
              <a:rPr lang="da-DK" sz="1600" dirty="0"/>
              <a:t>Antag at ∇f(P) = ⟨1, 1⟩. (i) Bestem u så D</a:t>
            </a:r>
            <a:r>
              <a:rPr lang="da-DK" sz="1600" baseline="-25000" dirty="0"/>
              <a:t>u</a:t>
            </a:r>
            <a:r>
              <a:rPr lang="da-DK" sz="1600" dirty="0"/>
              <a:t>f(P) = 1. (ii) Eksisterer der en vektor u så D</a:t>
            </a:r>
            <a:r>
              <a:rPr lang="da-DK" sz="1600" baseline="-25000" dirty="0"/>
              <a:t>u</a:t>
            </a:r>
            <a:r>
              <a:rPr lang="da-DK" sz="1600" dirty="0"/>
              <a:t>f(P) = 5?</a:t>
            </a:r>
          </a:p>
        </p:txBody>
      </p:sp>
      <p:sp>
        <p:nvSpPr>
          <p:cNvPr id="204" name="S204"/>
          <p:cNvSpPr txBox="1"/>
          <p:nvPr/>
        </p:nvSpPr>
        <p:spPr>
          <a:xfrm>
            <a:off x="766763" y="2895600"/>
            <a:ext cx="10668000" cy="2603500"/>
          </a:xfrm>
          <a:prstGeom prst="rect">
            <a:avLst/>
          </a:prstGeom>
          <a:solidFill>
            <a:srgbClr val="F4F5F7"/>
          </a:solidFill>
          <a:ln>
            <a:noFill/>
          </a:ln>
        </p:spPr>
        <p:txBody>
          <a:bodyPr wrap="square" lIns="0" tIns="0" rIns="0" bIns="0">
            <a:noAutofit/>
          </a:bodyPr>
          <a:lstStyle/>
          <a:p>
            <a:endParaRPr lang="da-DK"/>
          </a:p>
        </p:txBody>
      </p:sp>
      <p:sp>
        <p:nvSpPr>
          <p:cNvPr id="205" name="S205"/>
          <p:cNvSpPr txBox="1"/>
          <p:nvPr/>
        </p:nvSpPr>
        <p:spPr>
          <a:xfrm>
            <a:off x="766763" y="2895600"/>
            <a:ext cx="50800" cy="2603500"/>
          </a:xfrm>
          <a:prstGeom prst="rect">
            <a:avLst/>
          </a:prstGeom>
          <a:solidFill>
            <a:srgbClr val="211A52"/>
          </a:solidFill>
          <a:ln>
            <a:noFill/>
          </a:ln>
        </p:spPr>
        <p:txBody>
          <a:bodyPr wrap="square" lIns="0" tIns="0" rIns="0" bIns="0">
            <a:noAutofit/>
          </a:bodyPr>
          <a:lstStyle/>
          <a:p>
            <a:endParaRPr lang="da-DK"/>
          </a:p>
        </p:txBody>
      </p:sp>
      <p:sp>
        <p:nvSpPr>
          <p:cNvPr id="206" name="S206"/>
          <p:cNvSpPr txBox="1"/>
          <p:nvPr/>
        </p:nvSpPr>
        <p:spPr>
          <a:xfrm>
            <a:off x="1071563" y="3124200"/>
            <a:ext cx="10058400" cy="228600"/>
          </a:xfrm>
          <a:prstGeom prst="rect">
            <a:avLst/>
          </a:prstGeom>
          <a:noFill/>
          <a:ln>
            <a:noFill/>
          </a:ln>
        </p:spPr>
        <p:txBody>
          <a:bodyPr wrap="square" lIns="0" tIns="0" rIns="0" bIns="0">
            <a:noAutofit/>
          </a:bodyPr>
          <a:lstStyle/>
          <a:p>
            <a:pPr marL="0" indent="0" algn="l">
              <a:lnSpc>
                <a:spcPct val="115000"/>
              </a:lnSpc>
              <a:spcBef>
                <a:spcPts val="500"/>
              </a:spcBef>
              <a:buNone/>
            </a:pPr>
            <a:r>
              <a:rPr lang="da-DK" sz="1100" b="1" spc="170" dirty="0">
                <a:solidFill>
                  <a:srgbClr val="211A52"/>
                </a:solidFill>
              </a:rPr>
              <a:t>LØSNING</a:t>
            </a:r>
          </a:p>
        </p:txBody>
      </p:sp>
      <mc:AlternateContent xmlns:mc="http://schemas.openxmlformats.org/markup-compatibility/2006">
        <mc:Choice xmlns:a14="http://schemas.microsoft.com/office/drawing/2010/main" Requires="a14">
          <p:sp>
            <p:nvSpPr>
              <p:cNvPr id="207" name="S207"/>
              <p:cNvSpPr txBox="1"/>
              <p:nvPr/>
            </p:nvSpPr>
            <p:spPr>
              <a:xfrm>
                <a:off x="1071563" y="3479800"/>
                <a:ext cx="10058400" cy="2209800"/>
              </a:xfrm>
              <a:prstGeom prst="rect">
                <a:avLst/>
              </a:prstGeom>
              <a:noFill/>
              <a:ln>
                <a:noFill/>
              </a:ln>
            </p:spPr>
            <p:txBody>
              <a:bodyPr wrap="square" lIns="0" tIns="0" rIns="0" bIns="0">
                <a:noAutofit/>
              </a:bodyPr>
              <a:lstStyle/>
              <a:p>
                <a:pPr marL="0" indent="0" algn="l">
                  <a:lnSpc>
                    <a:spcPct val="125000"/>
                  </a:lnSpc>
                  <a:spcBef>
                    <a:spcPts val="0"/>
                  </a:spcBef>
                  <a:buNone/>
                </a:pPr>
                <a:r>
                  <a:rPr lang="da-DK" sz="1600" dirty="0"/>
                  <a:t>(i) Vi har</a:t>
                </a:r>
              </a:p>
              <a:p>
                <a:pPr algn="ctr">
                  <a:spcBef>
                    <a:spcPts val="500"/>
                  </a:spcBef>
                  <a:buNone/>
                </a:pPr>
                <a14:m>
                  <m:oMathPara xmlns:m="http://schemas.openxmlformats.org/officeDocument/2006/math">
                    <m:oMath>
                      <m:sSub>
                        <m:sSubPr>
                          <m:ctrlPr>
                            <a:rPr lang="da-DK" sz="1800">
                              <a:latin typeface="Cambria Math" panose="02040503050406030204" pitchFamily="18" charset="0"/>
                            </a:rPr>
                          </m:ctrlPr>
                        </m:sSubPr>
                        <m:e>
                          <m:r>
                            <a:rPr lang="da-DK" sz="1800">
                              <a:latin typeface="Cambria Math" panose="02040503050406030204" pitchFamily="18" charset="0"/>
                            </a:rPr>
                            <m:t>𝐷</m:t>
                          </m:r>
                        </m:e>
                        <m:sub>
                          <m:r>
                            <a:rPr lang="da-DK" sz="1800">
                              <a:latin typeface="Cambria Math" panose="02040503050406030204" pitchFamily="18" charset="0"/>
                            </a:rPr>
                            <m:t>𝑢</m:t>
                          </m:r>
                        </m:sub>
                      </m:sSub>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 = ‖</m:t>
                      </m:r>
                      <m:r>
                        <a:rPr lang="da-DK" sz="1800">
                          <a:latin typeface="Cambria Math" panose="02040503050406030204" pitchFamily="18" charset="0"/>
                        </a:rPr>
                        <m:t>𝛻</m:t>
                      </m:r>
                      <m:r>
                        <a:rPr lang="da-DK" sz="1800">
                          <a:latin typeface="Cambria Math" panose="02040503050406030204" pitchFamily="18" charset="0"/>
                        </a:rPr>
                        <m:t>𝑓</m:t>
                      </m:r>
                      <m:r>
                        <a:rPr lang="da-DK" sz="1800">
                          <a:latin typeface="Cambria Math" panose="02040503050406030204" pitchFamily="18" charset="0"/>
                        </a:rPr>
                        <m:t>(</m:t>
                      </m:r>
                      <m:r>
                        <a:rPr lang="da-DK" sz="1800">
                          <a:latin typeface="Cambria Math" panose="02040503050406030204" pitchFamily="18" charset="0"/>
                        </a:rPr>
                        <m:t>𝑃</m:t>
                      </m:r>
                      <m:r>
                        <a:rPr lang="da-DK" sz="1800">
                          <a:latin typeface="Cambria Math" panose="02040503050406030204" pitchFamily="18" charset="0"/>
                        </a:rPr>
                        <m:t>)‖ </m:t>
                      </m:r>
                      <m:r>
                        <a:rPr lang="da-DK" sz="1800">
                          <a:latin typeface="Cambria Math" panose="02040503050406030204" pitchFamily="18" charset="0"/>
                        </a:rPr>
                        <m:t>𝑐𝑜𝑠</m:t>
                      </m:r>
                      <m:r>
                        <a:rPr lang="da-DK" sz="1800">
                          <a:latin typeface="Cambria Math" panose="02040503050406030204" pitchFamily="18" charset="0"/>
                        </a:rPr>
                        <m:t>(</m:t>
                      </m:r>
                      <m:r>
                        <a:rPr lang="da-DK" sz="1800">
                          <a:latin typeface="Cambria Math" panose="02040503050406030204" pitchFamily="18" charset="0"/>
                        </a:rPr>
                        <m:t>𝜑</m:t>
                      </m:r>
                      <m:r>
                        <a:rPr lang="da-DK" sz="1800">
                          <a:latin typeface="Cambria Math" panose="02040503050406030204" pitchFamily="18" charset="0"/>
                        </a:rPr>
                        <m:t>) = </m:t>
                      </m:r>
                      <m:rad>
                        <m:radPr>
                          <m:degHide m:val="on"/>
                          <m:ctrlPr>
                            <a:rPr lang="da-DK" sz="1800" i="1">
                              <a:latin typeface="Cambria Math" panose="02040503050406030204" pitchFamily="18" charset="0"/>
                            </a:rPr>
                          </m:ctrlPr>
                        </m:radPr>
                        <m:deg/>
                        <m:e>
                          <m:r>
                            <a:rPr lang="da-DK" sz="1800">
                              <a:latin typeface="Cambria Math" panose="02040503050406030204" pitchFamily="18" charset="0"/>
                            </a:rPr>
                            <m:t>2</m:t>
                          </m:r>
                        </m:e>
                      </m:rad>
                      <m:r>
                        <a:rPr lang="da-DK" sz="1800">
                          <a:latin typeface="Cambria Math" panose="02040503050406030204" pitchFamily="18" charset="0"/>
                        </a:rPr>
                        <m:t> </m:t>
                      </m:r>
                      <m:r>
                        <a:rPr lang="da-DK" sz="1800">
                          <a:latin typeface="Cambria Math" panose="02040503050406030204" pitchFamily="18" charset="0"/>
                        </a:rPr>
                        <m:t>𝑐𝑜𝑠</m:t>
                      </m:r>
                      <m:r>
                        <a:rPr lang="da-DK" sz="1800">
                          <a:latin typeface="Cambria Math" panose="02040503050406030204" pitchFamily="18" charset="0"/>
                        </a:rPr>
                        <m:t>(</m:t>
                      </m:r>
                      <m:r>
                        <a:rPr lang="da-DK" sz="1800">
                          <a:latin typeface="Cambria Math" panose="02040503050406030204" pitchFamily="18" charset="0"/>
                        </a:rPr>
                        <m:t>𝜑</m:t>
                      </m:r>
                      <m:r>
                        <a:rPr lang="da-DK" sz="1800">
                          <a:latin typeface="Cambria Math" panose="02040503050406030204" pitchFamily="18" charset="0"/>
                        </a:rPr>
                        <m:t>).</m:t>
                      </m:r>
                    </m:oMath>
                  </m:oMathPara>
                </a14:m>
                <a:endParaRPr lang="da-DK" sz="1600" dirty="0"/>
              </a:p>
              <a:p>
                <a:pPr marL="0" indent="0" algn="l">
                  <a:lnSpc>
                    <a:spcPct val="125000"/>
                  </a:lnSpc>
                  <a:spcBef>
                    <a:spcPts val="600"/>
                  </a:spcBef>
                  <a:buNone/>
                </a:pPr>
                <a:r>
                  <a:rPr lang="da-DK" sz="1600" dirty="0"/>
                  <a:t>Dvs. hvis cos(φ) = </a:t>
                </a:r>
                <a14:m>
                  <m:oMath xmlns:m="http://schemas.openxmlformats.org/officeDocument/2006/math">
                    <m:f>
                      <m:fPr>
                        <m:ctrlPr>
                          <a:rPr lang="da-DK" sz="1600" i="1">
                            <a:latin typeface="Cambria Math" panose="02040503050406030204" pitchFamily="18" charset="0"/>
                          </a:rPr>
                        </m:ctrlPr>
                      </m:fPr>
                      <m:num>
                        <m:rad>
                          <m:radPr>
                            <m:degHide m:val="on"/>
                            <m:ctrlPr>
                              <a:rPr lang="da-DK" sz="1600" i="1">
                                <a:latin typeface="Cambria Math" panose="02040503050406030204" pitchFamily="18" charset="0"/>
                              </a:rPr>
                            </m:ctrlPr>
                          </m:radPr>
                          <m:deg/>
                          <m:e>
                            <m:r>
                              <a:rPr lang="da-DK" sz="1600">
                                <a:latin typeface="Cambria Math" panose="02040503050406030204" pitchFamily="18" charset="0"/>
                              </a:rPr>
                              <m:t>2</m:t>
                            </m:r>
                          </m:e>
                        </m:rad>
                      </m:num>
                      <m:den>
                        <m:r>
                          <a:rPr lang="da-DK" sz="1600">
                            <a:latin typeface="Cambria Math" panose="02040503050406030204" pitchFamily="18" charset="0"/>
                          </a:rPr>
                          <m:t>2</m:t>
                        </m:r>
                      </m:den>
                    </m:f>
                  </m:oMath>
                </a14:m>
                <a:r>
                  <a:rPr lang="da-DK" sz="1600" dirty="0"/>
                  <a:t> ⇒ </a:t>
                </a:r>
                <a14:m>
                  <m:oMath xmlns:m="http://schemas.openxmlformats.org/officeDocument/2006/math">
                    <m:sSub>
                      <m:sSubPr>
                        <m:ctrlPr>
                          <a:rPr lang="da-DK" sz="1600">
                            <a:latin typeface="Cambria Math" panose="02040503050406030204" pitchFamily="18" charset="0"/>
                          </a:rPr>
                        </m:ctrlPr>
                      </m:sSubPr>
                      <m:e>
                        <m:r>
                          <a:rPr lang="da-DK" sz="1600">
                            <a:latin typeface="Cambria Math" panose="02040503050406030204" pitchFamily="18" charset="0"/>
                          </a:rPr>
                          <m:t>𝐷</m:t>
                        </m:r>
                      </m:e>
                      <m:sub>
                        <m:r>
                          <a:rPr lang="da-DK" sz="1600">
                            <a:latin typeface="Cambria Math" panose="02040503050406030204" pitchFamily="18" charset="0"/>
                          </a:rPr>
                          <m:t>𝑢</m:t>
                        </m:r>
                      </m:sub>
                    </m:sSub>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oMath>
                </a14:m>
                <a:r>
                  <a:rPr lang="da-DK" sz="1600" dirty="0"/>
                  <a:t> = 1. Vi har at cos(φ) = </a:t>
                </a:r>
                <a14:m>
                  <m:oMath xmlns:m="http://schemas.openxmlformats.org/officeDocument/2006/math">
                    <m:f>
                      <m:fPr>
                        <m:ctrlPr>
                          <a:rPr lang="da-DK" sz="1600" i="1">
                            <a:latin typeface="Cambria Math" panose="02040503050406030204" pitchFamily="18" charset="0"/>
                          </a:rPr>
                        </m:ctrlPr>
                      </m:fPr>
                      <m:num>
                        <m:rad>
                          <m:radPr>
                            <m:degHide m:val="on"/>
                            <m:ctrlPr>
                              <a:rPr lang="da-DK" sz="1600" i="1">
                                <a:latin typeface="Cambria Math" panose="02040503050406030204" pitchFamily="18" charset="0"/>
                              </a:rPr>
                            </m:ctrlPr>
                          </m:radPr>
                          <m:deg/>
                          <m:e>
                            <m:r>
                              <a:rPr lang="da-DK" sz="1600">
                                <a:latin typeface="Cambria Math" panose="02040503050406030204" pitchFamily="18" charset="0"/>
                              </a:rPr>
                              <m:t>2</m:t>
                            </m:r>
                          </m:e>
                        </m:rad>
                      </m:num>
                      <m:den>
                        <m:r>
                          <a:rPr lang="da-DK" sz="1600">
                            <a:latin typeface="Cambria Math" panose="02040503050406030204" pitchFamily="18" charset="0"/>
                          </a:rPr>
                          <m:t>2</m:t>
                        </m:r>
                      </m:den>
                    </m:f>
                  </m:oMath>
                </a14:m>
                <a:r>
                  <a:rPr lang="da-DK" sz="1600" dirty="0"/>
                  <a:t> hvis φ = </a:t>
                </a:r>
                <a14:m>
                  <m:oMath xmlns:m="http://schemas.openxmlformats.org/officeDocument/2006/math">
                    <m:f>
                      <m:fPr>
                        <m:ctrlPr>
                          <a:rPr lang="da-DK" sz="1600">
                            <a:latin typeface="Cambria Math" panose="02040503050406030204" pitchFamily="18" charset="0"/>
                          </a:rPr>
                        </m:ctrlPr>
                      </m:fPr>
                      <m:num>
                        <m:r>
                          <a:rPr lang="da-DK" sz="1600">
                            <a:latin typeface="Cambria Math" panose="02040503050406030204" pitchFamily="18" charset="0"/>
                          </a:rPr>
                          <m:t>𝜋</m:t>
                        </m:r>
                      </m:num>
                      <m:den>
                        <m:r>
                          <a:rPr lang="da-DK" sz="1600">
                            <a:latin typeface="Cambria Math" panose="02040503050406030204" pitchFamily="18" charset="0"/>
                          </a:rPr>
                          <m:t>4</m:t>
                        </m:r>
                      </m:den>
                    </m:f>
                  </m:oMath>
                </a14:m>
                <a:r>
                  <a:rPr lang="da-DK" sz="1600" dirty="0"/>
                  <a:t> ∨ </a:t>
                </a:r>
                <a14:m>
                  <m:oMath xmlns:m="http://schemas.openxmlformats.org/officeDocument/2006/math">
                    <m:f>
                      <m:fPr>
                        <m:ctrlPr>
                          <a:rPr lang="da-DK" sz="1600">
                            <a:latin typeface="Cambria Math" panose="02040503050406030204" pitchFamily="18" charset="0"/>
                          </a:rPr>
                        </m:ctrlPr>
                      </m:fPr>
                      <m:num>
                        <m:r>
                          <a:rPr lang="da-DK" sz="1600">
                            <a:latin typeface="Cambria Math" panose="02040503050406030204" pitchFamily="18" charset="0"/>
                          </a:rPr>
                          <m:t>7</m:t>
                        </m:r>
                        <m:r>
                          <a:rPr lang="da-DK" sz="1600">
                            <a:latin typeface="Cambria Math" panose="02040503050406030204" pitchFamily="18" charset="0"/>
                          </a:rPr>
                          <m:t>𝜋</m:t>
                        </m:r>
                      </m:num>
                      <m:den>
                        <m:r>
                          <a:rPr lang="da-DK" sz="1600">
                            <a:latin typeface="Cambria Math" panose="02040503050406030204" pitchFamily="18" charset="0"/>
                          </a:rPr>
                          <m:t>4</m:t>
                        </m:r>
                      </m:den>
                    </m:f>
                  </m:oMath>
                </a14:m>
                <a:r>
                  <a:rPr lang="da-DK" sz="1600" dirty="0"/>
                  <a:t>, hvilket giver at u = ⟨1, 0⟩ ∨ ⟨0, 1⟩.</a:t>
                </a:r>
              </a:p>
              <a:p>
                <a:pPr marL="342900" indent="-342900" algn="l">
                  <a:lnSpc>
                    <a:spcPct val="125000"/>
                  </a:lnSpc>
                  <a:spcBef>
                    <a:spcPts val="700"/>
                  </a:spcBef>
                  <a:buNone/>
                </a:pPr>
                <a:r>
                  <a:rPr lang="da-DK" sz="1600" dirty="0"/>
                  <a:t>(ii) Da </a:t>
                </a:r>
                <a14:m>
                  <m:oMath xmlns:m="http://schemas.openxmlformats.org/officeDocument/2006/math">
                    <m:sSub>
                      <m:sSubPr>
                        <m:ctrlPr>
                          <a:rPr lang="da-DK" sz="1600">
                            <a:latin typeface="Cambria Math" panose="02040503050406030204" pitchFamily="18" charset="0"/>
                          </a:rPr>
                        </m:ctrlPr>
                      </m:sSubPr>
                      <m:e>
                        <m:r>
                          <a:rPr lang="da-DK" sz="1600">
                            <a:latin typeface="Cambria Math" panose="02040503050406030204" pitchFamily="18" charset="0"/>
                          </a:rPr>
                          <m:t>𝐷</m:t>
                        </m:r>
                      </m:e>
                      <m:sub>
                        <m:r>
                          <a:rPr lang="da-DK" sz="1600">
                            <a:latin typeface="Cambria Math" panose="02040503050406030204" pitchFamily="18" charset="0"/>
                          </a:rPr>
                          <m:t>𝑢</m:t>
                        </m:r>
                      </m:sub>
                    </m:sSub>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oMath>
                </a14:m>
                <a:r>
                  <a:rPr lang="da-DK" sz="1600" dirty="0"/>
                  <a:t> = ‖∇f(P)‖ cos(φ) = </a:t>
                </a:r>
                <a14:m>
                  <m:oMath xmlns:m="http://schemas.openxmlformats.org/officeDocument/2006/math">
                    <m:rad>
                      <m:radPr>
                        <m:degHide m:val="on"/>
                        <m:ctrlPr>
                          <a:rPr lang="da-DK" sz="1600" i="1">
                            <a:latin typeface="Cambria Math" panose="02040503050406030204" pitchFamily="18" charset="0"/>
                          </a:rPr>
                        </m:ctrlPr>
                      </m:radPr>
                      <m:deg/>
                      <m:e>
                        <m:r>
                          <a:rPr lang="da-DK" sz="1600">
                            <a:latin typeface="Cambria Math" panose="02040503050406030204" pitchFamily="18" charset="0"/>
                          </a:rPr>
                          <m:t>2</m:t>
                        </m:r>
                      </m:e>
                    </m:rad>
                    <m:r>
                      <a:rPr lang="da-DK" sz="1600">
                        <a:latin typeface="Cambria Math" panose="02040503050406030204" pitchFamily="18" charset="0"/>
                      </a:rPr>
                      <m:t> </m:t>
                    </m:r>
                    <m:r>
                      <a:rPr lang="da-DK" sz="1600">
                        <a:latin typeface="Cambria Math" panose="02040503050406030204" pitchFamily="18" charset="0"/>
                      </a:rPr>
                      <m:t>𝑐𝑜𝑠</m:t>
                    </m:r>
                    <m:r>
                      <a:rPr lang="da-DK" sz="1600">
                        <a:latin typeface="Cambria Math" panose="02040503050406030204" pitchFamily="18" charset="0"/>
                      </a:rPr>
                      <m:t>(</m:t>
                    </m:r>
                    <m:r>
                      <a:rPr lang="da-DK" sz="1600">
                        <a:latin typeface="Cambria Math" panose="02040503050406030204" pitchFamily="18" charset="0"/>
                      </a:rPr>
                      <m:t>𝜑</m:t>
                    </m:r>
                    <m:r>
                      <a:rPr lang="da-DK" sz="1600">
                        <a:latin typeface="Cambria Math" panose="02040503050406030204" pitchFamily="18" charset="0"/>
                      </a:rPr>
                      <m:t>)</m:t>
                    </m:r>
                  </m:oMath>
                </a14:m>
                <a:r>
                  <a:rPr lang="da-DK" sz="1600" dirty="0"/>
                  <a:t>, må −√2 ≤ </a:t>
                </a:r>
                <a14:m>
                  <m:oMath xmlns:m="http://schemas.openxmlformats.org/officeDocument/2006/math">
                    <m:sSub>
                      <m:sSubPr>
                        <m:ctrlPr>
                          <a:rPr lang="da-DK" sz="1600">
                            <a:latin typeface="Cambria Math" panose="02040503050406030204" pitchFamily="18" charset="0"/>
                          </a:rPr>
                        </m:ctrlPr>
                      </m:sSubPr>
                      <m:e>
                        <m:r>
                          <a:rPr lang="da-DK" sz="1600">
                            <a:latin typeface="Cambria Math" panose="02040503050406030204" pitchFamily="18" charset="0"/>
                          </a:rPr>
                          <m:t>𝐷</m:t>
                        </m:r>
                      </m:e>
                      <m:sub>
                        <m:r>
                          <a:rPr lang="da-DK" sz="1600">
                            <a:latin typeface="Cambria Math" panose="02040503050406030204" pitchFamily="18" charset="0"/>
                          </a:rPr>
                          <m:t>𝑢</m:t>
                        </m:r>
                      </m:sub>
                    </m:sSub>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oMath>
                </a14:m>
                <a:r>
                  <a:rPr lang="da-DK" sz="1600" dirty="0"/>
                  <a:t> ≤ √2, så der findes ikke en vektor u så </a:t>
                </a:r>
                <a14:m>
                  <m:oMath xmlns:m="http://schemas.openxmlformats.org/officeDocument/2006/math">
                    <m:sSub>
                      <m:sSubPr>
                        <m:ctrlPr>
                          <a:rPr lang="da-DK" sz="1600">
                            <a:latin typeface="Cambria Math" panose="02040503050406030204" pitchFamily="18" charset="0"/>
                          </a:rPr>
                        </m:ctrlPr>
                      </m:sSubPr>
                      <m:e>
                        <m:r>
                          <a:rPr lang="da-DK" sz="1600">
                            <a:latin typeface="Cambria Math" panose="02040503050406030204" pitchFamily="18" charset="0"/>
                          </a:rPr>
                          <m:t>𝐷</m:t>
                        </m:r>
                      </m:e>
                      <m:sub>
                        <m:r>
                          <a:rPr lang="da-DK" sz="1600">
                            <a:latin typeface="Cambria Math" panose="02040503050406030204" pitchFamily="18" charset="0"/>
                          </a:rPr>
                          <m:t>𝑢</m:t>
                        </m:r>
                      </m:sub>
                    </m:sSub>
                    <m:r>
                      <a:rPr lang="da-DK" sz="1600">
                        <a:latin typeface="Cambria Math" panose="02040503050406030204" pitchFamily="18" charset="0"/>
                      </a:rPr>
                      <m:t>𝑓</m:t>
                    </m:r>
                    <m:r>
                      <a:rPr lang="da-DK" sz="1600">
                        <a:latin typeface="Cambria Math" panose="02040503050406030204" pitchFamily="18" charset="0"/>
                      </a:rPr>
                      <m:t>(</m:t>
                    </m:r>
                    <m:r>
                      <a:rPr lang="da-DK" sz="1600">
                        <a:latin typeface="Cambria Math" panose="02040503050406030204" pitchFamily="18" charset="0"/>
                      </a:rPr>
                      <m:t>𝑃</m:t>
                    </m:r>
                    <m:r>
                      <a:rPr lang="da-DK" sz="1600">
                        <a:latin typeface="Cambria Math" panose="02040503050406030204" pitchFamily="18" charset="0"/>
                      </a:rPr>
                      <m:t>)</m:t>
                    </m:r>
                  </m:oMath>
                </a14:m>
                <a:r>
                  <a:rPr lang="da-DK" sz="1600" dirty="0"/>
                  <a:t> = 5.</a:t>
                </a:r>
              </a:p>
            </p:txBody>
          </p:sp>
        </mc:Choice>
        <mc:Fallback>
          <p:sp>
            <p:nvSpPr>
              <p:cNvPr id="207" name="S207"/>
              <p:cNvSpPr txBox="1">
                <a:spLocks noRot="1" noChangeAspect="1" noMove="1" noResize="1" noEditPoints="1" noAdjustHandles="1" noChangeArrowheads="1" noChangeShapeType="1" noTextEdit="1"/>
              </p:cNvSpPr>
              <p:nvPr/>
            </p:nvSpPr>
            <p:spPr>
              <a:xfrm>
                <a:off x="1071563" y="3479800"/>
                <a:ext cx="10058400" cy="2209800"/>
              </a:xfrm>
              <a:prstGeom prst="rect">
                <a:avLst/>
              </a:prstGeom>
              <a:blipFill>
                <a:blip r:embed="rId2"/>
                <a:stretch>
                  <a:fillRect l="-1261" t="-172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776085637"/>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5CAF8D"/>
      </a:accent1>
      <a:accent2>
        <a:srgbClr val="B19335"/>
      </a:accent2>
      <a:accent3>
        <a:srgbClr val="E78293"/>
      </a:accent3>
      <a:accent4>
        <a:srgbClr val="DF8E2E"/>
      </a:accent4>
      <a:accent5>
        <a:srgbClr val="31A9C1"/>
      </a:accent5>
      <a:accent6>
        <a:srgbClr val="CC8B66"/>
      </a:accent6>
      <a:hlink>
        <a:srgbClr val="9B95D9"/>
      </a:hlink>
      <a:folHlink>
        <a:srgbClr val="DEDCF2"/>
      </a:folHlink>
    </a:clrScheme>
    <a:fontScheme name="AAU Arial">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effectLst/>
      </a:spPr>
      <a:bodyPr vert="horz" lIns="0" tIns="0" rIns="0" bIns="0" rtlCol="0" anchor="t" anchorCtr="0">
        <a:noAutofit/>
      </a:bodyPr>
      <a:lstStyle>
        <a:defPPr>
          <a:defRPr dirty="0" smtClean="0"/>
        </a:defPPr>
      </a:lstStyle>
    </a:txDef>
  </a:objectDefaults>
  <a:extraClrSchemeLst/>
  <a:extLst>
    <a:ext uri="{05A4C25C-085E-4340-85A3-A5531E510DB2}">
      <thm15:themeFamily xmlns:thm15="http://schemas.microsoft.com/office/thememl/2012/main" name="Præsentation1" id="{17AFB7EF-DF65-47DA-ABE1-97F599FC1E52}" vid="{900B7545-0238-4A30-953C-2F515DBB31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839552AD-D034-1F4F-9876-063DFD6E6105}">
  <we:reference id="wa200010001" version="1.0.0.1" store="en-US" storeType="OMEX"/>
  <we:alternateReferences>
    <we:reference id="wa200010001" version="1.0.0.1" store="wa200010001"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33B3FB8-5415-8849-9FA4-08D06B3AC079}">
  <we:reference id="wa200010725" version="1.0.0.1" store="en-US" storeType="OMEX"/>
  <we:alternateReferences>
    <we:reference id="WA200010725" version="1.0.0.1" store="WA200010725" storeType="OMEX"/>
  </we:alternateReferences>
  <we:properties>
    <we:property name="claude.fileId" value="&quot;59121e47-8ec7-4e04-842e-ad2bc5831c6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FA39FA-C90B-44C5-8395-0F72C2D9FD12}">
  <ds:schemaRefs>
    <ds:schemaRef ds:uri="http://schemas.microsoft.com/sharepoint/v3/contenttype/forms"/>
  </ds:schemaRefs>
</ds:datastoreItem>
</file>

<file path=customXml/itemProps3.xml><?xml version="1.0" encoding="utf-8"?>
<ds:datastoreItem xmlns:ds="http://schemas.openxmlformats.org/officeDocument/2006/customXml" ds:itemID="{53603602-65E0-48FA-BF06-563C46D1CC25}">
  <ds:schemaRefs>
    <ds:schemaRef ds:uri="5eaab4c3-db73-4b93-9200-350b498c50e8"/>
    <ds:schemaRef ds:uri="http://schemas.microsoft.com/office/2006/documentManagement/types"/>
    <ds:schemaRef ds:uri="http://www.w3.org/XML/1998/namespace"/>
    <ds:schemaRef ds:uri="http://schemas.microsoft.com/office/infopath/2007/PartnerControls"/>
    <ds:schemaRef ds:uri="http://purl.org/dc/elements/1.1/"/>
    <ds:schemaRef ds:uri="http://schemas.microsoft.com/office/2006/metadata/properties"/>
    <ds:schemaRef ds:uri="1790affa-1f64-4e58-8dd7-745390e575dd"/>
    <ds:schemaRef ds:uri="http://purl.org/dc/term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AAU PowerPoint</Template>
  <TotalTime>1125</TotalTime>
  <Words>1997</Words>
  <Application>Microsoft Macintosh PowerPoint</Application>
  <PresentationFormat>Widescreen</PresentationFormat>
  <Paragraphs>184</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Barlow</vt:lpstr>
      <vt:lpstr>Calibri</vt:lpstr>
      <vt:lpstr>Cambria Math</vt:lpstr>
      <vt:lpstr>AAU PowerPoint</vt:lpstr>
      <vt:lpstr>GRADIENTVEKTOR OG RETNINGSAFLEDEDE</vt:lpstr>
      <vt:lpstr>AGENDA</vt:lpstr>
      <vt:lpstr>OPSUMMERING (1/4)</vt:lpstr>
      <vt:lpstr>OPSUMMERING (2/4)</vt:lpstr>
      <vt:lpstr>OPSUMMERING (3/4)</vt:lpstr>
      <vt:lpstr>OPSUMMERING (4/4)</vt:lpstr>
      <vt:lpstr>GRADIENTVEKTOREN</vt:lpstr>
      <vt:lpstr>GRADIENTVEKTOREN</vt:lpstr>
      <vt:lpstr>EKSEMPEL</vt:lpstr>
      <vt:lpstr>EKSEMPEL</vt:lpstr>
      <vt:lpstr>GRADIENTVEKTOREN</vt:lpstr>
      <vt:lpstr>PAUSE</vt:lpstr>
      <vt:lpstr>DEN RETNINGSAFLEDEDE</vt:lpstr>
      <vt:lpstr>DEN RETNINGSAFLEDEDE</vt:lpstr>
      <vt:lpstr>EKSEMPEL</vt:lpstr>
      <vt:lpstr>EKSEMPEL</vt:lpstr>
      <vt:lpstr>DEN RETNINGSAFLEDEDE</vt:lpstr>
      <vt:lpstr>DEN RETNINGSAFLEDEDE</vt:lpstr>
      <vt:lpstr>EKSEMPEL</vt:lpstr>
      <vt:lpstr>EKSEMPEL</vt:lpstr>
      <vt:lpstr>EKSEMPEL</vt:lpstr>
      <vt:lpstr>EKSEMPEL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Mads Munk Nielsen</dc:creator>
  <cp:lastModifiedBy>Mads Munk Nielsen</cp:lastModifiedBy>
  <cp:revision>8</cp:revision>
  <cp:lastPrinted>2017-03-09T03:48:56Z</cp:lastPrinted>
  <dcterms:created xsi:type="dcterms:W3CDTF">2026-09-16T12:23:39Z</dcterms:created>
  <dcterms:modified xsi:type="dcterms:W3CDTF">2026-09-17T07:09:00Z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